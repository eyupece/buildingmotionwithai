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Herkese merhaba, hoş geldiniz. Umarım DevFest Kastamonu sizin için güzel geçiyordur. Ben de bugün burada olduğum için gerçekten çok mutluyum.
Bugünkü konumuz: Building Motion with AI.
Bugün sizinle birlikte küçük bir demo yapmak istiyorum; ama mümkün olduğunca klasik bir AI demosunun dışına çıkalım. Bir de ben bu tarz etkinliklerde biraz interaktif ilerlemeyi seviyorum, o yüzden süreç boyunca bana eşlik ederseniz çok mutlu olurum.
Başlangıç noktamız oldukça basit: birkaç saniyelik kısa bir hareket videosu. Bitiş noktamız ise bambaşka bir şey olacak.
Şimdiden söyleyeyim: bugün size tek bir AI modeli göstermeyeceğim. Farklı modellerin birlikte çalıştığı, uçtan uca bir sistem göstereceğim.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şey anlatmadan önce size bir soru sormak istiyorum. Önce şuna bakalım: bu proje aslında ne yapıyor?
Olay çok basit görünüyor. Kısa bir video çekiyoruz ve sonunda avatarımız, farklı bir ortamda, bizim yaptığımız harekete benzer bir hareketi tekrar ediyor.
Peki bu projeyi siz geliştirecek olsaydınız nasıl yapardınız?
Mesela modele doğrudan, "Bu videoyu analiz et, videodaki kişinin avatarını oluştur ve onu uzayda aynı hareketi yaparken canlandır" mı derdiniz?
[Burada gerçekten 5–10 saniye bekle. Birkaç cevap al.]
Bugün konuşacağımız şey de tam burada başlıyor. Ben size yalnızca ortaya çıkan bu sonucu göstermek istemiyorum. Asıl konuşmak istediğim şey, bu sonucu nasıl ürettiğimiz.
Şu an kafanızda her şey canlanmamış olabilir, hiç sorun değil. Bütün boşlukları birlikte dolduracağız.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Çok hızlı başladık. Devam etmeden önce kendimi de kısaca tanıtayım.
Ben Eyüp. Yaklaşık iki buçuk yıldır Architecht'te Software Engineer olarak çalışıyorum. Bu süreçte özellikle mikroservis mimarileri üzerine kurulu projelerde çalışma fırsatım oldu. Son dönemde de bu tarz sistemlere yapay zekâyı nasıl entegre edebileceğimiz üzerine çalışıyorum.
Bunun yanında yaklaşık üç buçuk yıldır Google ekosisteminin içerisindeyim. GDG on Campus Türkiye'de Mentor ve Facilitator olarak görev aldım, şu anda da GDG Cloud Konya Organizer'ıyım.
2026 yılında Selçuk Üniversitesi Bilgisayar Mühendisliği bölümünden mezun oldum.
Üniversite dönemim benim için aslında birkaç farklı dünyanın aynı anda iç içe geçtiği bir dönemdi.
Bir taraftan öğrenciydim, bir taraftan sektörde yazılım geliştirici olarak çalışıyordum. Aynı zamanda DevFest Konya'nın organizatörü olarak yer alıyor, topluluk etkinliklerinin hazırlanmasına katkı sağlıyor, bazı DevFest'lerde konuşmacı olarak sahneye çıkıyor ve Google Developer Groups tarafında içerik ve marketing çalışmalarına destek oluyordum.
Yani öğrencilik yıllarım boyunca bu etkinliklerin hem katılımcısı, hem organizasyon ekibinin bir parçası, hem konuşmacısı hem de sektör tarafında çalışan biri olma fırsatım oldu.
Bugünkü konu da tam bu iki dünyanın kesiştiği yerden çıktı: bir tarafta sistem tasarımı, diğer tarafta yapay zekâ.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Başta bunun tek bir model demosu olmadığını söylemiştim. Şimdi bunun nedenini açalım.
Az önce sonucu gördük ama arka tarafta tek bir model çağrısı yok. Farklı sorumluluklara sahip modeller, farklı veri tipleri ve bunları birbirine bağlayan bir uygulama akışı var.
Peki neden böyle bir akışa ihtiyaç duyuyoruz? Bunun için önce alıştığımız klasik AI akışına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Özellikle chatbot tarzı LLM uygulamalarında alıştığımız temel akış oldukça basit:
Kullanıcı bir şey yazar, model bunu işler ve yine metin olarak bir cevap döner.
Text input → model → text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 bugün kurabildiğimiz akışlar artık bununla sınırlı değil.
Input yalnızca text olmak zorunda değil; video olabilir, görüntü olabilir, ses olabilir. Aynı şekilde tek bir modelin bütün işi yapması da gerekmiyor.
Bir model analiz yapabilir, onun ürettiği çıktı başka bir modele aktarılabilir; başka bir model görsel üretirken bir diğeri bunu videoya dönüştürebilir.
Model chaining dediğimiz yapı da tam olarak bu: bir modelin çıktısının, zincirdeki başka bir modelin girdisine dönüşmesi.
En sonunda da kullanıcıya yalnızca bir model cevabı değil, tamamlanmış bir deneyim sunabiliriz.
Motion Lab'de yaptığımız şey de kabaca bu:
Video → Analysis → Image → Video → Shareable Experience.
Klasik akışta çoğu zaman bir modele prompt verip cevabını alıyorduk. Buradaysa mesele yalnızca iyi bir prompt yazmak değil; farklı modelleri doğru sırada, doğru veriyle ve doğru altyapıyla birbirine bağlamak.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zaman bunu sadece şema üzerinde bırakmayalım. Bir video çekelim ve bu pipeline'ı gerçekten çalıştıralım.
Bunun için bir gönüllüye ihtiyacım var. Gözünüz korkmasın; çok basit, kısa ve tatlı bir hareket videosu çekeceğiz.
Yaklaşık beş saniyelik net bir hareket yeterli. Bu kayıt birazdan az önce konuştuğumuz pipeline'dan geçecek.
Küçük bir not: bu video demo kapsamında AI modelleri tarafından işlenecek ve Cloud Storage'da tutulacak. Sonuç videosuna da süreli bir link üzerinden erişilecek. [KARAR: Kodda otomatik silme yok. Etkinlikten sonra bucket'ı elle temizleyeceksen "etkinlikten sonra silinecek" de ekle.]
Kullandığımız modellerin kendi safety filtreleri de var. Uygunsuz bir içerik tespit edilirse model üretimi reddedebiliyor ve sistemin bunu da yönetmesi gerekiyor. Biz burada gayet basit bir hareket yapacağımız için sorun yaşamayız.
Hazırsak başlayalım.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arka planda devam ederken sizi yerinize alabiliriz, çok teşekkür ederim.
Kullanıcı açısından iş aslında az önce bitti: yaklaşık beş saniyelik videoyu çektik ve gönderdik.
Ama sistem açısından asıl iş şimdi başlıyor.
Ekranda gördüğünüz yapı, biraz önce konuştuğumuz genel akışın Motion Lab'deki gerçek karşılığı: upload, Gemini analizi, Nano Banana ile avatar, Veo ile video ve en sonda post-processing.
Kutuları şimdi tek tek anlatmayacağım; demo ilerlerken her birinin içine birlikte gireceğiz.
Şimdilik hatırlamamız gereken tek şey şu: kullanıcı tek bir işlem başlatıyor ama arka tarafta farklı sorumluluklara sahip birden fazla aşama çalışıyor.
O zaman ilk soruyla başlayalım: az önce çektiğimiz video sisteme nasıl girdi?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Sistemin yaptığı ilk teknik işe bakalım: bu videoyu nereye koyuyoruz?
Tarayıcı yaklaşık beş saniyelik videoyu WebM formatında kaydediyor ve POST /api/upload üzerinden FastAPI backend'e gönderiyor.
Burada küçük ama önemli bir mimari kararımız var: backend'i medya deposu olarak kullanmıyoruz.
Backend videoyu kabul ediyor, bir video_id oluşturuyor ve dosyayı Google Cloud Storage'daki uploads alanına yazıyor.
Nedeni şu: bu videoya pipeline'ın farklı aşamalarının erişmesi gerekiyor. Cloud Run gibi instance'ların kalıcı olmadığı bir yapıda, medyayı belirli bir uygulama instance'ının belleğine bağlamak istemiyoruz.
Ortak bir storage katmanında tuttuğumuzda, sonraki aşamalar aynı medyaya bağımsız şekilde erişebiliyor.
Örneğin Gemini'ye videoyu yeniden taşımıyoruz; ona videonun GCS URI'sini, yani kabaca Cloud Storage'daki adresini veriyoruz.
Dolayısıyla Cloud Storage burada yalnızca dosyaları arşivlediğimiz bir yer değil; pipeline'ın farklı aşamalarının aynı medya üzerinde buluştuğu ortak katman.
Aynı yapıyı devamında da koruyoruz: ham videolar uploads, seçilen kareler frames, avatarlar avatars, video çıktıları da output altında tutuluyor.
Video artık Gemini'nin erişebileceği merkezi bir yerde. Peki Gemini bu beş saniyelik videodan ne çıkarıyor?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Pipeline'daki ikinci aşamaya geldik: Gemini bu videoyu gördüğünde tam olarak ne yapıyor?
Burada Gemini'yi kullanıcıya cevap veren bir chatbot gibi kullanmıyoruz. Pipeline'ın analiz katmanı olarak kullanıyoruz.
Videoya GCS URI üzerinden erişiyor, hareketi analiz ediyor ve bize serbest bir açıklama yerine structured JSON üretiyor; yani backend'in okuyup kullanabileceği belirli bir yapıda veri.
Alanların hepsine tek tek girmeyeceğim ama üç grupta düşünebiliriz.
İlk grup hareketi anlamamızı sağlıyor: movement_summary, kullanılan vücut bölümleri, hareketin fazları, temposu ve enerji seviyesi.
İkinci grup avatar üretimi için. Burada iki alan var. best_frame_timestamp, videoda kişinin avatar üretimi için en uygun göründüğü anı seçiyor; böylece rastgele bir kare kullanmak zorunda kalmıyoruz. person_description ise kişinin görünümünü tarif ediyor.
Üçüncü grup video generation tarafını hazırlıyor. veo_prompt ile Gemini, videoda gördüğü hareketi Veo'nun daha sonra kullanabileceği bir üretim talimatına dönüştürüyor.
Ve bu konuşmanın belki de en önemli fikri burada:
Model çıktısı her zaman kullanıcıya gösterilecek final cevap olmak zorunda değil.
Buradaki JSON, pipeline'ın sonraki aşamalarının kullanacağı ara veri. best_frame_timestamp avatar tarafını, veo_prompt ise video generation tarafını besliyor.
Yani Gemini videoyu sadece açıklamıyor; ham video input'unu sistemin kullanabileceği yapılandırılmış veriye dönüştürüyor.
Peki Gemini'den serbest bir cevap yerine tam olarak bu yapıyı üretmesini nasıl istiyoruz?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Çağrı seviyesinde bakalım.
Burada gemini-3-flash-preview modelini kullanıyoruz. Flash seçmemizin sebebi basit: bu aşama kullanıcının beklediği sürenin bir parçası, hızlı olması gerekiyor.
Video GCS URI üzerinden geliyor. MOTION_ANALYSIS_PROMPT hangi bilgileri istediğimizi tanımlıyor. Response'u application/json olarak istiyoruz ve backend gelen cevabı parse ediyor.
Yani teknik olarak akış şu: GCS input → prompt template → structured JSON → parse.
Bu JSON'u ilk kez gerçekten kullanacağımız yer bir sonraki aşama: Gemini'nin seçtiği best_frame_timestamp bizi avatar generation'a götürüyor.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analizinden gelen best_frame_timestamp, videodan hangi kareyi seçmemiz gerektiğini söylüyor. Backend bu anı ffmpeg ile videodan kesip bir PNG kare olarak çıkarıyor.
Fikir basit: avatarı rastgele bir frame'den üretmek istemiyoruz. Kişinin daha net ve karakteristik göründüğü bir anı kullanmak istiyoruz.
Seçtiğimiz bu kareyi bir style prompt ile birlikte Nano Banana'ya, yani Gemini'nin görsel üretim modeline gönderiyoruz ve 1024'e 1024 boyutunda stilize bir avatar oluşturuyoruz.
Burada altını çizmek istediğim şey şu: bu avatar bizim final çıktımız değil. Pipeline içerisinde oluşturduğumuz bir reference asset.
Üretildikten sonra Cloud Storage'a kaydediliyor ve birazdan Veo'nun kullanacağı görsel referans haline geliyor.
Yani bu aşamada hareket bilgisinden ayrı olarak karakterin görsel kimliğini hazırlıyoruz.
Bu arada canlı demoda avatar oluşmuşsa bir bakalım.
[Avatar hazırsa göster]
İşte bu gördüğünüz bizim ara çıktımız. Final video değil; Veo'nun kullanacağı referans görsel.
[Hazır değilse]
Canlı demo arka planda devam ediyor. Biz aynı aşamayı burada hazır örnek üzerinden takip edelim.
Bu avatar artık Veo'nun görsel referansı. Şimdi bunu Gemini'nin hazırladığı hareket bilgisiyle bir araya getirelim.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Pipeline'ın video generation tarafına geldik. Bu aşamada elimizde iki farklı input var.
Birincisi, Gemini'nin orijinal videodan çıkardığı hareket bilgisi: kişinin ne yaptığını, hareketin nasıl ilerlediğini Veo'nun anlayabileceği şekilde tarif eden veo_prompt.
İkincisi, Nano Banana ile ürettiğimiz avatar. Bu da Veo'ya karakterin nasıl görünmesi gerektiğini söyleyen görsel referansımız.
Veo'ya bu ikisini birlikte veriyoruz: hareket context'i + görsel kimlik.
Burada sık karıştırılan bir nokta var: avatarı videonun ilk karesi olarak vermiyoruz. Onu bir referans görsel olarak veriyoruz. Yani Veo'ya "videoya bu kareden başla" demiyoruz; "videodaki karakter böyle görünsün" diyoruz.
Bu aşamada Veo 3.1'in fast modelini kullanıyoruz ve 16:9 formatında 8 saniyelik bir video üretiyoruz.
Veo çağrısı bağımsız bir generation işlemi değil; önceki aşamalarda üretilen çıktılar tarafından besleniyor. Gemini hareketi anlamlandırıyor, Nano Banana görsel kimliği hazırlıyor, Veo ise bu iki bilgiyi kullanarak avatarı hareketli bir videoya dönüştürüyor.
Üretilen video da uygulama belleğinde tutulmuyor; Veo çıktıyı doğrudan Cloud Storage'a yazıyor.
Ama burada pipeline'ın davranışı değişiyor. Gemini analizi birkaç saniyede biterken, video üretimi bir-iki dakika sürebiliyor.
Bu da bizi sıradaki probleme getiriyor: bir AI işlemi birkaç saniyede bitmiyorsa, uygulama bunu nasıl yönetmeli?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Kullanıcıdan gelen request'i dakikalarca açık tutup sonucu beklemek istemiyoruz.
Bunun yerine video generation'ı asenkron bir iş gibi ele alıyoruz. Backend işi arka planda başlatıyor ve hemen cevap dönüyor.
Burada aslında iki katmanlı bir bekleme var. Veo çağrısı bize hemen sonuç değil, uzun süren bir operation döndürüyor; backend bu operation'ın bitip bitmediğini belirli aralıklarla kontrol ediyor. Frontend de aynı şekilde backend'e soruyor:
"İşlem hâlâ devam ediyor mu, tamamlandı mı, yoksa hata mı aldı?"
Buna polling diyoruz; sonucu açık bir bağlantıda beklemek yerine belirli aralıklarla işin durumunu kontrol ediyoruz. Ekranda gördüğünüz "Analyzing, Generating Avatar, Creating Video" gibi durumlar da buradan geliyor.
[İstersen burada canlı demonun ekranına kısaca dön ve hangi aşamada olduğunu göster.]
Ama bir problem daha var. Aynı anda çok sayıda kullanıcı video üretmeye çalışırsa, uzun süren bu işler üst üste binebilir. Bu da latency'yi, kaynak kullanımını ve maliyeti artırır; üstelik Veo kotası da sınırsız değil.
Bu yüzden sistemde aynı anda çalışabilecek aktif job sayısını sınırlandırıyoruz: en fazla 3 aktif video generation işi. Frontend de yeni bir iş başlatmadan önce kuyrukta yer olup olmadığını soruyor.
Concurrency dediğimiz şey de basitçe bu: aynı anda kaç işi çalıştıracağımızı kontrol etmek.
Kullanıcı açısından tek bir buton var ama backend tarafında uzun süren işleri takip eden ve sistemin ne kadar yük alabileceğini kontrol eden ayrı bir mekanizma çalışıyor.
Video hazır olduğunda da işimiz henüz bitmiş değil. Çünkü Veo'nun ürettiği ham çıktıyı, kullanıcıya göstereceğimiz final deneyime dönüştürmemiz gerekiyor.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Veo bize 8 saniyelik bir video verdi. Ama kullanıcının görmek istediği şey ham model çıktısı değil.
Son aşamada backend yine ffmpeg ile birkaç iş yapıyor.
Önce videoyu kırpıyor; 8 saniyenin en anlamlı 3 saniyesini alıyor.
Sonra orijinal videoyu sola, AI videosunu sağa koyarak yan yana bir karşılaştırma videosu oluşturuyor. Çünkü bu deneyimin asıl etkisi, iki hareketi yan yana gördüğünüz anda ortaya çıkıyor.
Bu final video da Cloud Storage'a yükleniyor ve kullanıcıya süreli, imzalı bir link üzerinden sunuluyor. Ekranda bir QR kod beliriyor; telefonla okuttuğunuzda videonuzu açıp paylaşabiliyorsunuz.
O zaman lafı daha fazla uzatmayalım. Gönüllümüzün videosu hazır mı, bir bakalım.
[Canlı sonucu göster. Gönüllüye QR'ı okut, alkışı al.]
[Hazır değilse]
Veo hâlâ çalışıyor; az önce konuştuğumuz asenkron yapı tam olarak bu an için var. Biz bir sonraki slayta geçelim, videoyu kapanıştan önce birlikte izleyeceğiz.
[Kapanışta hâlâ hazır değilse hazır örnek videoyu göster. Gönüllüye QR'ı konuşmadan sonra ver.]
Birkaç saniyelik bir video, beş farklı aşamadan geçip paylaşılabilir bir deneyime dönüştü. Şimdi bir adım geri çekilip, bütün bu parçaların sistem tarafında nasıl bir araya geldiğine tek görsel üzerinden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Şimdiye kadar sistemi adım adım takip ettik. Artık bütün parçaları gördüğümüze göre bir de yukarıdan bakalım.
Frontend kullanıcı etkileşimini yönetiyor. Backend pipeline'ın orkestrasyonunu üstleniyor. Medya Cloud Storage'da tutuluyor. Gemini analiz tarafında, Nano Banana avatar üretiminde, Veo video generation tarafında devreye giriyor. Sonrasında backend post-processing'i tamamlayıp sonucu kullanıcıya sunuyor.
Frontend ve backend iki ayrı Cloud Run servisi olarak çalışıyor. Backend'e biraz daha fazla bellek veriyoruz çünkü ffmpeg ile video işliyor. Bir de en az bir instance'ı her zaman ayakta tutuyoruz; böylece ilk kullanıcı cold start beklemiyor. Bu küçük bir ayar gibi görünüyor ama birazdan konuşacağımız ilk dersle doğrudan ilgili.
Yani bu mimaride frontend deneyimi, backend orkestrasyonu, storage medya katmanını, modeller ise kendi uzmanlaştıkları görevleri üstleniyor.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Kapanmadan önce bu projeden benim için çıkan dört production dersini bırakmak istiyorum.
Birincisi: Latency is UX. Uzun süren generation işlemlerinde bekleme süresini nasıl yönettiğiniz de ürünün bir parçası. Analiz birkaç saniye, video bir-iki dakika sürüyor; kullanıcıya o sürede ne gösterdiğiniz deneyimi belirliyor.
İkincisi: Async jobs need orchestration. Status tracking, concurrency, retry gibi klasik software engineering problemleri AI geldiğinde ortadan kalkmıyor; tam tersine daha görünür hale geliyor.
Üçüncüsü: Failures need fallbacks. Safety filtreleri, model hataları, dolan kotalar ya da beklenmeyen çıktılar olacak. Bir sistemi yalnızca happy path'e göre tasarlayamıyoruz.
Sonuncusu: Media needs lifecycle and privacy. Başta gönüllümüze videosunun nerede tutulacağını söyledim; bu bir nezaket cümlesi değil, tasarımın bir parçası. Kullanıcı videosuyla çalışıyorsak neyi ne kadar tuttuğumuz, kime ne kadar süreyle eriştirdiğimiz ve ne zaman sildiğimiz de sistemin parçası.
Bence bütün bu projeden çıkan ana fikir şu:
AI modeli uygulamanın tamamı değil. Modeli çevreleyen sistem en az model kadar önemli.
Bugün baştan sona konuştuğumuz şey de buydu. Bu sistemi kendiniz kurmak isterseniz, Gemini Motion Lab codelab'i adım adım anlatıyor; linkini ve QR kodunu ekrana bırakıyorum.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 gördüğünüz isimlerin bazıları yıllardır hayatımda. Bazıları bu konuşmanın ortaya çıkmasına doğrudan katkı sağladı, bazılarıysa yolun bir noktasında bana destek oldu, bir şey öğretti ya da yalnızca devam etmem için cesaret verdi.
Ve bu isimlerin arasında bugün burada, bu salonda olan insanlar da, sizler de varsınız.
Aslında ben bu sahneye tek başıma çıkmadım. Buraya gelene kadar bana bir şey öğreten, destek olan, cesaretlendiren herkesten küçük bir parça benimle birlikte bu sahnede.
Bu yüzden başta bu etkinliği mümkün kılan organizasyon ekibine, yol boyunca yanımda olan herkese ve bugün burada beni dinleyen sizlere gerçekten çok teşekkür ederim.
Son olarak sizden küçük bir ricam var: toplulukların bir parçası olmaktan, yeni insanlarla tanışmaktan, bir şeyler paylaşmaktan ve birbirinize destek olmaktan vazgeçmeyin. Çünkü bazen yalnızca katıldığınız bir etkinlik, tanıştığınız bir insan ya da yaptığınız küçücük bir sohbet, yıllar sonra hiç beklemediğiniz bir yolculuğun başlangıcı olabiliyor.
İyi ki geldiniz, iyi ki buradasınız.
Ve sanırım bu slaytta eksik kalan son isim de sizsiniz.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gif"/><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image" Target="../media/image-18-6.jpg"/><Relationship Id="rId7" Type="http://schemas.openxmlformats.org/officeDocument/2006/relationships/image" Target="../media/image-18-7.jpg"/><Relationship Id="rId8" Type="http://schemas.openxmlformats.org/officeDocument/2006/relationships/image" Target="../media/image-18-8.jpg"/><Relationship Id="rId9" Type="http://schemas.openxmlformats.org/officeDocument/2006/relationships/image" Target="../media/image-18-9.jpg"/><Relationship Id="rId10" Type="http://schemas.openxmlformats.org/officeDocument/2006/relationships/image" Target="../media/image-18-10.jpg"/><Relationship Id="rId11" Type="http://schemas.openxmlformats.org/officeDocument/2006/relationships/image" Target="../media/image-18-11.jpg"/><Relationship Id="rId12" Type="http://schemas.openxmlformats.org/officeDocument/2006/relationships/image" Target="../media/image-18-12.jp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slideLayout" Target="../slideLayouts/slideLayout1.xml"/><Relationship Id="rId1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D"/>
        </a:solidFill>
      </p:bgPr>
    </p:bg>
    <p:spTree>
      <p:nvGrpSpPr>
        <p:cNvPr id="1" name=""/>
        <p:cNvGrpSpPr/>
        <p:nvPr/>
      </p:nvGrpSpPr>
      <p:grpSpPr>
        <a:xfrm>
          <a:off x="0" y="0"/>
          <a:ext cx="0" cy="0"/>
          <a:chOff x="0" y="0"/>
          <a:chExt cx="0" cy="0"/>
        </a:xfrm>
      </p:grpSpPr>
      <p:pic>
        <p:nvPicPr>
          <p:cNvPr id="3" name="Image 0" descr="/tmp/claude-0/-home-claude/d5e34c45-44d6-5238-8d7b-e6c7b3c8d5c3/scratchpad/deck/logo_dark.png">    </p:cNvPr>
          <p:cNvPicPr>
            <a:picLocks noChangeAspect="1"/>
          </p:cNvPicPr>
          <p:nvPr/>
        </p:nvPicPr>
        <p:blipFill>
          <a:blip r:embed="rId1"/>
          <a:stretch>
            <a:fillRect/>
          </a:stretch>
        </p:blipFill>
        <p:spPr>
          <a:xfrm>
            <a:off x="822960" y="594360"/>
            <a:ext cx="2743200" cy="195943"/>
          </a:xfrm>
          <a:prstGeom prst="rect">
            <a:avLst/>
          </a:prstGeom>
        </p:spPr>
      </p:pic>
      <p:sp>
        <p:nvSpPr>
          <p:cNvPr id="4" name="Text 0"/>
          <p:cNvSpPr txBox="1"/>
          <p:nvPr/>
        </p:nvSpPr>
        <p:spPr>
          <a:xfrm>
            <a:off x="822960" y="1051560"/>
            <a:ext cx="5212080" cy="1554480"/>
          </a:xfrm>
          <a:prstGeom prst="rect">
            <a:avLst/>
          </a:prstGeom>
          <a:noFill/>
          <a:ln/>
        </p:spPr>
        <p:txBody>
          <a:bodyPr wrap="square" lIns="0" tIns="0" rIns="0" bIns="0" rtlCol="0" anchor="t"/>
          <a:lstStyle/>
          <a:p>
            <a:pPr indent="0" marL="0">
              <a:buNone/>
            </a:pPr>
            <a:r>
              <a:rPr lang="en-US" sz="4000" b="1" dirty="0">
                <a:solidFill>
                  <a:srgbClr val="202124"/>
                </a:solidFill>
                <a:latin typeface="Google Sans" pitchFamily="34" charset="0"/>
                <a:ea typeface="Google Sans" pitchFamily="34" charset="-122"/>
                <a:cs typeface="Google Sans" pitchFamily="34" charset="-120"/>
              </a:rPr>
              <a:t>Building Motion</a:t>
            </a:r>
            <a:endParaRPr lang="en-US" sz="4000" dirty="0"/>
          </a:p>
          <a:p>
            <a:pPr indent="0" marL="0">
              <a:buNone/>
            </a:pPr>
            <a:r>
              <a:rPr lang="en-US" sz="4000" b="1" dirty="0">
                <a:solidFill>
                  <a:srgbClr val="202124"/>
                </a:solidFill>
                <a:latin typeface="Google Sans" pitchFamily="34" charset="0"/>
                <a:ea typeface="Google Sans" pitchFamily="34" charset="-122"/>
                <a:cs typeface="Google Sans" pitchFamily="34" charset="-120"/>
              </a:rPr>
              <a:t>with AI</a:t>
            </a:r>
            <a:endParaRPr lang="en-US" sz="4000" dirty="0"/>
          </a:p>
        </p:txBody>
      </p:sp>
      <p:sp>
        <p:nvSpPr>
          <p:cNvPr id="5" name="Text 1"/>
          <p:cNvSpPr txBox="1"/>
          <p:nvPr/>
        </p:nvSpPr>
        <p:spPr>
          <a:xfrm>
            <a:off x="822960" y="2651760"/>
            <a:ext cx="4754880" cy="548640"/>
          </a:xfrm>
          <a:prstGeom prst="rect">
            <a:avLst/>
          </a:prstGeom>
          <a:noFill/>
          <a:ln/>
        </p:spPr>
        <p:txBody>
          <a:bodyPr wrap="square" lIns="0" tIns="0" rIns="0" bIns="0" rtlCol="0" anchor="t"/>
          <a:lstStyle/>
          <a:p>
            <a:pPr indent="0" marL="0">
              <a:buNone/>
            </a:pPr>
            <a:r>
              <a:rPr lang="en-US" sz="1500" dirty="0">
                <a:solidFill>
                  <a:srgbClr val="5F6368"/>
                </a:solidFill>
                <a:latin typeface="Google Sans" pitchFamily="34" charset="0"/>
                <a:ea typeface="Google Sans" pitchFamily="34" charset="-122"/>
                <a:cs typeface="Google Sans" pitchFamily="34" charset="-120"/>
              </a:rPr>
              <a:t>Bir hareketi anlayan, dönüştüren ve yeniden üreten multimodal AI pipeline’ı</a:t>
            </a:r>
            <a:endParaRPr lang="en-US" sz="1500" dirty="0"/>
          </a:p>
        </p:txBody>
      </p:sp>
      <p:sp>
        <p:nvSpPr>
          <p:cNvPr id="6" name="Text 2"/>
          <p:cNvSpPr txBox="1"/>
          <p:nvPr/>
        </p:nvSpPr>
        <p:spPr>
          <a:xfrm>
            <a:off x="822960" y="3291840"/>
            <a:ext cx="5120640" cy="502920"/>
          </a:xfrm>
          <a:prstGeom prst="rect">
            <a:avLst/>
          </a:prstGeom>
          <a:noFill/>
          <a:ln/>
        </p:spPr>
        <p:txBody>
          <a:bodyPr wrap="square" lIns="0" tIns="0" rIns="0" bIns="0" rtlCol="0" anchor="t"/>
          <a:lstStyle/>
          <a:p>
            <a:pPr indent="0" marL="0">
              <a:buNone/>
            </a:pPr>
            <a:r>
              <a:rPr lang="en-US" sz="1200" b="1" dirty="0">
                <a:solidFill>
                  <a:srgbClr val="202124"/>
                </a:solidFill>
                <a:latin typeface="Google Sans" pitchFamily="34" charset="0"/>
                <a:ea typeface="Google Sans" pitchFamily="34" charset="-122"/>
                <a:cs typeface="Google Sans" pitchFamily="34" charset="-120"/>
              </a:rPr>
              <a:t>Eyüp Ece</a:t>
            </a:r>
            <a:endParaRPr lang="en-US" sz="1200" dirty="0"/>
          </a:p>
          <a:p>
            <a:pPr indent="0" marL="0">
              <a:buNone/>
            </a:pPr>
            <a:r>
              <a:rPr lang="en-US" sz="1200" dirty="0">
                <a:solidFill>
                  <a:srgbClr val="5F6368"/>
                </a:solidFill>
                <a:latin typeface="Google Sans" pitchFamily="34" charset="0"/>
                <a:ea typeface="Google Sans" pitchFamily="34" charset="-122"/>
                <a:cs typeface="Google Sans" pitchFamily="34" charset="-120"/>
              </a:rPr>
              <a:t>Software Engineer @ Architecht · GDG Cloud Konya Organizer</a:t>
            </a:r>
            <a:endParaRPr lang="en-US" sz="1200" dirty="0"/>
          </a:p>
        </p:txBody>
      </p:sp>
      <p:sp>
        <p:nvSpPr>
          <p:cNvPr id="7" name="Shape 3"/>
          <p:cNvSpPr/>
          <p:nvPr/>
        </p:nvSpPr>
        <p:spPr>
          <a:xfrm>
            <a:off x="5989320" y="685800"/>
            <a:ext cx="2651760" cy="2651760"/>
          </a:xfrm>
          <a:prstGeom prst="ellipse">
            <a:avLst/>
          </a:prstGeom>
          <a:solidFill>
            <a:srgbClr val="E8F0FE"/>
          </a:solidFill>
          <a:ln w="12700">
            <a:solidFill>
              <a:srgbClr val="E8F0FE"/>
            </a:solidFill>
            <a:prstDash val="solid"/>
          </a:ln>
        </p:spPr>
      </p:sp>
      <p:pic>
        <p:nvPicPr>
          <p:cNvPr id="8" name="Image 1" descr="/tmp/claude-0/-home-claude/d5e34c45-44d6-5238-8d7b-e6c7b3c8d5c3/scratchpad/deck/ref_image33.png">    </p:cNvPr>
          <p:cNvPicPr>
            <a:picLocks noChangeAspect="1"/>
          </p:cNvPicPr>
          <p:nvPr/>
        </p:nvPicPr>
        <p:blipFill>
          <a:blip r:embed="rId2"/>
          <a:stretch>
            <a:fillRect/>
          </a:stretch>
        </p:blipFill>
        <p:spPr>
          <a:xfrm>
            <a:off x="6035040" y="548640"/>
            <a:ext cx="2651760" cy="2651760"/>
          </a:xfrm>
          <a:prstGeom prst="rect">
            <a:avLst/>
          </a:prstGeom>
        </p:spPr>
      </p:pic>
      <p:sp>
        <p:nvSpPr>
          <p:cNvPr id="9" name="Shape 4"/>
          <p:cNvSpPr/>
          <p:nvPr/>
        </p:nvSpPr>
        <p:spPr>
          <a:xfrm>
            <a:off x="822960" y="4343400"/>
            <a:ext cx="7498080" cy="0"/>
          </a:xfrm>
          <a:prstGeom prst="line">
            <a:avLst/>
          </a:prstGeom>
          <a:noFill/>
          <a:ln w="25400">
            <a:solidFill>
              <a:srgbClr val="DADCE0"/>
            </a:solidFill>
            <a:prstDash val="dash"/>
          </a:ln>
        </p:spPr>
      </p:sp>
      <p:sp>
        <p:nvSpPr>
          <p:cNvPr id="10" name="Shape 5"/>
          <p:cNvSpPr/>
          <p:nvPr/>
        </p:nvSpPr>
        <p:spPr>
          <a:xfrm>
            <a:off x="548640" y="4069080"/>
            <a:ext cx="548640" cy="548640"/>
          </a:xfrm>
          <a:prstGeom prst="ellipse">
            <a:avLst/>
          </a:prstGeom>
          <a:solidFill>
            <a:srgbClr val="E8F0FE"/>
          </a:solidFill>
          <a:ln w="19050">
            <a:solidFill>
              <a:srgbClr val="4285F4"/>
            </a:solidFill>
            <a:prstDash val="solid"/>
          </a:ln>
          <a:effectLst>
            <a:outerShdw sx="100000" sy="100000" kx="0" ky="0" algn="bl" rotWithShape="0" blurRad="76200" dist="12700" dir="5400000">
              <a:srgbClr val="000000">
                <a:alpha val="8000"/>
              </a:srgbClr>
            </a:outerShdw>
          </a:effectLst>
        </p:spPr>
      </p:sp>
      <p:pic>
        <p:nvPicPr>
          <p:cNvPr id="11" name="Image 2" descr="preencoded.png">    </p:cNvPr>
          <p:cNvPicPr>
            <a:picLocks noChangeAspect="1"/>
          </p:cNvPicPr>
          <p:nvPr/>
        </p:nvPicPr>
        <p:blipFill>
          <a:blip r:embed="rId3"/>
          <a:stretch>
            <a:fillRect/>
          </a:stretch>
        </p:blipFill>
        <p:spPr>
          <a:xfrm>
            <a:off x="676656" y="4197096"/>
            <a:ext cx="292608" cy="292608"/>
          </a:xfrm>
          <a:prstGeom prst="rect">
            <a:avLst/>
          </a:prstGeom>
        </p:spPr>
      </p:pic>
      <p:sp>
        <p:nvSpPr>
          <p:cNvPr id="12" name="Shape 6"/>
          <p:cNvSpPr/>
          <p:nvPr/>
        </p:nvSpPr>
        <p:spPr>
          <a:xfrm>
            <a:off x="2423160" y="4069080"/>
            <a:ext cx="548640" cy="548640"/>
          </a:xfrm>
          <a:prstGeom prst="ellipse">
            <a:avLst/>
          </a:prstGeom>
          <a:solidFill>
            <a:srgbClr val="F3E8FD"/>
          </a:solidFill>
          <a:ln w="19050">
            <a:solidFill>
              <a:srgbClr val="A142F4"/>
            </a:solidFill>
            <a:prstDash val="solid"/>
          </a:ln>
          <a:effectLst>
            <a:outerShdw sx="100000" sy="100000" kx="0" ky="0" algn="bl" rotWithShape="0" blurRad="76200" dist="12700" dir="5400000">
              <a:srgbClr val="000000">
                <a:alpha val="8000"/>
              </a:srgbClr>
            </a:outerShdw>
          </a:effectLst>
        </p:spPr>
      </p:sp>
      <p:pic>
        <p:nvPicPr>
          <p:cNvPr id="13" name="Image 3" descr="preencoded.png">    </p:cNvPr>
          <p:cNvPicPr>
            <a:picLocks noChangeAspect="1"/>
          </p:cNvPicPr>
          <p:nvPr/>
        </p:nvPicPr>
        <p:blipFill>
          <a:blip r:embed="rId4"/>
          <a:stretch>
            <a:fillRect/>
          </a:stretch>
        </p:blipFill>
        <p:spPr>
          <a:xfrm>
            <a:off x="2551176" y="4197096"/>
            <a:ext cx="292608" cy="292608"/>
          </a:xfrm>
          <a:prstGeom prst="rect">
            <a:avLst/>
          </a:prstGeom>
        </p:spPr>
      </p:pic>
      <p:sp>
        <p:nvSpPr>
          <p:cNvPr id="14" name="Shape 7"/>
          <p:cNvSpPr/>
          <p:nvPr/>
        </p:nvSpPr>
        <p:spPr>
          <a:xfrm>
            <a:off x="4297680" y="4069080"/>
            <a:ext cx="548640" cy="548640"/>
          </a:xfrm>
          <a:prstGeom prst="ellipse">
            <a:avLst/>
          </a:prstGeom>
          <a:solidFill>
            <a:srgbClr val="FEF7E0"/>
          </a:solidFill>
          <a:ln w="19050">
            <a:solidFill>
              <a:srgbClr val="F9AB00"/>
            </a:solidFill>
            <a:prstDash val="solid"/>
          </a:ln>
          <a:effectLst>
            <a:outerShdw sx="100000" sy="100000" kx="0" ky="0" algn="bl" rotWithShape="0" blurRad="76200" dist="12700" dir="5400000">
              <a:srgbClr val="000000">
                <a:alpha val="8000"/>
              </a:srgbClr>
            </a:outerShdw>
          </a:effectLst>
        </p:spPr>
      </p:sp>
      <p:pic>
        <p:nvPicPr>
          <p:cNvPr id="15" name="Image 4" descr="preencoded.png">    </p:cNvPr>
          <p:cNvPicPr>
            <a:picLocks noChangeAspect="1"/>
          </p:cNvPicPr>
          <p:nvPr/>
        </p:nvPicPr>
        <p:blipFill>
          <a:blip r:embed="rId5"/>
          <a:stretch>
            <a:fillRect/>
          </a:stretch>
        </p:blipFill>
        <p:spPr>
          <a:xfrm>
            <a:off x="4425696" y="4197096"/>
            <a:ext cx="292608" cy="292608"/>
          </a:xfrm>
          <a:prstGeom prst="rect">
            <a:avLst/>
          </a:prstGeom>
        </p:spPr>
      </p:pic>
      <p:sp>
        <p:nvSpPr>
          <p:cNvPr id="16" name="Shape 8"/>
          <p:cNvSpPr/>
          <p:nvPr/>
        </p:nvSpPr>
        <p:spPr>
          <a:xfrm>
            <a:off x="6172200" y="4069080"/>
            <a:ext cx="548640" cy="548640"/>
          </a:xfrm>
          <a:prstGeom prst="ellipse">
            <a:avLst/>
          </a:prstGeom>
          <a:solidFill>
            <a:srgbClr val="E6F4EA"/>
          </a:solidFill>
          <a:ln w="19050">
            <a:solidFill>
              <a:srgbClr val="34A853"/>
            </a:solidFill>
            <a:prstDash val="solid"/>
          </a:ln>
          <a:effectLst>
            <a:outerShdw sx="100000" sy="100000" kx="0" ky="0" algn="bl" rotWithShape="0" blurRad="76200" dist="12700" dir="5400000">
              <a:srgbClr val="000000">
                <a:alpha val="8000"/>
              </a:srgbClr>
            </a:outerShdw>
          </a:effectLst>
        </p:spPr>
      </p:sp>
      <p:pic>
        <p:nvPicPr>
          <p:cNvPr id="17" name="Image 5" descr="preencoded.png">    </p:cNvPr>
          <p:cNvPicPr>
            <a:picLocks noChangeAspect="1"/>
          </p:cNvPicPr>
          <p:nvPr/>
        </p:nvPicPr>
        <p:blipFill>
          <a:blip r:embed="rId6"/>
          <a:stretch>
            <a:fillRect/>
          </a:stretch>
        </p:blipFill>
        <p:spPr>
          <a:xfrm>
            <a:off x="6300216" y="4197096"/>
            <a:ext cx="292608" cy="292608"/>
          </a:xfrm>
          <a:prstGeom prst="rect">
            <a:avLst/>
          </a:prstGeom>
        </p:spPr>
      </p:pic>
      <p:sp>
        <p:nvSpPr>
          <p:cNvPr id="18" name="Shape 9"/>
          <p:cNvSpPr/>
          <p:nvPr/>
        </p:nvSpPr>
        <p:spPr>
          <a:xfrm>
            <a:off x="8046720" y="4069080"/>
            <a:ext cx="548640" cy="548640"/>
          </a:xfrm>
          <a:prstGeom prst="ellipse">
            <a:avLst/>
          </a:prstGeom>
          <a:solidFill>
            <a:srgbClr val="FCE8E6"/>
          </a:solidFill>
          <a:ln w="19050">
            <a:solidFill>
              <a:srgbClr val="EA4335"/>
            </a:solidFill>
            <a:prstDash val="solid"/>
          </a:ln>
          <a:effectLst>
            <a:outerShdw sx="100000" sy="100000" kx="0" ky="0" algn="bl" rotWithShape="0" blurRad="76200" dist="12700" dir="5400000">
              <a:srgbClr val="000000">
                <a:alpha val="8000"/>
              </a:srgbClr>
            </a:outerShdw>
          </a:effectLst>
        </p:spPr>
      </p:sp>
      <p:pic>
        <p:nvPicPr>
          <p:cNvPr id="19" name="Image 6" descr="preencoded.png">    </p:cNvPr>
          <p:cNvPicPr>
            <a:picLocks noChangeAspect="1"/>
          </p:cNvPicPr>
          <p:nvPr/>
        </p:nvPicPr>
        <p:blipFill>
          <a:blip r:embed="rId7"/>
          <a:stretch>
            <a:fillRect/>
          </a:stretch>
        </p:blipFill>
        <p:spPr>
          <a:xfrm>
            <a:off x="8174736" y="4197096"/>
            <a:ext cx="292608" cy="292608"/>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ext 0"/>
          <p:cNvSpPr txBox="1"/>
          <p:nvPr/>
        </p:nvSpPr>
        <p:spPr>
          <a:xfrm>
            <a:off x="457200" y="41148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Bu proje ne yapıyor?</a:t>
            </a:r>
            <a:endParaRPr lang="en-US" sz="2800" dirty="0"/>
          </a:p>
        </p:txBody>
      </p:sp>
      <p:sp>
        <p:nvSpPr>
          <p:cNvPr id="5" name="Text 1"/>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Kısa bir video → avatarımız, başka bir ortamda aynı hareketi yapıyor.</a:t>
            </a:r>
            <a:endParaRPr lang="en-US" sz="1400" dirty="0"/>
          </a:p>
        </p:txBody>
      </p:sp>
      <p:sp>
        <p:nvSpPr>
          <p:cNvPr id="6" name="Shape 2"/>
          <p:cNvSpPr/>
          <p:nvPr/>
        </p:nvSpPr>
        <p:spPr>
          <a:xfrm>
            <a:off x="457200" y="1371600"/>
            <a:ext cx="5212080" cy="3063240"/>
          </a:xfrm>
          <a:prstGeom prst="roundRect">
            <a:avLst>
              <a:gd name="adj" fmla="val 2985"/>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pic>
        <p:nvPicPr>
          <p:cNvPr id="7" name="Image 1" descr="/tmp/claude-0/-home-claude/d5e34c45-44d6-5238-8d7b-e6c7b3c8d5c3/scratchpad/deck/ref_image22.gif">    </p:cNvPr>
          <p:cNvPicPr>
            <a:picLocks noChangeAspect="1"/>
          </p:cNvPicPr>
          <p:nvPr/>
        </p:nvPicPr>
        <p:blipFill>
          <a:blip r:embed="rId2"/>
          <a:stretch>
            <a:fillRect/>
          </a:stretch>
        </p:blipFill>
        <p:spPr>
          <a:xfrm>
            <a:off x="566928" y="1481328"/>
            <a:ext cx="4992624" cy="2788920"/>
          </a:xfrm>
          <a:prstGeom prst="rect">
            <a:avLst/>
          </a:prstGeom>
        </p:spPr>
      </p:pic>
      <p:sp>
        <p:nvSpPr>
          <p:cNvPr id="8" name="Shape 3"/>
          <p:cNvSpPr/>
          <p:nvPr/>
        </p:nvSpPr>
        <p:spPr>
          <a:xfrm>
            <a:off x="5943600" y="1371600"/>
            <a:ext cx="2743200" cy="3063240"/>
          </a:xfrm>
          <a:prstGeom prst="roundRect">
            <a:avLst>
              <a:gd name="adj" fmla="val 3333"/>
            </a:avLst>
          </a:prstGeom>
          <a:solidFill>
            <a:srgbClr val="E8F0FE"/>
          </a:solidFill>
          <a:ln w="12700">
            <a:solidFill>
              <a:srgbClr val="E8F0FE"/>
            </a:solidFill>
            <a:prstDash val="solid"/>
          </a:ln>
          <a:effectLst>
            <a:outerShdw sx="100000" sy="100000" kx="0" ky="0" algn="bl" rotWithShape="0" blurRad="76200" dist="12700" dir="5400000">
              <a:srgbClr val="000000">
                <a:alpha val="8000"/>
              </a:srgbClr>
            </a:outerShdw>
          </a:effectLst>
        </p:spPr>
      </p:sp>
      <p:sp>
        <p:nvSpPr>
          <p:cNvPr id="9" name="Shape 4"/>
          <p:cNvSpPr/>
          <p:nvPr/>
        </p:nvSpPr>
        <p:spPr>
          <a:xfrm>
            <a:off x="6172200" y="1600200"/>
            <a:ext cx="548640" cy="548640"/>
          </a:xfrm>
          <a:prstGeom prst="ellipse">
            <a:avLst/>
          </a:prstGeom>
          <a:solidFill>
            <a:srgbClr val="E8F0FE"/>
          </a:solidFill>
          <a:ln w="12700">
            <a:solidFill>
              <a:srgbClr val="E8F0FE"/>
            </a:solidFill>
            <a:prstDash val="solid"/>
          </a:ln>
        </p:spPr>
      </p:sp>
      <p:pic>
        <p:nvPicPr>
          <p:cNvPr id="10" name="Image 2" descr="preencoded.png">    </p:cNvPr>
          <p:cNvPicPr>
            <a:picLocks noChangeAspect="1"/>
          </p:cNvPicPr>
          <p:nvPr/>
        </p:nvPicPr>
        <p:blipFill>
          <a:blip r:embed="rId3"/>
          <a:stretch>
            <a:fillRect/>
          </a:stretch>
        </p:blipFill>
        <p:spPr>
          <a:xfrm>
            <a:off x="6292901" y="1720901"/>
            <a:ext cx="307238" cy="307238"/>
          </a:xfrm>
          <a:prstGeom prst="rect">
            <a:avLst/>
          </a:prstGeom>
        </p:spPr>
      </p:pic>
      <p:sp>
        <p:nvSpPr>
          <p:cNvPr id="11" name="Text 5"/>
          <p:cNvSpPr txBox="1"/>
          <p:nvPr/>
        </p:nvSpPr>
        <p:spPr>
          <a:xfrm>
            <a:off x="6172200" y="2286000"/>
            <a:ext cx="2331720" cy="685800"/>
          </a:xfrm>
          <a:prstGeom prst="rect">
            <a:avLst/>
          </a:prstGeom>
          <a:noFill/>
          <a:ln/>
        </p:spPr>
        <p:txBody>
          <a:bodyPr wrap="square" lIns="0" tIns="0" rIns="0" bIns="0" rtlCol="0" anchor="t"/>
          <a:lstStyle/>
          <a:p>
            <a:pPr indent="0" marL="0">
              <a:buNone/>
            </a:pPr>
            <a:r>
              <a:rPr lang="en-US" sz="1800" b="1" dirty="0">
                <a:solidFill>
                  <a:srgbClr val="202124"/>
                </a:solidFill>
                <a:latin typeface="Google Sans" pitchFamily="34" charset="0"/>
                <a:ea typeface="Google Sans" pitchFamily="34" charset="-122"/>
                <a:cs typeface="Google Sans" pitchFamily="34" charset="-120"/>
              </a:rPr>
              <a:t>Siz olsanız nasıl yapardınız?</a:t>
            </a:r>
            <a:endParaRPr lang="en-US" sz="1800" dirty="0"/>
          </a:p>
        </p:txBody>
      </p:sp>
      <p:sp>
        <p:nvSpPr>
          <p:cNvPr id="12" name="Text 6"/>
          <p:cNvSpPr txBox="1"/>
          <p:nvPr/>
        </p:nvSpPr>
        <p:spPr>
          <a:xfrm>
            <a:off x="6172200" y="3017520"/>
            <a:ext cx="2331720" cy="1188720"/>
          </a:xfrm>
          <a:prstGeom prst="rect">
            <a:avLst/>
          </a:prstGeom>
          <a:noFill/>
          <a:ln/>
        </p:spPr>
        <p:txBody>
          <a:bodyPr wrap="square" lIns="0" tIns="0" rIns="0" bIns="0" rtlCol="0" anchor="t"/>
          <a:lstStyle/>
          <a:p>
            <a:pPr indent="0" marL="0">
              <a:buNone/>
            </a:pPr>
            <a:r>
              <a:rPr lang="en-US" sz="1200" i="1" dirty="0">
                <a:solidFill>
                  <a:srgbClr val="5F6368"/>
                </a:solidFill>
                <a:latin typeface="Google Sans" pitchFamily="34" charset="0"/>
                <a:ea typeface="Google Sans" pitchFamily="34" charset="-122"/>
                <a:cs typeface="Google Sans" pitchFamily="34" charset="-120"/>
              </a:rPr>
              <a:t>“Bu videoyu analiz et, avatarını oluştur ve onu uzayda aynı hareketi yaparken canlandır.”</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Shape 0"/>
          <p:cNvSpPr/>
          <p:nvPr/>
        </p:nvSpPr>
        <p:spPr>
          <a:xfrm>
            <a:off x="640080" y="914400"/>
            <a:ext cx="2651760" cy="2651760"/>
          </a:xfrm>
          <a:prstGeom prst="ellipse">
            <a:avLst/>
          </a:prstGeom>
          <a:solidFill>
            <a:srgbClr val="E8F0FE"/>
          </a:solidFill>
          <a:ln w="25400">
            <a:solidFill>
              <a:srgbClr val="4285F4"/>
            </a:solidFill>
            <a:prstDash val="solid"/>
          </a:ln>
        </p:spPr>
      </p:sp>
      <p:pic>
        <p:nvPicPr>
          <p:cNvPr id="5" name="Image 1" descr="/tmp/claude-0/-home-claude/d5e34c45-44d6-5238-8d7b-e6c7b3c8d5c3/scratchpad/deck/ref_image25.jpg">    </p:cNvPr>
          <p:cNvPicPr>
            <a:picLocks noChangeAspect="1"/>
          </p:cNvPicPr>
          <p:nvPr/>
        </p:nvPicPr>
        <p:blipFill>
          <a:blip r:embed="rId2"/>
          <a:stretch>
            <a:fillRect/>
          </a:stretch>
        </p:blipFill>
        <p:spPr>
          <a:xfrm>
            <a:off x="731520" y="1005840"/>
            <a:ext cx="2468880" cy="2468880"/>
          </a:xfrm>
          <a:prstGeom prst="ellipse">
            <a:avLst/>
          </a:prstGeom>
        </p:spPr>
      </p:pic>
      <p:sp>
        <p:nvSpPr>
          <p:cNvPr id="6" name="Text 1"/>
          <p:cNvSpPr txBox="1"/>
          <p:nvPr/>
        </p:nvSpPr>
        <p:spPr>
          <a:xfrm>
            <a:off x="3749040" y="731520"/>
            <a:ext cx="4572000" cy="548640"/>
          </a:xfrm>
          <a:prstGeom prst="rect">
            <a:avLst/>
          </a:prstGeom>
          <a:noFill/>
          <a:ln/>
        </p:spPr>
        <p:txBody>
          <a:bodyPr wrap="square" lIns="0" tIns="0" rIns="0" bIns="0" rtlCol="0" anchor="ctr"/>
          <a:lstStyle/>
          <a:p>
            <a:pPr indent="0" marL="0">
              <a:buNone/>
            </a:pPr>
            <a:r>
              <a:rPr lang="en-US" sz="3000" b="1" dirty="0">
                <a:solidFill>
                  <a:srgbClr val="202124"/>
                </a:solidFill>
                <a:latin typeface="Google Sans" pitchFamily="34" charset="0"/>
                <a:ea typeface="Google Sans" pitchFamily="34" charset="-122"/>
                <a:cs typeface="Google Sans" pitchFamily="34" charset="-120"/>
              </a:rPr>
              <a:t>Eyüp Ece</a:t>
            </a:r>
            <a:endParaRPr lang="en-US" sz="3000" dirty="0"/>
          </a:p>
        </p:txBody>
      </p:sp>
      <p:sp>
        <p:nvSpPr>
          <p:cNvPr id="7" name="Text 2"/>
          <p:cNvSpPr txBox="1"/>
          <p:nvPr/>
        </p:nvSpPr>
        <p:spPr>
          <a:xfrm>
            <a:off x="3749040" y="1280160"/>
            <a:ext cx="4754880" cy="274320"/>
          </a:xfrm>
          <a:prstGeom prst="rect">
            <a:avLst/>
          </a:prstGeom>
          <a:noFill/>
          <a:ln/>
        </p:spPr>
        <p:txBody>
          <a:bodyPr wrap="square" lIns="0" tIns="0" rIns="0" bIns="0" rtlCol="0" anchor="ctr"/>
          <a:lstStyle/>
          <a:p>
            <a:pPr indent="0" marL="0">
              <a:buNone/>
            </a:pPr>
            <a:r>
              <a:rPr lang="en-US" sz="1300" dirty="0">
                <a:solidFill>
                  <a:srgbClr val="5F6368"/>
                </a:solidFill>
                <a:latin typeface="Google Sans" pitchFamily="34" charset="0"/>
                <a:ea typeface="Google Sans" pitchFamily="34" charset="-122"/>
                <a:cs typeface="Google Sans" pitchFamily="34" charset="-120"/>
              </a:rPr>
              <a:t>Mikroservis mimarileri ve bu sistemlere AI entegrasyonu</a:t>
            </a:r>
            <a:endParaRPr lang="en-US" sz="1300" dirty="0"/>
          </a:p>
        </p:txBody>
      </p:sp>
      <p:sp>
        <p:nvSpPr>
          <p:cNvPr id="8" name="Shape 3"/>
          <p:cNvSpPr/>
          <p:nvPr/>
        </p:nvSpPr>
        <p:spPr>
          <a:xfrm>
            <a:off x="3749040" y="1828800"/>
            <a:ext cx="3657600" cy="640080"/>
          </a:xfrm>
          <a:prstGeom prst="roundRect">
            <a:avLst>
              <a:gd name="adj" fmla="val 1428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pic>
        <p:nvPicPr>
          <p:cNvPr id="9" name="Image 2" descr="/tmp/claude-0/-home-claude/d5e34c45-44d6-5238-8d7b-e6c7b3c8d5c3/scratchpad/deck/ref_image10.jpg">    </p:cNvPr>
          <p:cNvPicPr>
            <a:picLocks noChangeAspect="1"/>
          </p:cNvPicPr>
          <p:nvPr/>
        </p:nvPicPr>
        <p:blipFill>
          <a:blip r:embed="rId3"/>
          <a:stretch>
            <a:fillRect/>
          </a:stretch>
        </p:blipFill>
        <p:spPr>
          <a:xfrm>
            <a:off x="3858768" y="1920240"/>
            <a:ext cx="457200" cy="457200"/>
          </a:xfrm>
          <a:prstGeom prst="ellipse">
            <a:avLst/>
          </a:prstGeom>
        </p:spPr>
      </p:pic>
      <p:sp>
        <p:nvSpPr>
          <p:cNvPr id="10" name="Text 4"/>
          <p:cNvSpPr txBox="1"/>
          <p:nvPr/>
        </p:nvSpPr>
        <p:spPr>
          <a:xfrm>
            <a:off x="4434840" y="1920240"/>
            <a:ext cx="2880360" cy="237744"/>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Software Engineer · Architecht</a:t>
            </a:r>
            <a:endParaRPr lang="en-US" sz="1250" dirty="0"/>
          </a:p>
        </p:txBody>
      </p:sp>
      <p:sp>
        <p:nvSpPr>
          <p:cNvPr id="11" name="Text 5"/>
          <p:cNvSpPr txBox="1"/>
          <p:nvPr/>
        </p:nvSpPr>
        <p:spPr>
          <a:xfrm>
            <a:off x="4434840" y="2167128"/>
            <a:ext cx="2880360" cy="237744"/>
          </a:xfrm>
          <a:prstGeom prst="rect">
            <a:avLst/>
          </a:prstGeom>
          <a:noFill/>
          <a:ln/>
        </p:spPr>
        <p:txBody>
          <a:bodyPr wrap="square" lIns="0" tIns="0" rIns="0" bIns="0" rtlCol="0" anchor="ctr"/>
          <a:lstStyle/>
          <a:p>
            <a:pPr indent="0" marL="0">
              <a:buNone/>
            </a:pPr>
            <a:r>
              <a:rPr lang="en-US" sz="950" dirty="0">
                <a:solidFill>
                  <a:srgbClr val="5F6368"/>
                </a:solidFill>
                <a:latin typeface="Google Sans" pitchFamily="34" charset="0"/>
                <a:ea typeface="Google Sans" pitchFamily="34" charset="-122"/>
                <a:cs typeface="Google Sans" pitchFamily="34" charset="-120"/>
              </a:rPr>
              <a:t>~2,5 yıl, mikroservis tabanlı projeler</a:t>
            </a:r>
            <a:endParaRPr lang="en-US" sz="950" dirty="0"/>
          </a:p>
        </p:txBody>
      </p:sp>
      <p:sp>
        <p:nvSpPr>
          <p:cNvPr id="12" name="Shape 6"/>
          <p:cNvSpPr/>
          <p:nvPr/>
        </p:nvSpPr>
        <p:spPr>
          <a:xfrm>
            <a:off x="3749040" y="2606040"/>
            <a:ext cx="3657600" cy="640080"/>
          </a:xfrm>
          <a:prstGeom prst="roundRect">
            <a:avLst>
              <a:gd name="adj" fmla="val 1428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pic>
        <p:nvPicPr>
          <p:cNvPr id="13" name="Image 3" descr="/tmp/claude-0/-home-claude/d5e34c45-44d6-5238-8d7b-e6c7b3c8d5c3/scratchpad/deck/ref_image30.png">    </p:cNvPr>
          <p:cNvPicPr>
            <a:picLocks noChangeAspect="1"/>
          </p:cNvPicPr>
          <p:nvPr/>
        </p:nvPicPr>
        <p:blipFill>
          <a:blip r:embed="rId4"/>
          <a:stretch>
            <a:fillRect/>
          </a:stretch>
        </p:blipFill>
        <p:spPr>
          <a:xfrm>
            <a:off x="3858768" y="2697480"/>
            <a:ext cx="457200" cy="457200"/>
          </a:xfrm>
          <a:prstGeom prst="ellipse">
            <a:avLst/>
          </a:prstGeom>
        </p:spPr>
      </p:pic>
      <p:sp>
        <p:nvSpPr>
          <p:cNvPr id="14" name="Text 7"/>
          <p:cNvSpPr txBox="1"/>
          <p:nvPr/>
        </p:nvSpPr>
        <p:spPr>
          <a:xfrm>
            <a:off x="4434840" y="2697480"/>
            <a:ext cx="2880360" cy="237744"/>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GDG Cloud Konya Organizer</a:t>
            </a:r>
            <a:endParaRPr lang="en-US" sz="1250" dirty="0"/>
          </a:p>
        </p:txBody>
      </p:sp>
      <p:sp>
        <p:nvSpPr>
          <p:cNvPr id="15" name="Text 8"/>
          <p:cNvSpPr txBox="1"/>
          <p:nvPr/>
        </p:nvSpPr>
        <p:spPr>
          <a:xfrm>
            <a:off x="4434840" y="2944368"/>
            <a:ext cx="2880360" cy="237744"/>
          </a:xfrm>
          <a:prstGeom prst="rect">
            <a:avLst/>
          </a:prstGeom>
          <a:noFill/>
          <a:ln/>
        </p:spPr>
        <p:txBody>
          <a:bodyPr wrap="square" lIns="0" tIns="0" rIns="0" bIns="0" rtlCol="0" anchor="ctr"/>
          <a:lstStyle/>
          <a:p>
            <a:pPr indent="0" marL="0">
              <a:buNone/>
            </a:pPr>
            <a:r>
              <a:rPr lang="en-US" sz="950" dirty="0">
                <a:solidFill>
                  <a:srgbClr val="5F6368"/>
                </a:solidFill>
                <a:latin typeface="Google Sans" pitchFamily="34" charset="0"/>
                <a:ea typeface="Google Sans" pitchFamily="34" charset="-122"/>
                <a:cs typeface="Google Sans" pitchFamily="34" charset="-120"/>
              </a:rPr>
              <a:t>GDG on Campus Türkiye Mentor &amp; Facilitator · DevFest Konya</a:t>
            </a:r>
            <a:endParaRPr lang="en-US" sz="950" dirty="0"/>
          </a:p>
        </p:txBody>
      </p:sp>
      <p:sp>
        <p:nvSpPr>
          <p:cNvPr id="16" name="Shape 9"/>
          <p:cNvSpPr/>
          <p:nvPr/>
        </p:nvSpPr>
        <p:spPr>
          <a:xfrm>
            <a:off x="3749040" y="3383280"/>
            <a:ext cx="3657600" cy="640080"/>
          </a:xfrm>
          <a:prstGeom prst="roundRect">
            <a:avLst>
              <a:gd name="adj" fmla="val 1428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pic>
        <p:nvPicPr>
          <p:cNvPr id="17" name="Image 4" descr="/tmp/claude-0/-home-claude/d5e34c45-44d6-5238-8d7b-e6c7b3c8d5c3/scratchpad/deck/ref_image15.png">    </p:cNvPr>
          <p:cNvPicPr>
            <a:picLocks noChangeAspect="1"/>
          </p:cNvPicPr>
          <p:nvPr/>
        </p:nvPicPr>
        <p:blipFill>
          <a:blip r:embed="rId5"/>
          <a:stretch>
            <a:fillRect/>
          </a:stretch>
        </p:blipFill>
        <p:spPr>
          <a:xfrm>
            <a:off x="3858768" y="3474720"/>
            <a:ext cx="457200" cy="457200"/>
          </a:xfrm>
          <a:prstGeom prst="ellipse">
            <a:avLst/>
          </a:prstGeom>
        </p:spPr>
      </p:pic>
      <p:sp>
        <p:nvSpPr>
          <p:cNvPr id="18" name="Text 10"/>
          <p:cNvSpPr txBox="1"/>
          <p:nvPr/>
        </p:nvSpPr>
        <p:spPr>
          <a:xfrm>
            <a:off x="4434840" y="3474720"/>
            <a:ext cx="2880360" cy="237744"/>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Selçuk Üniversitesi</a:t>
            </a:r>
            <a:endParaRPr lang="en-US" sz="1250" dirty="0"/>
          </a:p>
        </p:txBody>
      </p:sp>
      <p:sp>
        <p:nvSpPr>
          <p:cNvPr id="19" name="Text 11"/>
          <p:cNvSpPr txBox="1"/>
          <p:nvPr/>
        </p:nvSpPr>
        <p:spPr>
          <a:xfrm>
            <a:off x="4434840" y="3721608"/>
            <a:ext cx="2880360" cy="237744"/>
          </a:xfrm>
          <a:prstGeom prst="rect">
            <a:avLst/>
          </a:prstGeom>
          <a:noFill/>
          <a:ln/>
        </p:spPr>
        <p:txBody>
          <a:bodyPr wrap="square" lIns="0" tIns="0" rIns="0" bIns="0" rtlCol="0" anchor="ctr"/>
          <a:lstStyle/>
          <a:p>
            <a:pPr indent="0" marL="0">
              <a:buNone/>
            </a:pPr>
            <a:r>
              <a:rPr lang="en-US" sz="950" dirty="0">
                <a:solidFill>
                  <a:srgbClr val="5F6368"/>
                </a:solidFill>
                <a:latin typeface="Google Sans" pitchFamily="34" charset="0"/>
                <a:ea typeface="Google Sans" pitchFamily="34" charset="-122"/>
                <a:cs typeface="Google Sans" pitchFamily="34" charset="-120"/>
              </a:rPr>
              <a:t>Bilgisayar Mühendisliği · 2026</a:t>
            </a:r>
            <a:endParaRPr lang="en-US" sz="950" dirty="0"/>
          </a:p>
        </p:txBody>
      </p:sp>
      <p:pic>
        <p:nvPicPr>
          <p:cNvPr id="20" name="Image 5" descr="/tmp/claude-0/-home-claude/d5e34c45-44d6-5238-8d7b-e6c7b3c8d5c3/scratchpad/deck/ref_image19.jpg">    </p:cNvPr>
          <p:cNvPicPr>
            <a:picLocks noChangeAspect="1"/>
          </p:cNvPicPr>
          <p:nvPr/>
        </p:nvPicPr>
        <p:blipFill>
          <a:blip r:embed="rId6"/>
          <a:stretch>
            <a:fillRect/>
          </a:stretch>
        </p:blipFill>
        <p:spPr>
          <a:xfrm>
            <a:off x="7635240" y="3246120"/>
            <a:ext cx="1051560" cy="1051560"/>
          </a:xfrm>
          <a:prstGeom prst="rect">
            <a:avLst/>
          </a:prstGeom>
        </p:spPr>
      </p:pic>
      <p:sp>
        <p:nvSpPr>
          <p:cNvPr id="21" name="Text 12"/>
          <p:cNvSpPr txBox="1"/>
          <p:nvPr/>
        </p:nvSpPr>
        <p:spPr>
          <a:xfrm>
            <a:off x="7406640" y="4315968"/>
            <a:ext cx="150876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Bağlantı kuralım</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ext 0"/>
          <p:cNvSpPr txBox="1"/>
          <p:nvPr/>
        </p:nvSpPr>
        <p:spPr>
          <a:xfrm>
            <a:off x="457200" y="1097280"/>
            <a:ext cx="8229600" cy="1828800"/>
          </a:xfrm>
          <a:prstGeom prst="rect">
            <a:avLst/>
          </a:prstGeom>
          <a:noFill/>
          <a:ln/>
        </p:spPr>
        <p:txBody>
          <a:bodyPr wrap="square" lIns="0" tIns="0" rIns="0" bIns="0" rtlCol="0" anchor="ctr"/>
          <a:lstStyle/>
          <a:p>
            <a:pPr algn="ctr" indent="0" marL="0">
              <a:buNone/>
            </a:pPr>
            <a:r>
              <a:rPr lang="en-US" sz="5000" b="1" dirty="0">
                <a:solidFill>
                  <a:srgbClr val="202124"/>
                </a:solidFill>
                <a:latin typeface="Google Sans" pitchFamily="34" charset="0"/>
                <a:ea typeface="Google Sans" pitchFamily="34" charset="-122"/>
                <a:cs typeface="Google Sans" pitchFamily="34" charset="-120"/>
              </a:rPr>
              <a:t>This is not just</a:t>
            </a:r>
            <a:endParaRPr lang="en-US" sz="5000" dirty="0"/>
          </a:p>
          <a:p>
            <a:pPr algn="ctr" indent="0" marL="0">
              <a:buNone/>
            </a:pPr>
            <a:r>
              <a:rPr lang="en-US" sz="5000" b="1" dirty="0">
                <a:solidFill>
                  <a:srgbClr val="4285F4"/>
                </a:solidFill>
                <a:latin typeface="Google Sans" pitchFamily="34" charset="0"/>
                <a:ea typeface="Google Sans" pitchFamily="34" charset="-122"/>
                <a:cs typeface="Google Sans" pitchFamily="34" charset="-120"/>
              </a:rPr>
              <a:t>an avatar demo.</a:t>
            </a:r>
            <a:endParaRPr lang="en-US" sz="5000" dirty="0"/>
          </a:p>
        </p:txBody>
      </p:sp>
      <p:sp>
        <p:nvSpPr>
          <p:cNvPr id="5" name="Text 1"/>
          <p:cNvSpPr txBox="1"/>
          <p:nvPr/>
        </p:nvSpPr>
        <p:spPr>
          <a:xfrm>
            <a:off x="914400" y="3063240"/>
            <a:ext cx="7315200" cy="457200"/>
          </a:xfrm>
          <a:prstGeom prst="rect">
            <a:avLst/>
          </a:prstGeom>
          <a:noFill/>
          <a:ln/>
        </p:spPr>
        <p:txBody>
          <a:bodyPr wrap="square" lIns="0" tIns="0" rIns="0" bIns="0" rtlCol="0" anchor="ctr"/>
          <a:lstStyle/>
          <a:p>
            <a:pPr algn="ctr" indent="0" marL="0">
              <a:buNone/>
            </a:pPr>
            <a:r>
              <a:rPr lang="en-US" sz="1700" dirty="0">
                <a:solidFill>
                  <a:srgbClr val="5F6368"/>
                </a:solidFill>
                <a:latin typeface="Google Sans" pitchFamily="34" charset="0"/>
                <a:ea typeface="Google Sans" pitchFamily="34" charset="-122"/>
                <a:cs typeface="Google Sans" pitchFamily="34" charset="-120"/>
              </a:rPr>
              <a:t>Tek bir model çağrısı değil; farklı modellerin birlikte çalıştığı uçtan uca bir sistem.</a:t>
            </a:r>
            <a:endParaRPr lang="en-US" sz="1700" dirty="0"/>
          </a:p>
        </p:txBody>
      </p:sp>
      <p:sp>
        <p:nvSpPr>
          <p:cNvPr id="6" name="Shape 2"/>
          <p:cNvSpPr/>
          <p:nvPr/>
        </p:nvSpPr>
        <p:spPr>
          <a:xfrm>
            <a:off x="3977640" y="3840480"/>
            <a:ext cx="128016" cy="128016"/>
          </a:xfrm>
          <a:prstGeom prst="ellipse">
            <a:avLst/>
          </a:prstGeom>
          <a:solidFill>
            <a:srgbClr val="4285F4"/>
          </a:solidFill>
          <a:ln w="12700">
            <a:solidFill>
              <a:srgbClr val="4285F4"/>
            </a:solidFill>
            <a:prstDash val="solid"/>
          </a:ln>
        </p:spPr>
      </p:sp>
      <p:sp>
        <p:nvSpPr>
          <p:cNvPr id="7" name="Shape 3"/>
          <p:cNvSpPr/>
          <p:nvPr/>
        </p:nvSpPr>
        <p:spPr>
          <a:xfrm>
            <a:off x="4233672" y="3840480"/>
            <a:ext cx="128016" cy="128016"/>
          </a:xfrm>
          <a:prstGeom prst="ellipse">
            <a:avLst/>
          </a:prstGeom>
          <a:solidFill>
            <a:srgbClr val="A142F4"/>
          </a:solidFill>
          <a:ln w="12700">
            <a:solidFill>
              <a:srgbClr val="A142F4"/>
            </a:solidFill>
            <a:prstDash val="solid"/>
          </a:ln>
        </p:spPr>
      </p:sp>
      <p:sp>
        <p:nvSpPr>
          <p:cNvPr id="8" name="Shape 4"/>
          <p:cNvSpPr/>
          <p:nvPr/>
        </p:nvSpPr>
        <p:spPr>
          <a:xfrm>
            <a:off x="4489704" y="3840480"/>
            <a:ext cx="128016" cy="128016"/>
          </a:xfrm>
          <a:prstGeom prst="ellipse">
            <a:avLst/>
          </a:prstGeom>
          <a:solidFill>
            <a:srgbClr val="F9AB00"/>
          </a:solidFill>
          <a:ln w="12700">
            <a:solidFill>
              <a:srgbClr val="F9AB00"/>
            </a:solidFill>
            <a:prstDash val="solid"/>
          </a:ln>
        </p:spPr>
      </p:sp>
      <p:sp>
        <p:nvSpPr>
          <p:cNvPr id="9" name="Shape 5"/>
          <p:cNvSpPr/>
          <p:nvPr/>
        </p:nvSpPr>
        <p:spPr>
          <a:xfrm>
            <a:off x="4745736" y="3840480"/>
            <a:ext cx="128016" cy="128016"/>
          </a:xfrm>
          <a:prstGeom prst="ellipse">
            <a:avLst/>
          </a:prstGeom>
          <a:solidFill>
            <a:srgbClr val="34A853"/>
          </a:solidFill>
          <a:ln w="12700">
            <a:solidFill>
              <a:srgbClr val="34A853"/>
            </a:solidFill>
            <a:prstDash val="solid"/>
          </a:ln>
        </p:spPr>
      </p:sp>
      <p:sp>
        <p:nvSpPr>
          <p:cNvPr id="10" name="Shape 6"/>
          <p:cNvSpPr/>
          <p:nvPr/>
        </p:nvSpPr>
        <p:spPr>
          <a:xfrm>
            <a:off x="5001768" y="3840480"/>
            <a:ext cx="128016" cy="128016"/>
          </a:xfrm>
          <a:prstGeom prst="ellipse">
            <a:avLst/>
          </a:prstGeom>
          <a:solidFill>
            <a:srgbClr val="EA4335"/>
          </a:solidFill>
          <a:ln w="12700">
            <a:solidFill>
              <a:srgbClr val="EA4335"/>
            </a:solidFill>
            <a:prstDash val="solid"/>
          </a:ln>
        </p:spPr>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cl_title"/>
          <p:cNvSpPr txBox="1"/>
          <p:nvPr/>
        </p:nvSpPr>
        <p:spPr>
          <a:xfrm>
            <a:off x="457200" y="548640"/>
            <a:ext cx="8229600" cy="548640"/>
          </a:xfrm>
          <a:prstGeom prst="rect">
            <a:avLst/>
          </a:prstGeom>
          <a:noFill/>
          <a:ln/>
        </p:spPr>
        <p:txBody>
          <a:bodyPr wrap="square" lIns="0" tIns="0" rIns="0" bIns="0" rtlCol="0" anchor="ctr"/>
          <a:lstStyle/>
          <a:p>
            <a:pPr algn="ctr" indent="0" marL="0">
              <a:buNone/>
            </a:pPr>
            <a:r>
              <a:rPr lang="en-US" sz="3200" b="1" dirty="0">
                <a:solidFill>
                  <a:srgbClr val="202124"/>
                </a:solidFill>
                <a:latin typeface="Google Sans" pitchFamily="34" charset="0"/>
                <a:ea typeface="Google Sans" pitchFamily="34" charset="-122"/>
                <a:cs typeface="Google Sans" pitchFamily="34" charset="-120"/>
              </a:rPr>
              <a:t>Classic AI Workflow</a:t>
            </a:r>
            <a:endParaRPr lang="en-US" sz="3200" dirty="0"/>
          </a:p>
        </p:txBody>
      </p:sp>
      <p:sp>
        <p:nvSpPr>
          <p:cNvPr id="5" name="!!cl_sub"/>
          <p:cNvSpPr txBox="1"/>
          <p:nvPr/>
        </p:nvSpPr>
        <p:spPr>
          <a:xfrm>
            <a:off x="457200" y="1097280"/>
            <a:ext cx="8229600" cy="274320"/>
          </a:xfrm>
          <a:prstGeom prst="rect">
            <a:avLst/>
          </a:prstGeom>
          <a:noFill/>
          <a:ln/>
        </p:spPr>
        <p:txBody>
          <a:bodyPr wrap="square" lIns="0" tIns="0" rIns="0" bIns="0" rtlCol="0" anchor="ctr"/>
          <a:lstStyle/>
          <a:p>
            <a:pPr algn="ctr" indent="0" marL="0">
              <a:buNone/>
            </a:pPr>
            <a:r>
              <a:rPr lang="en-US" sz="1400" dirty="0">
                <a:solidFill>
                  <a:srgbClr val="5F6368"/>
                </a:solidFill>
                <a:latin typeface="Google Sans" pitchFamily="34" charset="0"/>
                <a:ea typeface="Google Sans" pitchFamily="34" charset="-122"/>
                <a:cs typeface="Google Sans" pitchFamily="34" charset="-120"/>
              </a:rPr>
              <a:t>Chatbot tarzı uygulamalarda alıştığımız akış</a:t>
            </a:r>
            <a:endParaRPr lang="en-US" sz="1400" dirty="0"/>
          </a:p>
        </p:txBody>
      </p:sp>
      <p:sp>
        <p:nvSpPr>
          <p:cNvPr id="6" name="!!cl_box0"/>
          <p:cNvSpPr/>
          <p:nvPr/>
        </p:nvSpPr>
        <p:spPr>
          <a:xfrm>
            <a:off x="1051560" y="2148840"/>
            <a:ext cx="2011680" cy="685800"/>
          </a:xfrm>
          <a:prstGeom prst="roundRect">
            <a:avLst>
              <a:gd name="adj" fmla="val 13333"/>
            </a:avLst>
          </a:prstGeom>
          <a:solidFill>
            <a:srgbClr val="FFFFFF"/>
          </a:solidFill>
          <a:ln w="12700">
            <a:solidFill>
              <a:srgbClr val="DADCE0"/>
            </a:solidFill>
            <a:prstDash val="solid"/>
          </a:ln>
          <a:effectLst>
            <a:outerShdw sx="100000" sy="100000" kx="0" ky="0" algn="bl" rotWithShape="0" blurRad="76200" dist="12700" dir="5400000">
              <a:srgbClr val="000000">
                <a:alpha val="8000"/>
              </a:srgbClr>
            </a:outerShdw>
          </a:effectLst>
        </p:spPr>
      </p:sp>
      <p:sp>
        <p:nvSpPr>
          <p:cNvPr id="7" name="!!cl_txt0"/>
          <p:cNvSpPr txBox="1"/>
          <p:nvPr/>
        </p:nvSpPr>
        <p:spPr>
          <a:xfrm>
            <a:off x="1051560" y="2148840"/>
            <a:ext cx="2011680" cy="685800"/>
          </a:xfrm>
          <a:prstGeom prst="rect">
            <a:avLst/>
          </a:prstGeom>
          <a:noFill/>
          <a:ln/>
        </p:spPr>
        <p:txBody>
          <a:bodyPr wrap="square" lIns="0" tIns="0" rIns="0" bIns="0" rtlCol="0" anchor="ctr"/>
          <a:lstStyle/>
          <a:p>
            <a:pPr algn="ctr" indent="0" marL="0">
              <a:buNone/>
            </a:pPr>
            <a:r>
              <a:rPr lang="en-US" sz="1600" b="1" dirty="0">
                <a:solidFill>
                  <a:srgbClr val="202124"/>
                </a:solidFill>
                <a:latin typeface="Google Sans" pitchFamily="34" charset="0"/>
                <a:ea typeface="Google Sans" pitchFamily="34" charset="-122"/>
                <a:cs typeface="Google Sans" pitchFamily="34" charset="-120"/>
              </a:rPr>
              <a:t>User text</a:t>
            </a:r>
            <a:endParaRPr lang="en-US" sz="1600" dirty="0"/>
          </a:p>
        </p:txBody>
      </p:sp>
      <p:sp>
        <p:nvSpPr>
          <p:cNvPr id="8" name="!!cl_arr0"/>
          <p:cNvSpPr txBox="1"/>
          <p:nvPr/>
        </p:nvSpPr>
        <p:spPr>
          <a:xfrm>
            <a:off x="3063240" y="2148840"/>
            <a:ext cx="502920" cy="68580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9" name="!!cl_box1"/>
          <p:cNvSpPr/>
          <p:nvPr/>
        </p:nvSpPr>
        <p:spPr>
          <a:xfrm>
            <a:off x="3566160" y="2148840"/>
            <a:ext cx="2011680" cy="685800"/>
          </a:xfrm>
          <a:prstGeom prst="roundRect">
            <a:avLst>
              <a:gd name="adj" fmla="val 13333"/>
            </a:avLst>
          </a:prstGeom>
          <a:solidFill>
            <a:srgbClr val="FFFFFF"/>
          </a:solidFill>
          <a:ln w="12700">
            <a:solidFill>
              <a:srgbClr val="DADCE0"/>
            </a:solidFill>
            <a:prstDash val="solid"/>
          </a:ln>
          <a:effectLst>
            <a:outerShdw sx="100000" sy="100000" kx="0" ky="0" algn="bl" rotWithShape="0" blurRad="76200" dist="12700" dir="5400000">
              <a:srgbClr val="000000">
                <a:alpha val="8000"/>
              </a:srgbClr>
            </a:outerShdw>
          </a:effectLst>
        </p:spPr>
      </p:sp>
      <p:sp>
        <p:nvSpPr>
          <p:cNvPr id="10" name="!!cl_txt1"/>
          <p:cNvSpPr txBox="1"/>
          <p:nvPr/>
        </p:nvSpPr>
        <p:spPr>
          <a:xfrm>
            <a:off x="3566160" y="2148840"/>
            <a:ext cx="2011680" cy="685800"/>
          </a:xfrm>
          <a:prstGeom prst="rect">
            <a:avLst/>
          </a:prstGeom>
          <a:noFill/>
          <a:ln/>
        </p:spPr>
        <p:txBody>
          <a:bodyPr wrap="square" lIns="0" tIns="0" rIns="0" bIns="0" rtlCol="0" anchor="ctr"/>
          <a:lstStyle/>
          <a:p>
            <a:pPr algn="ctr" indent="0" marL="0">
              <a:buNone/>
            </a:pPr>
            <a:r>
              <a:rPr lang="en-US" sz="1600" b="1" dirty="0">
                <a:solidFill>
                  <a:srgbClr val="202124"/>
                </a:solidFill>
                <a:latin typeface="Google Sans" pitchFamily="34" charset="0"/>
                <a:ea typeface="Google Sans" pitchFamily="34" charset="-122"/>
                <a:cs typeface="Google Sans" pitchFamily="34" charset="-120"/>
              </a:rPr>
              <a:t>LLM</a:t>
            </a:r>
            <a:endParaRPr lang="en-US" sz="1600" dirty="0"/>
          </a:p>
        </p:txBody>
      </p:sp>
      <p:sp>
        <p:nvSpPr>
          <p:cNvPr id="11" name="!!cl_arr1"/>
          <p:cNvSpPr txBox="1"/>
          <p:nvPr/>
        </p:nvSpPr>
        <p:spPr>
          <a:xfrm>
            <a:off x="5577840" y="2148840"/>
            <a:ext cx="502920" cy="68580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12" name="!!cl_box2"/>
          <p:cNvSpPr/>
          <p:nvPr/>
        </p:nvSpPr>
        <p:spPr>
          <a:xfrm>
            <a:off x="6080760" y="2148840"/>
            <a:ext cx="2011680" cy="685800"/>
          </a:xfrm>
          <a:prstGeom prst="roundRect">
            <a:avLst>
              <a:gd name="adj" fmla="val 13333"/>
            </a:avLst>
          </a:prstGeom>
          <a:solidFill>
            <a:srgbClr val="FFFFFF"/>
          </a:solidFill>
          <a:ln w="12700">
            <a:solidFill>
              <a:srgbClr val="DADCE0"/>
            </a:solidFill>
            <a:prstDash val="solid"/>
          </a:ln>
          <a:effectLst>
            <a:outerShdw sx="100000" sy="100000" kx="0" ky="0" algn="bl" rotWithShape="0" blurRad="76200" dist="12700" dir="5400000">
              <a:srgbClr val="000000">
                <a:alpha val="8000"/>
              </a:srgbClr>
            </a:outerShdw>
          </a:effectLst>
        </p:spPr>
      </p:sp>
      <p:sp>
        <p:nvSpPr>
          <p:cNvPr id="13" name="!!cl_txt2"/>
          <p:cNvSpPr txBox="1"/>
          <p:nvPr/>
        </p:nvSpPr>
        <p:spPr>
          <a:xfrm>
            <a:off x="6080760" y="2148840"/>
            <a:ext cx="2011680" cy="685800"/>
          </a:xfrm>
          <a:prstGeom prst="rect">
            <a:avLst/>
          </a:prstGeom>
          <a:noFill/>
          <a:ln/>
        </p:spPr>
        <p:txBody>
          <a:bodyPr wrap="square" lIns="0" tIns="0" rIns="0" bIns="0" rtlCol="0" anchor="ctr"/>
          <a:lstStyle/>
          <a:p>
            <a:pPr algn="ctr" indent="0" marL="0">
              <a:buNone/>
            </a:pPr>
            <a:r>
              <a:rPr lang="en-US" sz="1600" b="1" dirty="0">
                <a:solidFill>
                  <a:srgbClr val="202124"/>
                </a:solidFill>
                <a:latin typeface="Google Sans" pitchFamily="34" charset="0"/>
                <a:ea typeface="Google Sans" pitchFamily="34" charset="-122"/>
                <a:cs typeface="Google Sans" pitchFamily="34" charset="-120"/>
              </a:rPr>
              <a:t>Text response</a:t>
            </a:r>
            <a:endParaRPr lang="en-US" sz="16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cl_title"/>
          <p:cNvSpPr txBox="1"/>
          <p:nvPr/>
        </p:nvSpPr>
        <p:spPr>
          <a:xfrm>
            <a:off x="457200" y="320040"/>
            <a:ext cx="8229600" cy="320040"/>
          </a:xfrm>
          <a:prstGeom prst="rect">
            <a:avLst/>
          </a:prstGeom>
          <a:noFill/>
          <a:ln/>
        </p:spPr>
        <p:txBody>
          <a:bodyPr wrap="square" lIns="0" tIns="0" rIns="0" bIns="0" rtlCol="0" anchor="ctr"/>
          <a:lstStyle/>
          <a:p>
            <a:pPr algn="ctr" indent="0" marL="0">
              <a:buNone/>
            </a:pPr>
            <a:r>
              <a:rPr lang="en-US" sz="1300" b="1" dirty="0">
                <a:solidFill>
                  <a:srgbClr val="5F6368"/>
                </a:solidFill>
                <a:latin typeface="Google Sans" pitchFamily="34" charset="0"/>
                <a:ea typeface="Google Sans" pitchFamily="34" charset="-122"/>
                <a:cs typeface="Google Sans" pitchFamily="34" charset="-120"/>
              </a:rPr>
              <a:t>Classic AI Workflow</a:t>
            </a:r>
            <a:endParaRPr lang="en-US" sz="1300" dirty="0"/>
          </a:p>
        </p:txBody>
      </p:sp>
      <p:sp>
        <p:nvSpPr>
          <p:cNvPr id="5" name="!!cl_box0"/>
          <p:cNvSpPr/>
          <p:nvPr/>
        </p:nvSpPr>
        <p:spPr>
          <a:xfrm>
            <a:off x="1051560" y="731520"/>
            <a:ext cx="2011680" cy="685800"/>
          </a:xfrm>
          <a:prstGeom prst="roundRect">
            <a:avLst>
              <a:gd name="adj" fmla="val 13333"/>
            </a:avLst>
          </a:prstGeom>
          <a:solidFill>
            <a:srgbClr val="E8EAED"/>
          </a:solidFill>
          <a:ln w="12700">
            <a:solidFill>
              <a:srgbClr val="E8EAED"/>
            </a:solidFill>
            <a:prstDash val="solid"/>
          </a:ln>
        </p:spPr>
      </p:sp>
      <p:sp>
        <p:nvSpPr>
          <p:cNvPr id="6" name="!!cl_txt0"/>
          <p:cNvSpPr txBox="1"/>
          <p:nvPr/>
        </p:nvSpPr>
        <p:spPr>
          <a:xfrm>
            <a:off x="1051560" y="731520"/>
            <a:ext cx="2011680" cy="685800"/>
          </a:xfrm>
          <a:prstGeom prst="rect">
            <a:avLst/>
          </a:prstGeom>
          <a:noFill/>
          <a:ln/>
        </p:spPr>
        <p:txBody>
          <a:bodyPr wrap="square" lIns="0" tIns="0" rIns="0" bIns="0" rtlCol="0" anchor="ctr"/>
          <a:lstStyle/>
          <a:p>
            <a:pPr algn="ctr" indent="0" marL="0">
              <a:buNone/>
            </a:pPr>
            <a:r>
              <a:rPr lang="en-US" sz="1300" b="1" dirty="0">
                <a:solidFill>
                  <a:srgbClr val="5F6368"/>
                </a:solidFill>
                <a:latin typeface="Google Sans" pitchFamily="34" charset="0"/>
                <a:ea typeface="Google Sans" pitchFamily="34" charset="-122"/>
                <a:cs typeface="Google Sans" pitchFamily="34" charset="-120"/>
              </a:rPr>
              <a:t>User text</a:t>
            </a:r>
            <a:endParaRPr lang="en-US" sz="1300" dirty="0"/>
          </a:p>
        </p:txBody>
      </p:sp>
      <p:sp>
        <p:nvSpPr>
          <p:cNvPr id="7" name="!!cl_arr0"/>
          <p:cNvSpPr txBox="1"/>
          <p:nvPr/>
        </p:nvSpPr>
        <p:spPr>
          <a:xfrm>
            <a:off x="3063240" y="731520"/>
            <a:ext cx="502920" cy="68580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8" name="!!cl_box1"/>
          <p:cNvSpPr/>
          <p:nvPr/>
        </p:nvSpPr>
        <p:spPr>
          <a:xfrm>
            <a:off x="3566160" y="731520"/>
            <a:ext cx="2011680" cy="685800"/>
          </a:xfrm>
          <a:prstGeom prst="roundRect">
            <a:avLst>
              <a:gd name="adj" fmla="val 13333"/>
            </a:avLst>
          </a:prstGeom>
          <a:solidFill>
            <a:srgbClr val="E8EAED"/>
          </a:solidFill>
          <a:ln w="12700">
            <a:solidFill>
              <a:srgbClr val="E8EAED"/>
            </a:solidFill>
            <a:prstDash val="solid"/>
          </a:ln>
        </p:spPr>
      </p:sp>
      <p:sp>
        <p:nvSpPr>
          <p:cNvPr id="9" name="!!cl_txt1"/>
          <p:cNvSpPr txBox="1"/>
          <p:nvPr/>
        </p:nvSpPr>
        <p:spPr>
          <a:xfrm>
            <a:off x="3566160" y="731520"/>
            <a:ext cx="2011680" cy="685800"/>
          </a:xfrm>
          <a:prstGeom prst="rect">
            <a:avLst/>
          </a:prstGeom>
          <a:noFill/>
          <a:ln/>
        </p:spPr>
        <p:txBody>
          <a:bodyPr wrap="square" lIns="0" tIns="0" rIns="0" bIns="0" rtlCol="0" anchor="ctr"/>
          <a:lstStyle/>
          <a:p>
            <a:pPr algn="ctr" indent="0" marL="0">
              <a:buNone/>
            </a:pPr>
            <a:r>
              <a:rPr lang="en-US" sz="1300" b="1" dirty="0">
                <a:solidFill>
                  <a:srgbClr val="5F6368"/>
                </a:solidFill>
                <a:latin typeface="Google Sans" pitchFamily="34" charset="0"/>
                <a:ea typeface="Google Sans" pitchFamily="34" charset="-122"/>
                <a:cs typeface="Google Sans" pitchFamily="34" charset="-120"/>
              </a:rPr>
              <a:t>LLM</a:t>
            </a:r>
            <a:endParaRPr lang="en-US" sz="1300" dirty="0"/>
          </a:p>
        </p:txBody>
      </p:sp>
      <p:sp>
        <p:nvSpPr>
          <p:cNvPr id="10" name="!!cl_arr1"/>
          <p:cNvSpPr txBox="1"/>
          <p:nvPr/>
        </p:nvSpPr>
        <p:spPr>
          <a:xfrm>
            <a:off x="5577840" y="731520"/>
            <a:ext cx="502920" cy="68580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11" name="!!cl_box2"/>
          <p:cNvSpPr/>
          <p:nvPr/>
        </p:nvSpPr>
        <p:spPr>
          <a:xfrm>
            <a:off x="6080760" y="731520"/>
            <a:ext cx="2011680" cy="685800"/>
          </a:xfrm>
          <a:prstGeom prst="roundRect">
            <a:avLst>
              <a:gd name="adj" fmla="val 13333"/>
            </a:avLst>
          </a:prstGeom>
          <a:solidFill>
            <a:srgbClr val="E8EAED"/>
          </a:solidFill>
          <a:ln w="12700">
            <a:solidFill>
              <a:srgbClr val="E8EAED"/>
            </a:solidFill>
            <a:prstDash val="solid"/>
          </a:ln>
        </p:spPr>
      </p:sp>
      <p:sp>
        <p:nvSpPr>
          <p:cNvPr id="12" name="!!cl_txt2"/>
          <p:cNvSpPr txBox="1"/>
          <p:nvPr/>
        </p:nvSpPr>
        <p:spPr>
          <a:xfrm>
            <a:off x="6080760" y="731520"/>
            <a:ext cx="2011680" cy="685800"/>
          </a:xfrm>
          <a:prstGeom prst="rect">
            <a:avLst/>
          </a:prstGeom>
          <a:noFill/>
          <a:ln/>
        </p:spPr>
        <p:txBody>
          <a:bodyPr wrap="square" lIns="0" tIns="0" rIns="0" bIns="0" rtlCol="0" anchor="ctr"/>
          <a:lstStyle/>
          <a:p>
            <a:pPr algn="ctr" indent="0" marL="0">
              <a:buNone/>
            </a:pPr>
            <a:r>
              <a:rPr lang="en-US" sz="1300" b="1" dirty="0">
                <a:solidFill>
                  <a:srgbClr val="5F6368"/>
                </a:solidFill>
                <a:latin typeface="Google Sans" pitchFamily="34" charset="0"/>
                <a:ea typeface="Google Sans" pitchFamily="34" charset="-122"/>
                <a:cs typeface="Google Sans" pitchFamily="34" charset="-120"/>
              </a:rPr>
              <a:t>Text response</a:t>
            </a:r>
            <a:endParaRPr lang="en-US" sz="1300" dirty="0"/>
          </a:p>
        </p:txBody>
      </p:sp>
      <p:sp>
        <p:nvSpPr>
          <p:cNvPr id="13" name="Text 9"/>
          <p:cNvSpPr txBox="1"/>
          <p:nvPr/>
        </p:nvSpPr>
        <p:spPr>
          <a:xfrm>
            <a:off x="457200" y="1783080"/>
            <a:ext cx="8229600" cy="502920"/>
          </a:xfrm>
          <a:prstGeom prst="rect">
            <a:avLst/>
          </a:prstGeom>
          <a:noFill/>
          <a:ln/>
        </p:spPr>
        <p:txBody>
          <a:bodyPr wrap="square" lIns="0" tIns="0" rIns="0" bIns="0" rtlCol="0" anchor="ctr"/>
          <a:lstStyle/>
          <a:p>
            <a:pPr algn="ctr" indent="0" marL="0">
              <a:buNone/>
            </a:pPr>
            <a:r>
              <a:rPr lang="en-US" sz="2800" b="1" dirty="0">
                <a:solidFill>
                  <a:srgbClr val="202124"/>
                </a:solidFill>
                <a:latin typeface="Google Sans" pitchFamily="34" charset="0"/>
                <a:ea typeface="Google Sans" pitchFamily="34" charset="-122"/>
                <a:cs typeface="Google Sans" pitchFamily="34" charset="-120"/>
              </a:rPr>
              <a:t>Multimodal AI Workflow</a:t>
            </a:r>
            <a:endParaRPr lang="en-US" sz="2800" dirty="0"/>
          </a:p>
        </p:txBody>
      </p:sp>
      <p:sp>
        <p:nvSpPr>
          <p:cNvPr id="14" name="Shape 10"/>
          <p:cNvSpPr/>
          <p:nvPr/>
        </p:nvSpPr>
        <p:spPr>
          <a:xfrm>
            <a:off x="502920" y="2514600"/>
            <a:ext cx="1371600" cy="1325880"/>
          </a:xfrm>
          <a:prstGeom prst="roundRect">
            <a:avLst>
              <a:gd name="adj" fmla="val 689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15" name="Shape 11"/>
          <p:cNvSpPr/>
          <p:nvPr/>
        </p:nvSpPr>
        <p:spPr>
          <a:xfrm>
            <a:off x="914400" y="2651760"/>
            <a:ext cx="548640" cy="548640"/>
          </a:xfrm>
          <a:prstGeom prst="ellipse">
            <a:avLst/>
          </a:prstGeom>
          <a:solidFill>
            <a:srgbClr val="E8F0FE"/>
          </a:solidFill>
          <a:ln w="12700">
            <a:solidFill>
              <a:srgbClr val="E8F0FE"/>
            </a:solidFill>
            <a:prstDash val="solid"/>
          </a:ln>
        </p:spPr>
      </p:sp>
      <p:pic>
        <p:nvPicPr>
          <p:cNvPr id="16" name="Image 1" descr="preencoded.png">    </p:cNvPr>
          <p:cNvPicPr>
            <a:picLocks noChangeAspect="1"/>
          </p:cNvPicPr>
          <p:nvPr/>
        </p:nvPicPr>
        <p:blipFill>
          <a:blip r:embed="rId2"/>
          <a:stretch>
            <a:fillRect/>
          </a:stretch>
        </p:blipFill>
        <p:spPr>
          <a:xfrm>
            <a:off x="1035101" y="2772461"/>
            <a:ext cx="307238" cy="307238"/>
          </a:xfrm>
          <a:prstGeom prst="rect">
            <a:avLst/>
          </a:prstGeom>
        </p:spPr>
      </p:pic>
      <p:sp>
        <p:nvSpPr>
          <p:cNvPr id="17" name="Text 12"/>
          <p:cNvSpPr txBox="1"/>
          <p:nvPr/>
        </p:nvSpPr>
        <p:spPr>
          <a:xfrm>
            <a:off x="502920" y="3246120"/>
            <a:ext cx="1371600" cy="502920"/>
          </a:xfrm>
          <a:prstGeom prst="rect">
            <a:avLst/>
          </a:prstGeom>
          <a:noFill/>
          <a:ln/>
        </p:spPr>
        <p:txBody>
          <a:bodyPr wrap="square" lIns="0" tIns="0" rIns="0" bIns="0" rtlCol="0" anchor="t"/>
          <a:lstStyle/>
          <a:p>
            <a:pPr algn="ctr" indent="0" marL="0">
              <a:buNone/>
            </a:pPr>
            <a:r>
              <a:rPr lang="en-US" sz="1200" b="1" dirty="0">
                <a:solidFill>
                  <a:srgbClr val="202124"/>
                </a:solidFill>
                <a:latin typeface="Google Sans" pitchFamily="34" charset="0"/>
                <a:ea typeface="Google Sans" pitchFamily="34" charset="-122"/>
                <a:cs typeface="Google Sans" pitchFamily="34" charset="-120"/>
              </a:rPr>
              <a:t>Video</a:t>
            </a:r>
            <a:endParaRPr lang="en-US" sz="1200" dirty="0"/>
          </a:p>
        </p:txBody>
      </p:sp>
      <p:sp>
        <p:nvSpPr>
          <p:cNvPr id="18" name="Text 13"/>
          <p:cNvSpPr txBox="1"/>
          <p:nvPr/>
        </p:nvSpPr>
        <p:spPr>
          <a:xfrm>
            <a:off x="1874520" y="2834640"/>
            <a:ext cx="320040"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19" name="Shape 14"/>
          <p:cNvSpPr/>
          <p:nvPr/>
        </p:nvSpPr>
        <p:spPr>
          <a:xfrm>
            <a:off x="2194560" y="2514600"/>
            <a:ext cx="1371600" cy="1325880"/>
          </a:xfrm>
          <a:prstGeom prst="roundRect">
            <a:avLst>
              <a:gd name="adj" fmla="val 689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0" name="Shape 15"/>
          <p:cNvSpPr/>
          <p:nvPr/>
        </p:nvSpPr>
        <p:spPr>
          <a:xfrm>
            <a:off x="2606040" y="2651760"/>
            <a:ext cx="548640" cy="548640"/>
          </a:xfrm>
          <a:prstGeom prst="ellipse">
            <a:avLst/>
          </a:prstGeom>
          <a:solidFill>
            <a:srgbClr val="F3E8FD"/>
          </a:solidFill>
          <a:ln w="12700">
            <a:solidFill>
              <a:srgbClr val="F3E8FD"/>
            </a:solidFill>
            <a:prstDash val="solid"/>
          </a:ln>
        </p:spPr>
      </p:sp>
      <p:pic>
        <p:nvPicPr>
          <p:cNvPr id="21" name="Image 2" descr="preencoded.png">    </p:cNvPr>
          <p:cNvPicPr>
            <a:picLocks noChangeAspect="1"/>
          </p:cNvPicPr>
          <p:nvPr/>
        </p:nvPicPr>
        <p:blipFill>
          <a:blip r:embed="rId3"/>
          <a:stretch>
            <a:fillRect/>
          </a:stretch>
        </p:blipFill>
        <p:spPr>
          <a:xfrm>
            <a:off x="2726741" y="2772461"/>
            <a:ext cx="307238" cy="307238"/>
          </a:xfrm>
          <a:prstGeom prst="rect">
            <a:avLst/>
          </a:prstGeom>
        </p:spPr>
      </p:pic>
      <p:sp>
        <p:nvSpPr>
          <p:cNvPr id="22" name="Text 16"/>
          <p:cNvSpPr txBox="1"/>
          <p:nvPr/>
        </p:nvSpPr>
        <p:spPr>
          <a:xfrm>
            <a:off x="2194560" y="3246120"/>
            <a:ext cx="1371600" cy="502920"/>
          </a:xfrm>
          <a:prstGeom prst="rect">
            <a:avLst/>
          </a:prstGeom>
          <a:noFill/>
          <a:ln/>
        </p:spPr>
        <p:txBody>
          <a:bodyPr wrap="square" lIns="0" tIns="0" rIns="0" bIns="0" rtlCol="0" anchor="t"/>
          <a:lstStyle/>
          <a:p>
            <a:pPr algn="ctr" indent="0" marL="0">
              <a:buNone/>
            </a:pPr>
            <a:r>
              <a:rPr lang="en-US" sz="1200" b="1" dirty="0">
                <a:solidFill>
                  <a:srgbClr val="202124"/>
                </a:solidFill>
                <a:latin typeface="Google Sans" pitchFamily="34" charset="0"/>
                <a:ea typeface="Google Sans" pitchFamily="34" charset="-122"/>
                <a:cs typeface="Google Sans" pitchFamily="34" charset="-120"/>
              </a:rPr>
              <a:t>Analysis</a:t>
            </a:r>
            <a:endParaRPr lang="en-US" sz="1200" dirty="0"/>
          </a:p>
        </p:txBody>
      </p:sp>
      <p:sp>
        <p:nvSpPr>
          <p:cNvPr id="23" name="Text 17"/>
          <p:cNvSpPr txBox="1"/>
          <p:nvPr/>
        </p:nvSpPr>
        <p:spPr>
          <a:xfrm>
            <a:off x="3566160" y="2834640"/>
            <a:ext cx="320040"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24" name="Shape 18"/>
          <p:cNvSpPr/>
          <p:nvPr/>
        </p:nvSpPr>
        <p:spPr>
          <a:xfrm>
            <a:off x="3886200" y="2514600"/>
            <a:ext cx="1371600" cy="1325880"/>
          </a:xfrm>
          <a:prstGeom prst="roundRect">
            <a:avLst>
              <a:gd name="adj" fmla="val 689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5" name="Shape 19"/>
          <p:cNvSpPr/>
          <p:nvPr/>
        </p:nvSpPr>
        <p:spPr>
          <a:xfrm>
            <a:off x="4297680" y="2651760"/>
            <a:ext cx="548640" cy="548640"/>
          </a:xfrm>
          <a:prstGeom prst="ellipse">
            <a:avLst/>
          </a:prstGeom>
          <a:solidFill>
            <a:srgbClr val="FEF7E0"/>
          </a:solidFill>
          <a:ln w="12700">
            <a:solidFill>
              <a:srgbClr val="FEF7E0"/>
            </a:solidFill>
            <a:prstDash val="solid"/>
          </a:ln>
        </p:spPr>
      </p:sp>
      <p:pic>
        <p:nvPicPr>
          <p:cNvPr id="26" name="Image 3" descr="preencoded.png">    </p:cNvPr>
          <p:cNvPicPr>
            <a:picLocks noChangeAspect="1"/>
          </p:cNvPicPr>
          <p:nvPr/>
        </p:nvPicPr>
        <p:blipFill>
          <a:blip r:embed="rId4"/>
          <a:stretch>
            <a:fillRect/>
          </a:stretch>
        </p:blipFill>
        <p:spPr>
          <a:xfrm>
            <a:off x="4418381" y="2772461"/>
            <a:ext cx="307238" cy="307238"/>
          </a:xfrm>
          <a:prstGeom prst="rect">
            <a:avLst/>
          </a:prstGeom>
        </p:spPr>
      </p:pic>
      <p:sp>
        <p:nvSpPr>
          <p:cNvPr id="27" name="Text 20"/>
          <p:cNvSpPr txBox="1"/>
          <p:nvPr/>
        </p:nvSpPr>
        <p:spPr>
          <a:xfrm>
            <a:off x="3886200" y="3246120"/>
            <a:ext cx="1371600" cy="502920"/>
          </a:xfrm>
          <a:prstGeom prst="rect">
            <a:avLst/>
          </a:prstGeom>
          <a:noFill/>
          <a:ln/>
        </p:spPr>
        <p:txBody>
          <a:bodyPr wrap="square" lIns="0" tIns="0" rIns="0" bIns="0" rtlCol="0" anchor="t"/>
          <a:lstStyle/>
          <a:p>
            <a:pPr algn="ctr" indent="0" marL="0">
              <a:buNone/>
            </a:pPr>
            <a:r>
              <a:rPr lang="en-US" sz="1200" b="1" dirty="0">
                <a:solidFill>
                  <a:srgbClr val="202124"/>
                </a:solidFill>
                <a:latin typeface="Google Sans" pitchFamily="34" charset="0"/>
                <a:ea typeface="Google Sans" pitchFamily="34" charset="-122"/>
                <a:cs typeface="Google Sans" pitchFamily="34" charset="-120"/>
              </a:rPr>
              <a:t>Image</a:t>
            </a:r>
            <a:endParaRPr lang="en-US" sz="1200" dirty="0"/>
          </a:p>
        </p:txBody>
      </p:sp>
      <p:sp>
        <p:nvSpPr>
          <p:cNvPr id="28" name="Text 21"/>
          <p:cNvSpPr txBox="1"/>
          <p:nvPr/>
        </p:nvSpPr>
        <p:spPr>
          <a:xfrm>
            <a:off x="5257800" y="2834640"/>
            <a:ext cx="320040"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29" name="Shape 22"/>
          <p:cNvSpPr/>
          <p:nvPr/>
        </p:nvSpPr>
        <p:spPr>
          <a:xfrm>
            <a:off x="5577840" y="2514600"/>
            <a:ext cx="1371600" cy="1325880"/>
          </a:xfrm>
          <a:prstGeom prst="roundRect">
            <a:avLst>
              <a:gd name="adj" fmla="val 689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0" name="Shape 23"/>
          <p:cNvSpPr/>
          <p:nvPr/>
        </p:nvSpPr>
        <p:spPr>
          <a:xfrm>
            <a:off x="5989320" y="2651760"/>
            <a:ext cx="548640" cy="548640"/>
          </a:xfrm>
          <a:prstGeom prst="ellipse">
            <a:avLst/>
          </a:prstGeom>
          <a:solidFill>
            <a:srgbClr val="E6F4EA"/>
          </a:solidFill>
          <a:ln w="12700">
            <a:solidFill>
              <a:srgbClr val="E6F4EA"/>
            </a:solidFill>
            <a:prstDash val="solid"/>
          </a:ln>
        </p:spPr>
      </p:sp>
      <p:pic>
        <p:nvPicPr>
          <p:cNvPr id="31" name="Image 4" descr="preencoded.png">    </p:cNvPr>
          <p:cNvPicPr>
            <a:picLocks noChangeAspect="1"/>
          </p:cNvPicPr>
          <p:nvPr/>
        </p:nvPicPr>
        <p:blipFill>
          <a:blip r:embed="rId5"/>
          <a:stretch>
            <a:fillRect/>
          </a:stretch>
        </p:blipFill>
        <p:spPr>
          <a:xfrm>
            <a:off x="6110021" y="2772461"/>
            <a:ext cx="307238" cy="307238"/>
          </a:xfrm>
          <a:prstGeom prst="rect">
            <a:avLst/>
          </a:prstGeom>
        </p:spPr>
      </p:pic>
      <p:sp>
        <p:nvSpPr>
          <p:cNvPr id="32" name="Text 24"/>
          <p:cNvSpPr txBox="1"/>
          <p:nvPr/>
        </p:nvSpPr>
        <p:spPr>
          <a:xfrm>
            <a:off x="5577840" y="3246120"/>
            <a:ext cx="1371600" cy="502920"/>
          </a:xfrm>
          <a:prstGeom prst="rect">
            <a:avLst/>
          </a:prstGeom>
          <a:noFill/>
          <a:ln/>
        </p:spPr>
        <p:txBody>
          <a:bodyPr wrap="square" lIns="0" tIns="0" rIns="0" bIns="0" rtlCol="0" anchor="t"/>
          <a:lstStyle/>
          <a:p>
            <a:pPr algn="ctr" indent="0" marL="0">
              <a:buNone/>
            </a:pPr>
            <a:r>
              <a:rPr lang="en-US" sz="1200" b="1" dirty="0">
                <a:solidFill>
                  <a:srgbClr val="202124"/>
                </a:solidFill>
                <a:latin typeface="Google Sans" pitchFamily="34" charset="0"/>
                <a:ea typeface="Google Sans" pitchFamily="34" charset="-122"/>
                <a:cs typeface="Google Sans" pitchFamily="34" charset="-120"/>
              </a:rPr>
              <a:t>Video</a:t>
            </a:r>
            <a:endParaRPr lang="en-US" sz="1200" dirty="0"/>
          </a:p>
        </p:txBody>
      </p:sp>
      <p:sp>
        <p:nvSpPr>
          <p:cNvPr id="33" name="Text 25"/>
          <p:cNvSpPr txBox="1"/>
          <p:nvPr/>
        </p:nvSpPr>
        <p:spPr>
          <a:xfrm>
            <a:off x="6949440" y="2834640"/>
            <a:ext cx="320040"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34" name="Shape 26"/>
          <p:cNvSpPr/>
          <p:nvPr/>
        </p:nvSpPr>
        <p:spPr>
          <a:xfrm>
            <a:off x="7269480" y="2514600"/>
            <a:ext cx="1371600" cy="1325880"/>
          </a:xfrm>
          <a:prstGeom prst="roundRect">
            <a:avLst>
              <a:gd name="adj" fmla="val 689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5" name="Shape 27"/>
          <p:cNvSpPr/>
          <p:nvPr/>
        </p:nvSpPr>
        <p:spPr>
          <a:xfrm>
            <a:off x="7680960" y="2651760"/>
            <a:ext cx="548640" cy="548640"/>
          </a:xfrm>
          <a:prstGeom prst="ellipse">
            <a:avLst/>
          </a:prstGeom>
          <a:solidFill>
            <a:srgbClr val="FCE8E6"/>
          </a:solidFill>
          <a:ln w="12700">
            <a:solidFill>
              <a:srgbClr val="FCE8E6"/>
            </a:solidFill>
            <a:prstDash val="solid"/>
          </a:ln>
        </p:spPr>
      </p:sp>
      <p:pic>
        <p:nvPicPr>
          <p:cNvPr id="36" name="Image 5" descr="preencoded.png">    </p:cNvPr>
          <p:cNvPicPr>
            <a:picLocks noChangeAspect="1"/>
          </p:cNvPicPr>
          <p:nvPr/>
        </p:nvPicPr>
        <p:blipFill>
          <a:blip r:embed="rId6"/>
          <a:stretch>
            <a:fillRect/>
          </a:stretch>
        </p:blipFill>
        <p:spPr>
          <a:xfrm>
            <a:off x="7801661" y="2772461"/>
            <a:ext cx="307238" cy="307238"/>
          </a:xfrm>
          <a:prstGeom prst="rect">
            <a:avLst/>
          </a:prstGeom>
        </p:spPr>
      </p:pic>
      <p:sp>
        <p:nvSpPr>
          <p:cNvPr id="37" name="Text 28"/>
          <p:cNvSpPr txBox="1"/>
          <p:nvPr/>
        </p:nvSpPr>
        <p:spPr>
          <a:xfrm>
            <a:off x="7269480" y="3246120"/>
            <a:ext cx="1371600" cy="502920"/>
          </a:xfrm>
          <a:prstGeom prst="rect">
            <a:avLst/>
          </a:prstGeom>
          <a:noFill/>
          <a:ln/>
        </p:spPr>
        <p:txBody>
          <a:bodyPr wrap="square" lIns="0" tIns="0" rIns="0" bIns="0" rtlCol="0" anchor="t"/>
          <a:lstStyle/>
          <a:p>
            <a:pPr algn="ctr" indent="0" marL="0">
              <a:buNone/>
            </a:pPr>
            <a:r>
              <a:rPr lang="en-US" sz="1200" b="1" dirty="0">
                <a:solidFill>
                  <a:srgbClr val="202124"/>
                </a:solidFill>
                <a:latin typeface="Google Sans" pitchFamily="34" charset="0"/>
                <a:ea typeface="Google Sans" pitchFamily="34" charset="-122"/>
                <a:cs typeface="Google Sans" pitchFamily="34" charset="-120"/>
              </a:rPr>
              <a:t>Shareable</a:t>
            </a:r>
            <a:endParaRPr lang="en-US" sz="1200" dirty="0"/>
          </a:p>
          <a:p>
            <a:pPr algn="ctr" indent="0" marL="0">
              <a:buNone/>
            </a:pPr>
            <a:r>
              <a:rPr lang="en-US" sz="1200" b="1" dirty="0">
                <a:solidFill>
                  <a:srgbClr val="202124"/>
                </a:solidFill>
                <a:latin typeface="Google Sans" pitchFamily="34" charset="0"/>
                <a:ea typeface="Google Sans" pitchFamily="34" charset="-122"/>
                <a:cs typeface="Google Sans" pitchFamily="34" charset="-120"/>
              </a:rPr>
              <a:t>experience</a:t>
            </a:r>
            <a:endParaRPr lang="en-US" sz="1200" dirty="0"/>
          </a:p>
        </p:txBody>
      </p:sp>
      <p:sp>
        <p:nvSpPr>
          <p:cNvPr id="38" name="Text 29"/>
          <p:cNvSpPr txBox="1"/>
          <p:nvPr/>
        </p:nvSpPr>
        <p:spPr>
          <a:xfrm>
            <a:off x="457200" y="4114800"/>
            <a:ext cx="8229600" cy="274320"/>
          </a:xfrm>
          <a:prstGeom prst="rect">
            <a:avLst/>
          </a:prstGeom>
          <a:noFill/>
          <a:ln/>
        </p:spPr>
        <p:txBody>
          <a:bodyPr wrap="square" lIns="0" tIns="0" rIns="0" bIns="0" rtlCol="0" anchor="ctr"/>
          <a:lstStyle/>
          <a:p>
            <a:pPr algn="ctr" indent="0" marL="0">
              <a:buNone/>
            </a:pPr>
            <a:r>
              <a:rPr lang="en-US" sz="1300" i="1" dirty="0">
                <a:solidFill>
                  <a:srgbClr val="4285F4"/>
                </a:solidFill>
                <a:latin typeface="Google Sans" pitchFamily="34" charset="0"/>
                <a:ea typeface="Google Sans" pitchFamily="34" charset="-122"/>
                <a:cs typeface="Google Sans" pitchFamily="34" charset="-120"/>
              </a:rPr>
              <a:t>Model chaining: bir modelin çıktısı, zincirdeki bir sonraki modelin girdisi.</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ext 0"/>
          <p:cNvSpPr txBox="1"/>
          <p:nvPr/>
        </p:nvSpPr>
        <p:spPr>
          <a:xfrm>
            <a:off x="548640" y="640080"/>
            <a:ext cx="5120640" cy="1280160"/>
          </a:xfrm>
          <a:prstGeom prst="rect">
            <a:avLst/>
          </a:prstGeom>
          <a:noFill/>
          <a:ln/>
        </p:spPr>
        <p:txBody>
          <a:bodyPr wrap="square" lIns="0" tIns="0" rIns="0" bIns="0" rtlCol="0" anchor="t"/>
          <a:lstStyle/>
          <a:p>
            <a:pPr indent="0" marL="0">
              <a:buNone/>
            </a:pPr>
            <a:r>
              <a:rPr lang="en-US" sz="3200" b="1" dirty="0">
                <a:solidFill>
                  <a:srgbClr val="202124"/>
                </a:solidFill>
                <a:latin typeface="Google Sans" pitchFamily="34" charset="0"/>
                <a:ea typeface="Google Sans" pitchFamily="34" charset="-122"/>
                <a:cs typeface="Google Sans" pitchFamily="34" charset="-120"/>
              </a:rPr>
              <a:t>Let’s put a real video</a:t>
            </a:r>
            <a:endParaRPr lang="en-US" sz="3200" dirty="0"/>
          </a:p>
          <a:p>
            <a:pPr indent="0" marL="0">
              <a:buNone/>
            </a:pPr>
            <a:r>
              <a:rPr lang="en-US" sz="3200" b="1" dirty="0">
                <a:solidFill>
                  <a:srgbClr val="202124"/>
                </a:solidFill>
                <a:latin typeface="Google Sans" pitchFamily="34" charset="0"/>
                <a:ea typeface="Google Sans" pitchFamily="34" charset="-122"/>
                <a:cs typeface="Google Sans" pitchFamily="34" charset="-120"/>
              </a:rPr>
              <a:t>into the pipeline</a:t>
            </a:r>
            <a:endParaRPr lang="en-US" sz="3200" dirty="0"/>
          </a:p>
        </p:txBody>
      </p:sp>
      <p:sp>
        <p:nvSpPr>
          <p:cNvPr id="5" name="Text 1"/>
          <p:cNvSpPr txBox="1"/>
          <p:nvPr/>
        </p:nvSpPr>
        <p:spPr>
          <a:xfrm>
            <a:off x="548640" y="1965960"/>
            <a:ext cx="5120640" cy="320040"/>
          </a:xfrm>
          <a:prstGeom prst="rect">
            <a:avLst/>
          </a:prstGeom>
          <a:noFill/>
          <a:ln/>
        </p:spPr>
        <p:txBody>
          <a:bodyPr wrap="square" lIns="0" tIns="0" rIns="0" bIns="0" rtlCol="0" anchor="ctr"/>
          <a:lstStyle/>
          <a:p>
            <a:pPr indent="0" marL="0">
              <a:buNone/>
            </a:pPr>
            <a:r>
              <a:rPr lang="en-US" sz="1600" dirty="0">
                <a:solidFill>
                  <a:srgbClr val="5F6368"/>
                </a:solidFill>
                <a:latin typeface="Google Sans" pitchFamily="34" charset="0"/>
                <a:ea typeface="Google Sans" pitchFamily="34" charset="-122"/>
                <a:cs typeface="Google Sans" pitchFamily="34" charset="-120"/>
              </a:rPr>
              <a:t>Bir gönüllüye ihtiyacım var.</a:t>
            </a:r>
            <a:endParaRPr lang="en-US" sz="1600" dirty="0"/>
          </a:p>
        </p:txBody>
      </p:sp>
      <p:sp>
        <p:nvSpPr>
          <p:cNvPr id="6" name="Shape 2"/>
          <p:cNvSpPr/>
          <p:nvPr/>
        </p:nvSpPr>
        <p:spPr>
          <a:xfrm>
            <a:off x="548640" y="2514600"/>
            <a:ext cx="438912" cy="438912"/>
          </a:xfrm>
          <a:prstGeom prst="ellipse">
            <a:avLst/>
          </a:prstGeom>
          <a:solidFill>
            <a:srgbClr val="E8F0FE"/>
          </a:solidFill>
          <a:ln w="12700">
            <a:solidFill>
              <a:srgbClr val="E8F0FE"/>
            </a:solidFill>
            <a:prstDash val="solid"/>
          </a:ln>
        </p:spPr>
      </p:sp>
      <p:pic>
        <p:nvPicPr>
          <p:cNvPr id="7" name="Image 1" descr="preencoded.png">    </p:cNvPr>
          <p:cNvPicPr>
            <a:picLocks noChangeAspect="1"/>
          </p:cNvPicPr>
          <p:nvPr/>
        </p:nvPicPr>
        <p:blipFill>
          <a:blip r:embed="rId2"/>
          <a:stretch>
            <a:fillRect/>
          </a:stretch>
        </p:blipFill>
        <p:spPr>
          <a:xfrm>
            <a:off x="645201" y="2611161"/>
            <a:ext cx="245791" cy="245791"/>
          </a:xfrm>
          <a:prstGeom prst="rect">
            <a:avLst/>
          </a:prstGeom>
        </p:spPr>
      </p:pic>
      <p:sp>
        <p:nvSpPr>
          <p:cNvPr id="8" name="Text 3"/>
          <p:cNvSpPr txBox="1"/>
          <p:nvPr/>
        </p:nvSpPr>
        <p:spPr>
          <a:xfrm>
            <a:off x="1143000" y="2514600"/>
            <a:ext cx="4480560" cy="438912"/>
          </a:xfrm>
          <a:prstGeom prst="rect">
            <a:avLst/>
          </a:prstGeom>
          <a:noFill/>
          <a:ln/>
        </p:spPr>
        <p:txBody>
          <a:bodyPr wrap="square" lIns="0" tIns="0" rIns="0" bIns="0" rtlCol="0" anchor="ctr"/>
          <a:lstStyle/>
          <a:p>
            <a:pPr indent="0" marL="0">
              <a:buNone/>
            </a:pPr>
            <a:r>
              <a:rPr lang="en-US" sz="1300" dirty="0">
                <a:solidFill>
                  <a:srgbClr val="202124"/>
                </a:solidFill>
                <a:latin typeface="Google Sans" pitchFamily="34" charset="0"/>
                <a:ea typeface="Google Sans" pitchFamily="34" charset="-122"/>
                <a:cs typeface="Google Sans" pitchFamily="34" charset="-120"/>
              </a:rPr>
              <a:t>Yaklaşık 5 saniyelik net bir hareket</a:t>
            </a:r>
            <a:endParaRPr lang="en-US" sz="1300" dirty="0"/>
          </a:p>
        </p:txBody>
      </p:sp>
      <p:sp>
        <p:nvSpPr>
          <p:cNvPr id="9" name="Shape 4"/>
          <p:cNvSpPr/>
          <p:nvPr/>
        </p:nvSpPr>
        <p:spPr>
          <a:xfrm>
            <a:off x="548640" y="3136392"/>
            <a:ext cx="438912" cy="438912"/>
          </a:xfrm>
          <a:prstGeom prst="ellipse">
            <a:avLst/>
          </a:prstGeom>
          <a:solidFill>
            <a:srgbClr val="E6F4EA"/>
          </a:solidFill>
          <a:ln w="12700">
            <a:solidFill>
              <a:srgbClr val="E6F4EA"/>
            </a:solidFill>
            <a:prstDash val="solid"/>
          </a:ln>
        </p:spPr>
      </p:sp>
      <p:pic>
        <p:nvPicPr>
          <p:cNvPr id="10" name="Image 2" descr="preencoded.png">    </p:cNvPr>
          <p:cNvPicPr>
            <a:picLocks noChangeAspect="1"/>
          </p:cNvPicPr>
          <p:nvPr/>
        </p:nvPicPr>
        <p:blipFill>
          <a:blip r:embed="rId3"/>
          <a:stretch>
            <a:fillRect/>
          </a:stretch>
        </p:blipFill>
        <p:spPr>
          <a:xfrm>
            <a:off x="645201" y="3232953"/>
            <a:ext cx="245791" cy="245791"/>
          </a:xfrm>
          <a:prstGeom prst="rect">
            <a:avLst/>
          </a:prstGeom>
        </p:spPr>
      </p:pic>
      <p:sp>
        <p:nvSpPr>
          <p:cNvPr id="11" name="Text 5"/>
          <p:cNvSpPr txBox="1"/>
          <p:nvPr/>
        </p:nvSpPr>
        <p:spPr>
          <a:xfrm>
            <a:off x="1143000" y="3136392"/>
            <a:ext cx="4480560" cy="438912"/>
          </a:xfrm>
          <a:prstGeom prst="rect">
            <a:avLst/>
          </a:prstGeom>
          <a:noFill/>
          <a:ln/>
        </p:spPr>
        <p:txBody>
          <a:bodyPr wrap="square" lIns="0" tIns="0" rIns="0" bIns="0" rtlCol="0" anchor="ctr"/>
          <a:lstStyle/>
          <a:p>
            <a:pPr indent="0" marL="0">
              <a:buNone/>
            </a:pPr>
            <a:r>
              <a:rPr lang="en-US" sz="1300" dirty="0">
                <a:solidFill>
                  <a:srgbClr val="202124"/>
                </a:solidFill>
                <a:latin typeface="Google Sans" pitchFamily="34" charset="0"/>
                <a:ea typeface="Google Sans" pitchFamily="34" charset="-122"/>
                <a:cs typeface="Google Sans" pitchFamily="34" charset="-120"/>
              </a:rPr>
              <a:t>Video Cloud Storage’da tutulur, sonuç süreli linkle paylaşılır</a:t>
            </a:r>
            <a:endParaRPr lang="en-US" sz="1300" dirty="0"/>
          </a:p>
        </p:txBody>
      </p:sp>
      <p:sp>
        <p:nvSpPr>
          <p:cNvPr id="12" name="Shape 6"/>
          <p:cNvSpPr/>
          <p:nvPr/>
        </p:nvSpPr>
        <p:spPr>
          <a:xfrm>
            <a:off x="548640" y="3758184"/>
            <a:ext cx="438912" cy="438912"/>
          </a:xfrm>
          <a:prstGeom prst="ellipse">
            <a:avLst/>
          </a:prstGeom>
          <a:solidFill>
            <a:srgbClr val="FCE8E6"/>
          </a:solidFill>
          <a:ln w="12700">
            <a:solidFill>
              <a:srgbClr val="FCE8E6"/>
            </a:solidFill>
            <a:prstDash val="solid"/>
          </a:ln>
        </p:spPr>
      </p:sp>
      <p:pic>
        <p:nvPicPr>
          <p:cNvPr id="13" name="Image 3" descr="preencoded.png">    </p:cNvPr>
          <p:cNvPicPr>
            <a:picLocks noChangeAspect="1"/>
          </p:cNvPicPr>
          <p:nvPr/>
        </p:nvPicPr>
        <p:blipFill>
          <a:blip r:embed="rId4"/>
          <a:stretch>
            <a:fillRect/>
          </a:stretch>
        </p:blipFill>
        <p:spPr>
          <a:xfrm>
            <a:off x="645201" y="3854745"/>
            <a:ext cx="245791" cy="245791"/>
          </a:xfrm>
          <a:prstGeom prst="rect">
            <a:avLst/>
          </a:prstGeom>
        </p:spPr>
      </p:pic>
      <p:sp>
        <p:nvSpPr>
          <p:cNvPr id="14" name="Text 7"/>
          <p:cNvSpPr txBox="1"/>
          <p:nvPr/>
        </p:nvSpPr>
        <p:spPr>
          <a:xfrm>
            <a:off x="1143000" y="3758184"/>
            <a:ext cx="4480560" cy="438912"/>
          </a:xfrm>
          <a:prstGeom prst="rect">
            <a:avLst/>
          </a:prstGeom>
          <a:noFill/>
          <a:ln/>
        </p:spPr>
        <p:txBody>
          <a:bodyPr wrap="square" lIns="0" tIns="0" rIns="0" bIns="0" rtlCol="0" anchor="ctr"/>
          <a:lstStyle/>
          <a:p>
            <a:pPr indent="0" marL="0">
              <a:buNone/>
            </a:pPr>
            <a:r>
              <a:rPr lang="en-US" sz="1300" dirty="0">
                <a:solidFill>
                  <a:srgbClr val="202124"/>
                </a:solidFill>
                <a:latin typeface="Google Sans" pitchFamily="34" charset="0"/>
                <a:ea typeface="Google Sans" pitchFamily="34" charset="-122"/>
                <a:cs typeface="Google Sans" pitchFamily="34" charset="-120"/>
              </a:rPr>
              <a:t>Modellerin kendi safety filtreleri var</a:t>
            </a:r>
            <a:endParaRPr lang="en-US" sz="1300" dirty="0"/>
          </a:p>
        </p:txBody>
      </p:sp>
      <p:sp>
        <p:nvSpPr>
          <p:cNvPr id="15" name="Shape 8"/>
          <p:cNvSpPr/>
          <p:nvPr/>
        </p:nvSpPr>
        <p:spPr>
          <a:xfrm>
            <a:off x="5943600" y="914400"/>
            <a:ext cx="2743200" cy="2743200"/>
          </a:xfrm>
          <a:prstGeom prst="ellipse">
            <a:avLst/>
          </a:prstGeom>
          <a:solidFill>
            <a:srgbClr val="E8F0FE"/>
          </a:solidFill>
          <a:ln w="12700">
            <a:solidFill>
              <a:srgbClr val="E8F0FE"/>
            </a:solidFill>
            <a:prstDash val="solid"/>
          </a:ln>
        </p:spPr>
      </p:sp>
      <p:pic>
        <p:nvPicPr>
          <p:cNvPr id="16" name="Image 4" descr="preencoded.png">    </p:cNvPr>
          <p:cNvPicPr>
            <a:picLocks noChangeAspect="1"/>
          </p:cNvPicPr>
          <p:nvPr/>
        </p:nvPicPr>
        <p:blipFill>
          <a:blip r:embed="rId5"/>
          <a:stretch>
            <a:fillRect/>
          </a:stretch>
        </p:blipFill>
        <p:spPr>
          <a:xfrm>
            <a:off x="6629400" y="1600200"/>
            <a:ext cx="1371600" cy="1371600"/>
          </a:xfrm>
          <a:prstGeom prst="rect">
            <a:avLst/>
          </a:prstGeom>
        </p:spPr>
      </p:pic>
      <p:sp>
        <p:nvSpPr>
          <p:cNvPr id="17" name="Shape 9"/>
          <p:cNvSpPr/>
          <p:nvPr/>
        </p:nvSpPr>
        <p:spPr>
          <a:xfrm>
            <a:off x="7589520" y="960120"/>
            <a:ext cx="1005840" cy="384048"/>
          </a:xfrm>
          <a:prstGeom prst="roundRect">
            <a:avLst>
              <a:gd name="adj" fmla="val 47619"/>
            </a:avLst>
          </a:prstGeom>
          <a:solidFill>
            <a:srgbClr val="EA4335"/>
          </a:solidFill>
          <a:ln w="12700">
            <a:solidFill>
              <a:srgbClr val="EA4335"/>
            </a:solidFill>
            <a:prstDash val="solid"/>
          </a:ln>
        </p:spPr>
      </p:sp>
      <p:sp>
        <p:nvSpPr>
          <p:cNvPr id="18" name="Text 10"/>
          <p:cNvSpPr txBox="1"/>
          <p:nvPr/>
        </p:nvSpPr>
        <p:spPr>
          <a:xfrm>
            <a:off x="7589520" y="960120"/>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Google Sans" pitchFamily="34" charset="0"/>
                <a:ea typeface="Google Sans" pitchFamily="34" charset="-122"/>
                <a:cs typeface="Google Sans" pitchFamily="34" charset="-120"/>
              </a:rPr>
              <a:t>● REC 5s</a:t>
            </a:r>
            <a:endParaRPr lang="en-US" sz="11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9144" cy="0"/>
          </a:xfrm>
          <a:prstGeom prst="line">
            <a:avLst/>
          </a:prstGeom>
          <a:noFill/>
          <a:ln w="38100">
            <a:solidFill>
              <a:srgbClr val="4285F4"/>
            </a:solidFill>
            <a:prstDash val="solid"/>
          </a:ln>
        </p:spPr>
      </p:sp>
      <p:sp>
        <p:nvSpPr>
          <p:cNvPr id="6" name="!!tl_halo"/>
          <p:cNvSpPr/>
          <p:nvPr/>
        </p:nvSpPr>
        <p:spPr>
          <a:xfrm>
            <a:off x="557784" y="118872"/>
            <a:ext cx="530352" cy="530352"/>
          </a:xfrm>
          <a:prstGeom prst="ellipse">
            <a:avLst/>
          </a:prstGeom>
          <a:solidFill>
            <a:srgbClr val="F8FAFD"/>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FFFFFF"/>
          </a:solidFill>
          <a:ln w="19050">
            <a:solidFill>
              <a:srgbClr val="DADCE0"/>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FFFFFF"/>
          </a:solidFill>
          <a:ln w="19050">
            <a:solidFill>
              <a:srgbClr val="DADCE0"/>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FFFFF"/>
          </a:solidFill>
          <a:ln w="19050">
            <a:solidFill>
              <a:srgbClr val="DADCE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FFFFFF"/>
          </a:solidFill>
          <a:ln w="19050">
            <a:solidFill>
              <a:srgbClr val="DADCE0"/>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sp>
        <p:nvSpPr>
          <p:cNvPr id="17"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200" b="1" dirty="0">
                <a:solidFill>
                  <a:srgbClr val="202124"/>
                </a:solidFill>
                <a:latin typeface="Google Sans" pitchFamily="34" charset="0"/>
                <a:ea typeface="Google Sans" pitchFamily="34" charset="-122"/>
                <a:cs typeface="Google Sans" pitchFamily="34" charset="-120"/>
              </a:rPr>
              <a:t>Simple for the user, multi-stage behind the scenes</a:t>
            </a:r>
            <a:endParaRPr lang="en-US" sz="2200" dirty="0"/>
          </a:p>
        </p:txBody>
      </p:sp>
      <p:sp>
        <p:nvSpPr>
          <p:cNvPr id="18"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Kullanıcı tek bir işlem başlatıyor; arkada beş aşama çalışıyor.</a:t>
            </a:r>
            <a:endParaRPr lang="en-US" sz="1400" dirty="0"/>
          </a:p>
        </p:txBody>
      </p:sp>
      <p:sp>
        <p:nvSpPr>
          <p:cNvPr id="19" name="Shape 15"/>
          <p:cNvSpPr/>
          <p:nvPr/>
        </p:nvSpPr>
        <p:spPr>
          <a:xfrm>
            <a:off x="457200" y="2011680"/>
            <a:ext cx="1481328" cy="2286000"/>
          </a:xfrm>
          <a:prstGeom prst="roundRect">
            <a:avLst>
              <a:gd name="adj" fmla="val 617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0" name="Shape 16"/>
          <p:cNvSpPr/>
          <p:nvPr/>
        </p:nvSpPr>
        <p:spPr>
          <a:xfrm>
            <a:off x="530352" y="2084832"/>
            <a:ext cx="1335024" cy="914400"/>
          </a:xfrm>
          <a:prstGeom prst="roundRect">
            <a:avLst>
              <a:gd name="adj" fmla="val 8000"/>
            </a:avLst>
          </a:prstGeom>
          <a:solidFill>
            <a:srgbClr val="E8F0FE"/>
          </a:solidFill>
          <a:ln w="12700">
            <a:solidFill>
              <a:srgbClr val="E8F0FE"/>
            </a:solidFill>
            <a:prstDash val="solid"/>
          </a:ln>
        </p:spPr>
      </p:sp>
      <p:pic>
        <p:nvPicPr>
          <p:cNvPr id="21" name="Image 1" descr="preencoded.png">    </p:cNvPr>
          <p:cNvPicPr>
            <a:picLocks noChangeAspect="1"/>
          </p:cNvPicPr>
          <p:nvPr/>
        </p:nvPicPr>
        <p:blipFill>
          <a:blip r:embed="rId2"/>
          <a:stretch>
            <a:fillRect/>
          </a:stretch>
        </p:blipFill>
        <p:spPr>
          <a:xfrm>
            <a:off x="946404" y="2286000"/>
            <a:ext cx="502920" cy="502920"/>
          </a:xfrm>
          <a:prstGeom prst="rect">
            <a:avLst/>
          </a:prstGeom>
        </p:spPr>
      </p:pic>
      <p:sp>
        <p:nvSpPr>
          <p:cNvPr id="22" name="Text 17"/>
          <p:cNvSpPr txBox="1"/>
          <p:nvPr/>
        </p:nvSpPr>
        <p:spPr>
          <a:xfrm>
            <a:off x="566928" y="3154680"/>
            <a:ext cx="1261872" cy="320040"/>
          </a:xfrm>
          <a:prstGeom prst="rect">
            <a:avLst/>
          </a:prstGeom>
          <a:noFill/>
          <a:ln/>
        </p:spPr>
        <p:txBody>
          <a:bodyPr wrap="square" lIns="0" tIns="0" rIns="0" bIns="0" rtlCol="0" anchor="ctr"/>
          <a:lstStyle/>
          <a:p>
            <a:pPr algn="ctr" indent="0" marL="0">
              <a:buNone/>
            </a:pPr>
            <a:r>
              <a:rPr lang="en-US" sz="1400" b="1" dirty="0">
                <a:solidFill>
                  <a:srgbClr val="202124"/>
                </a:solidFill>
                <a:latin typeface="Google Sans" pitchFamily="34" charset="0"/>
                <a:ea typeface="Google Sans" pitchFamily="34" charset="-122"/>
                <a:cs typeface="Google Sans" pitchFamily="34" charset="-120"/>
              </a:rPr>
              <a:t>Upload</a:t>
            </a:r>
            <a:endParaRPr lang="en-US" sz="1400" dirty="0"/>
          </a:p>
        </p:txBody>
      </p:sp>
      <p:sp>
        <p:nvSpPr>
          <p:cNvPr id="23" name="Text 18"/>
          <p:cNvSpPr txBox="1"/>
          <p:nvPr/>
        </p:nvSpPr>
        <p:spPr>
          <a:xfrm>
            <a:off x="566928" y="3520440"/>
            <a:ext cx="1261872"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5 sn WebM → Cloud Storage</a:t>
            </a:r>
            <a:endParaRPr lang="en-US" sz="1100" dirty="0"/>
          </a:p>
        </p:txBody>
      </p:sp>
      <p:sp>
        <p:nvSpPr>
          <p:cNvPr id="24" name="Shape 19"/>
          <p:cNvSpPr/>
          <p:nvPr/>
        </p:nvSpPr>
        <p:spPr>
          <a:xfrm>
            <a:off x="2121408" y="2011680"/>
            <a:ext cx="1481328" cy="2286000"/>
          </a:xfrm>
          <a:prstGeom prst="roundRect">
            <a:avLst>
              <a:gd name="adj" fmla="val 617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5" name="Shape 20"/>
          <p:cNvSpPr/>
          <p:nvPr/>
        </p:nvSpPr>
        <p:spPr>
          <a:xfrm>
            <a:off x="2194560" y="2084832"/>
            <a:ext cx="1335024" cy="914400"/>
          </a:xfrm>
          <a:prstGeom prst="roundRect">
            <a:avLst>
              <a:gd name="adj" fmla="val 8000"/>
            </a:avLst>
          </a:prstGeom>
          <a:solidFill>
            <a:srgbClr val="F3E8FD"/>
          </a:solidFill>
          <a:ln w="12700">
            <a:solidFill>
              <a:srgbClr val="F3E8FD"/>
            </a:solidFill>
            <a:prstDash val="solid"/>
          </a:ln>
        </p:spPr>
      </p:sp>
      <p:pic>
        <p:nvPicPr>
          <p:cNvPr id="26" name="Image 2" descr="preencoded.png">    </p:cNvPr>
          <p:cNvPicPr>
            <a:picLocks noChangeAspect="1"/>
          </p:cNvPicPr>
          <p:nvPr/>
        </p:nvPicPr>
        <p:blipFill>
          <a:blip r:embed="rId3"/>
          <a:stretch>
            <a:fillRect/>
          </a:stretch>
        </p:blipFill>
        <p:spPr>
          <a:xfrm>
            <a:off x="2610612" y="2286000"/>
            <a:ext cx="502920" cy="502920"/>
          </a:xfrm>
          <a:prstGeom prst="rect">
            <a:avLst/>
          </a:prstGeom>
        </p:spPr>
      </p:pic>
      <p:sp>
        <p:nvSpPr>
          <p:cNvPr id="27" name="Text 21"/>
          <p:cNvSpPr txBox="1"/>
          <p:nvPr/>
        </p:nvSpPr>
        <p:spPr>
          <a:xfrm>
            <a:off x="2231136" y="3154680"/>
            <a:ext cx="1261872" cy="320040"/>
          </a:xfrm>
          <a:prstGeom prst="rect">
            <a:avLst/>
          </a:prstGeom>
          <a:noFill/>
          <a:ln/>
        </p:spPr>
        <p:txBody>
          <a:bodyPr wrap="square" lIns="0" tIns="0" rIns="0" bIns="0" rtlCol="0" anchor="ctr"/>
          <a:lstStyle/>
          <a:p>
            <a:pPr algn="ctr" indent="0" marL="0">
              <a:buNone/>
            </a:pPr>
            <a:r>
              <a:rPr lang="en-US" sz="1400" b="1" dirty="0">
                <a:solidFill>
                  <a:srgbClr val="202124"/>
                </a:solidFill>
                <a:latin typeface="Google Sans" pitchFamily="34" charset="0"/>
                <a:ea typeface="Google Sans" pitchFamily="34" charset="-122"/>
                <a:cs typeface="Google Sans" pitchFamily="34" charset="-120"/>
              </a:rPr>
              <a:t>Gemini</a:t>
            </a:r>
            <a:endParaRPr lang="en-US" sz="1400" dirty="0"/>
          </a:p>
        </p:txBody>
      </p:sp>
      <p:sp>
        <p:nvSpPr>
          <p:cNvPr id="28" name="Text 22"/>
          <p:cNvSpPr txBox="1"/>
          <p:nvPr/>
        </p:nvSpPr>
        <p:spPr>
          <a:xfrm>
            <a:off x="2231136" y="3520440"/>
            <a:ext cx="1261872"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Structured JSON</a:t>
            </a:r>
            <a:endParaRPr lang="en-US" sz="1100" dirty="0"/>
          </a:p>
        </p:txBody>
      </p:sp>
      <p:sp>
        <p:nvSpPr>
          <p:cNvPr id="29" name="Shape 23"/>
          <p:cNvSpPr/>
          <p:nvPr/>
        </p:nvSpPr>
        <p:spPr>
          <a:xfrm>
            <a:off x="3785616" y="2011680"/>
            <a:ext cx="1481328" cy="2286000"/>
          </a:xfrm>
          <a:prstGeom prst="roundRect">
            <a:avLst>
              <a:gd name="adj" fmla="val 617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0" name="Shape 24"/>
          <p:cNvSpPr/>
          <p:nvPr/>
        </p:nvSpPr>
        <p:spPr>
          <a:xfrm>
            <a:off x="3858768" y="2084832"/>
            <a:ext cx="1335024" cy="914400"/>
          </a:xfrm>
          <a:prstGeom prst="roundRect">
            <a:avLst>
              <a:gd name="adj" fmla="val 8000"/>
            </a:avLst>
          </a:prstGeom>
          <a:solidFill>
            <a:srgbClr val="FEF7E0"/>
          </a:solidFill>
          <a:ln w="12700">
            <a:solidFill>
              <a:srgbClr val="FEF7E0"/>
            </a:solidFill>
            <a:prstDash val="solid"/>
          </a:ln>
        </p:spPr>
      </p:sp>
      <p:pic>
        <p:nvPicPr>
          <p:cNvPr id="31" name="Image 3" descr="preencoded.png">    </p:cNvPr>
          <p:cNvPicPr>
            <a:picLocks noChangeAspect="1"/>
          </p:cNvPicPr>
          <p:nvPr/>
        </p:nvPicPr>
        <p:blipFill>
          <a:blip r:embed="rId4"/>
          <a:stretch>
            <a:fillRect/>
          </a:stretch>
        </p:blipFill>
        <p:spPr>
          <a:xfrm>
            <a:off x="4274820" y="2286000"/>
            <a:ext cx="502920" cy="502920"/>
          </a:xfrm>
          <a:prstGeom prst="rect">
            <a:avLst/>
          </a:prstGeom>
        </p:spPr>
      </p:pic>
      <p:sp>
        <p:nvSpPr>
          <p:cNvPr id="32" name="Text 25"/>
          <p:cNvSpPr txBox="1"/>
          <p:nvPr/>
        </p:nvSpPr>
        <p:spPr>
          <a:xfrm>
            <a:off x="3895344" y="3154680"/>
            <a:ext cx="1261872" cy="320040"/>
          </a:xfrm>
          <a:prstGeom prst="rect">
            <a:avLst/>
          </a:prstGeom>
          <a:noFill/>
          <a:ln/>
        </p:spPr>
        <p:txBody>
          <a:bodyPr wrap="square" lIns="0" tIns="0" rIns="0" bIns="0" rtlCol="0" anchor="ctr"/>
          <a:lstStyle/>
          <a:p>
            <a:pPr algn="ctr" indent="0" marL="0">
              <a:buNone/>
            </a:pPr>
            <a:r>
              <a:rPr lang="en-US" sz="1400" b="1" dirty="0">
                <a:solidFill>
                  <a:srgbClr val="202124"/>
                </a:solidFill>
                <a:latin typeface="Google Sans" pitchFamily="34" charset="0"/>
                <a:ea typeface="Google Sans" pitchFamily="34" charset="-122"/>
                <a:cs typeface="Google Sans" pitchFamily="34" charset="-120"/>
              </a:rPr>
              <a:t>Nano Banana</a:t>
            </a:r>
            <a:endParaRPr lang="en-US" sz="1400" dirty="0"/>
          </a:p>
        </p:txBody>
      </p:sp>
      <p:sp>
        <p:nvSpPr>
          <p:cNvPr id="33" name="Text 26"/>
          <p:cNvSpPr txBox="1"/>
          <p:nvPr/>
        </p:nvSpPr>
        <p:spPr>
          <a:xfrm>
            <a:off x="3895344" y="3520440"/>
            <a:ext cx="1261872"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1024×1024 avatar</a:t>
            </a:r>
            <a:endParaRPr lang="en-US" sz="1100" dirty="0"/>
          </a:p>
        </p:txBody>
      </p:sp>
      <p:sp>
        <p:nvSpPr>
          <p:cNvPr id="34" name="Shape 27"/>
          <p:cNvSpPr/>
          <p:nvPr/>
        </p:nvSpPr>
        <p:spPr>
          <a:xfrm>
            <a:off x="5449824" y="2011680"/>
            <a:ext cx="1481328" cy="2286000"/>
          </a:xfrm>
          <a:prstGeom prst="roundRect">
            <a:avLst>
              <a:gd name="adj" fmla="val 617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5" name="Shape 28"/>
          <p:cNvSpPr/>
          <p:nvPr/>
        </p:nvSpPr>
        <p:spPr>
          <a:xfrm>
            <a:off x="5522976" y="2084832"/>
            <a:ext cx="1335024" cy="914400"/>
          </a:xfrm>
          <a:prstGeom prst="roundRect">
            <a:avLst>
              <a:gd name="adj" fmla="val 8000"/>
            </a:avLst>
          </a:prstGeom>
          <a:solidFill>
            <a:srgbClr val="E6F4EA"/>
          </a:solidFill>
          <a:ln w="12700">
            <a:solidFill>
              <a:srgbClr val="E6F4EA"/>
            </a:solidFill>
            <a:prstDash val="solid"/>
          </a:ln>
        </p:spPr>
      </p:sp>
      <p:pic>
        <p:nvPicPr>
          <p:cNvPr id="36" name="Image 4" descr="preencoded.png">    </p:cNvPr>
          <p:cNvPicPr>
            <a:picLocks noChangeAspect="1"/>
          </p:cNvPicPr>
          <p:nvPr/>
        </p:nvPicPr>
        <p:blipFill>
          <a:blip r:embed="rId5"/>
          <a:stretch>
            <a:fillRect/>
          </a:stretch>
        </p:blipFill>
        <p:spPr>
          <a:xfrm>
            <a:off x="5939028" y="2286000"/>
            <a:ext cx="502920" cy="502920"/>
          </a:xfrm>
          <a:prstGeom prst="rect">
            <a:avLst/>
          </a:prstGeom>
        </p:spPr>
      </p:pic>
      <p:sp>
        <p:nvSpPr>
          <p:cNvPr id="37" name="Text 29"/>
          <p:cNvSpPr txBox="1"/>
          <p:nvPr/>
        </p:nvSpPr>
        <p:spPr>
          <a:xfrm>
            <a:off x="5559552" y="3154680"/>
            <a:ext cx="1261872" cy="320040"/>
          </a:xfrm>
          <a:prstGeom prst="rect">
            <a:avLst/>
          </a:prstGeom>
          <a:noFill/>
          <a:ln/>
        </p:spPr>
        <p:txBody>
          <a:bodyPr wrap="square" lIns="0" tIns="0" rIns="0" bIns="0" rtlCol="0" anchor="ctr"/>
          <a:lstStyle/>
          <a:p>
            <a:pPr algn="ctr" indent="0" marL="0">
              <a:buNone/>
            </a:pPr>
            <a:r>
              <a:rPr lang="en-US" sz="1400" b="1" dirty="0">
                <a:solidFill>
                  <a:srgbClr val="202124"/>
                </a:solidFill>
                <a:latin typeface="Google Sans" pitchFamily="34" charset="0"/>
                <a:ea typeface="Google Sans" pitchFamily="34" charset="-122"/>
                <a:cs typeface="Google Sans" pitchFamily="34" charset="-120"/>
              </a:rPr>
              <a:t>Veo</a:t>
            </a:r>
            <a:endParaRPr lang="en-US" sz="1400" dirty="0"/>
          </a:p>
        </p:txBody>
      </p:sp>
      <p:sp>
        <p:nvSpPr>
          <p:cNvPr id="38" name="Text 30"/>
          <p:cNvSpPr txBox="1"/>
          <p:nvPr/>
        </p:nvSpPr>
        <p:spPr>
          <a:xfrm>
            <a:off x="5559552" y="3520440"/>
            <a:ext cx="1261872"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8 sn AI video</a:t>
            </a:r>
            <a:endParaRPr lang="en-US" sz="1100" dirty="0"/>
          </a:p>
        </p:txBody>
      </p:sp>
      <p:sp>
        <p:nvSpPr>
          <p:cNvPr id="39" name="Shape 31"/>
          <p:cNvSpPr/>
          <p:nvPr/>
        </p:nvSpPr>
        <p:spPr>
          <a:xfrm>
            <a:off x="7114032" y="2011680"/>
            <a:ext cx="1481328" cy="2286000"/>
          </a:xfrm>
          <a:prstGeom prst="roundRect">
            <a:avLst>
              <a:gd name="adj" fmla="val 617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40" name="Shape 32"/>
          <p:cNvSpPr/>
          <p:nvPr/>
        </p:nvSpPr>
        <p:spPr>
          <a:xfrm>
            <a:off x="7187184" y="2084832"/>
            <a:ext cx="1335024" cy="914400"/>
          </a:xfrm>
          <a:prstGeom prst="roundRect">
            <a:avLst>
              <a:gd name="adj" fmla="val 8000"/>
            </a:avLst>
          </a:prstGeom>
          <a:solidFill>
            <a:srgbClr val="FCE8E6"/>
          </a:solidFill>
          <a:ln w="12700">
            <a:solidFill>
              <a:srgbClr val="FCE8E6"/>
            </a:solidFill>
            <a:prstDash val="solid"/>
          </a:ln>
        </p:spPr>
      </p:sp>
      <p:pic>
        <p:nvPicPr>
          <p:cNvPr id="41" name="Image 5" descr="preencoded.png">    </p:cNvPr>
          <p:cNvPicPr>
            <a:picLocks noChangeAspect="1"/>
          </p:cNvPicPr>
          <p:nvPr/>
        </p:nvPicPr>
        <p:blipFill>
          <a:blip r:embed="rId6"/>
          <a:stretch>
            <a:fillRect/>
          </a:stretch>
        </p:blipFill>
        <p:spPr>
          <a:xfrm>
            <a:off x="7603236" y="2286000"/>
            <a:ext cx="502920" cy="502920"/>
          </a:xfrm>
          <a:prstGeom prst="rect">
            <a:avLst/>
          </a:prstGeom>
        </p:spPr>
      </p:pic>
      <p:sp>
        <p:nvSpPr>
          <p:cNvPr id="42" name="Text 33"/>
          <p:cNvSpPr txBox="1"/>
          <p:nvPr/>
        </p:nvSpPr>
        <p:spPr>
          <a:xfrm>
            <a:off x="7223760" y="3154680"/>
            <a:ext cx="1261872" cy="320040"/>
          </a:xfrm>
          <a:prstGeom prst="rect">
            <a:avLst/>
          </a:prstGeom>
          <a:noFill/>
          <a:ln/>
        </p:spPr>
        <p:txBody>
          <a:bodyPr wrap="square" lIns="0" tIns="0" rIns="0" bIns="0" rtlCol="0" anchor="ctr"/>
          <a:lstStyle/>
          <a:p>
            <a:pPr algn="ctr" indent="0" marL="0">
              <a:buNone/>
            </a:pPr>
            <a:r>
              <a:rPr lang="en-US" sz="1400" b="1" dirty="0">
                <a:solidFill>
                  <a:srgbClr val="202124"/>
                </a:solidFill>
                <a:latin typeface="Google Sans" pitchFamily="34" charset="0"/>
                <a:ea typeface="Google Sans" pitchFamily="34" charset="-122"/>
                <a:cs typeface="Google Sans" pitchFamily="34" charset="-120"/>
              </a:rPr>
              <a:t>Share</a:t>
            </a:r>
            <a:endParaRPr lang="en-US" sz="1400" dirty="0"/>
          </a:p>
        </p:txBody>
      </p:sp>
      <p:sp>
        <p:nvSpPr>
          <p:cNvPr id="43" name="Text 34"/>
          <p:cNvSpPr txBox="1"/>
          <p:nvPr/>
        </p:nvSpPr>
        <p:spPr>
          <a:xfrm>
            <a:off x="7223760" y="3520440"/>
            <a:ext cx="1261872"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3 sn side-by-side + QR</a:t>
            </a:r>
            <a:endParaRPr lang="en-US" sz="11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9144" cy="0"/>
          </a:xfrm>
          <a:prstGeom prst="line">
            <a:avLst/>
          </a:prstGeom>
          <a:noFill/>
          <a:ln w="38100">
            <a:solidFill>
              <a:srgbClr val="4285F4"/>
            </a:solidFill>
            <a:prstDash val="solid"/>
          </a:ln>
        </p:spPr>
      </p:sp>
      <p:sp>
        <p:nvSpPr>
          <p:cNvPr id="6" name="!!tl_halo"/>
          <p:cNvSpPr/>
          <p:nvPr/>
        </p:nvSpPr>
        <p:spPr>
          <a:xfrm>
            <a:off x="557784" y="118872"/>
            <a:ext cx="530352" cy="530352"/>
          </a:xfrm>
          <a:prstGeom prst="ellipse">
            <a:avLst/>
          </a:prstGeom>
          <a:solidFill>
            <a:srgbClr val="E8F0FE"/>
          </a:solidFill>
          <a:ln w="12700">
            <a:solidFill>
              <a:srgbClr val="F8FAFD"/>
            </a:solidFill>
            <a:prstDash val="solid"/>
          </a:ln>
        </p:spPr>
      </p:sp>
      <p:sp>
        <p:nvSpPr>
          <p:cNvPr id="7" name="!!tl_node0"/>
          <p:cNvSpPr/>
          <p:nvPr/>
        </p:nvSpPr>
        <p:spPr>
          <a:xfrm>
            <a:off x="640080" y="201168"/>
            <a:ext cx="365760" cy="365760"/>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b="1" dirty="0">
                <a:solidFill>
                  <a:srgbClr val="4285F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FFFFFF"/>
          </a:solidFill>
          <a:ln w="19050">
            <a:solidFill>
              <a:srgbClr val="DADCE0"/>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FFFFF"/>
          </a:solidFill>
          <a:ln w="19050">
            <a:solidFill>
              <a:srgbClr val="DADCE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FFFFFF"/>
          </a:solidFill>
          <a:ln w="19050">
            <a:solidFill>
              <a:srgbClr val="DADCE0"/>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72237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Video Upload &amp; Storage</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İlk iş: videoyu ortak bir storage katmanına almak.</a:t>
            </a:r>
            <a:endParaRPr lang="en-US" sz="1400" dirty="0"/>
          </a:p>
        </p:txBody>
      </p:sp>
      <p:sp>
        <p:nvSpPr>
          <p:cNvPr id="20" name="Shape 15"/>
          <p:cNvSpPr/>
          <p:nvPr/>
        </p:nvSpPr>
        <p:spPr>
          <a:xfrm>
            <a:off x="457200" y="1965960"/>
            <a:ext cx="1828800" cy="1371600"/>
          </a:xfrm>
          <a:prstGeom prst="roundRect">
            <a:avLst>
              <a:gd name="adj" fmla="val 666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1" name="Shape 16"/>
          <p:cNvSpPr/>
          <p:nvPr/>
        </p:nvSpPr>
        <p:spPr>
          <a:xfrm>
            <a:off x="594360" y="2103120"/>
            <a:ext cx="457200" cy="457200"/>
          </a:xfrm>
          <a:prstGeom prst="ellipse">
            <a:avLst/>
          </a:prstGeom>
          <a:solidFill>
            <a:srgbClr val="E8F0FE"/>
          </a:solidFill>
          <a:ln w="12700">
            <a:solidFill>
              <a:srgbClr val="E8F0FE"/>
            </a:solidFill>
            <a:prstDash val="solid"/>
          </a:ln>
        </p:spPr>
      </p:sp>
      <p:pic>
        <p:nvPicPr>
          <p:cNvPr id="22" name="Image 2" descr="preencoded.png">    </p:cNvPr>
          <p:cNvPicPr>
            <a:picLocks noChangeAspect="1"/>
          </p:cNvPicPr>
          <p:nvPr/>
        </p:nvPicPr>
        <p:blipFill>
          <a:blip r:embed="rId3"/>
          <a:stretch>
            <a:fillRect/>
          </a:stretch>
        </p:blipFill>
        <p:spPr>
          <a:xfrm>
            <a:off x="694944" y="2203704"/>
            <a:ext cx="256032" cy="256032"/>
          </a:xfrm>
          <a:prstGeom prst="rect">
            <a:avLst/>
          </a:prstGeom>
        </p:spPr>
      </p:pic>
      <p:sp>
        <p:nvSpPr>
          <p:cNvPr id="23" name="Text 17"/>
          <p:cNvSpPr txBox="1"/>
          <p:nvPr/>
        </p:nvSpPr>
        <p:spPr>
          <a:xfrm>
            <a:off x="1143000" y="2148840"/>
            <a:ext cx="1051560" cy="365760"/>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Browser</a:t>
            </a:r>
            <a:endParaRPr lang="en-US" sz="1300" dirty="0"/>
          </a:p>
        </p:txBody>
      </p:sp>
      <p:sp>
        <p:nvSpPr>
          <p:cNvPr id="24" name="Text 18"/>
          <p:cNvSpPr txBox="1"/>
          <p:nvPr/>
        </p:nvSpPr>
        <p:spPr>
          <a:xfrm>
            <a:off x="594360" y="2697480"/>
            <a:ext cx="1554480" cy="548640"/>
          </a:xfrm>
          <a:prstGeom prst="rect">
            <a:avLst/>
          </a:prstGeom>
          <a:noFill/>
          <a:ln/>
        </p:spPr>
        <p:txBody>
          <a:bodyPr wrap="square" lIns="0" tIns="0" rIns="0" bIns="0" rtlCol="0" anchor="t"/>
          <a:lstStyle/>
          <a:p>
            <a:pPr indent="0" marL="0">
              <a:buNone/>
            </a:pPr>
            <a:r>
              <a:rPr lang="en-US" sz="950" dirty="0">
                <a:solidFill>
                  <a:srgbClr val="5F6368"/>
                </a:solidFill>
                <a:latin typeface="Roboto Mono" pitchFamily="34" charset="0"/>
                <a:ea typeface="Roboto Mono" pitchFamily="34" charset="-122"/>
                <a:cs typeface="Roboto Mono" pitchFamily="34" charset="-120"/>
              </a:rPr>
              <a:t>~5 sn WebM kayıt</a:t>
            </a:r>
            <a:endParaRPr lang="en-US" sz="950" dirty="0"/>
          </a:p>
        </p:txBody>
      </p:sp>
      <p:sp>
        <p:nvSpPr>
          <p:cNvPr id="25" name="Text 19"/>
          <p:cNvSpPr txBox="1"/>
          <p:nvPr/>
        </p:nvSpPr>
        <p:spPr>
          <a:xfrm>
            <a:off x="2286000" y="2377440"/>
            <a:ext cx="338328"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26" name="Shape 20"/>
          <p:cNvSpPr/>
          <p:nvPr/>
        </p:nvSpPr>
        <p:spPr>
          <a:xfrm>
            <a:off x="2624328" y="1965960"/>
            <a:ext cx="1828800" cy="1371600"/>
          </a:xfrm>
          <a:prstGeom prst="roundRect">
            <a:avLst>
              <a:gd name="adj" fmla="val 666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7" name="Shape 21"/>
          <p:cNvSpPr/>
          <p:nvPr/>
        </p:nvSpPr>
        <p:spPr>
          <a:xfrm>
            <a:off x="2761488" y="2103120"/>
            <a:ext cx="457200" cy="457200"/>
          </a:xfrm>
          <a:prstGeom prst="ellipse">
            <a:avLst/>
          </a:prstGeom>
          <a:solidFill>
            <a:srgbClr val="E8F0FE"/>
          </a:solidFill>
          <a:ln w="12700">
            <a:solidFill>
              <a:srgbClr val="E8F0FE"/>
            </a:solidFill>
            <a:prstDash val="solid"/>
          </a:ln>
        </p:spPr>
      </p:sp>
      <p:pic>
        <p:nvPicPr>
          <p:cNvPr id="28" name="Image 3" descr="preencoded.png">    </p:cNvPr>
          <p:cNvPicPr>
            <a:picLocks noChangeAspect="1"/>
          </p:cNvPicPr>
          <p:nvPr/>
        </p:nvPicPr>
        <p:blipFill>
          <a:blip r:embed="rId4"/>
          <a:stretch>
            <a:fillRect/>
          </a:stretch>
        </p:blipFill>
        <p:spPr>
          <a:xfrm>
            <a:off x="2862072" y="2203704"/>
            <a:ext cx="256032" cy="256032"/>
          </a:xfrm>
          <a:prstGeom prst="rect">
            <a:avLst/>
          </a:prstGeom>
        </p:spPr>
      </p:pic>
      <p:sp>
        <p:nvSpPr>
          <p:cNvPr id="29" name="Text 22"/>
          <p:cNvSpPr txBox="1"/>
          <p:nvPr/>
        </p:nvSpPr>
        <p:spPr>
          <a:xfrm>
            <a:off x="3310128" y="2148840"/>
            <a:ext cx="1051560" cy="365760"/>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FastAPI</a:t>
            </a:r>
            <a:endParaRPr lang="en-US" sz="1300" dirty="0"/>
          </a:p>
        </p:txBody>
      </p:sp>
      <p:sp>
        <p:nvSpPr>
          <p:cNvPr id="30" name="Text 23"/>
          <p:cNvSpPr txBox="1"/>
          <p:nvPr/>
        </p:nvSpPr>
        <p:spPr>
          <a:xfrm>
            <a:off x="2761488" y="2697480"/>
            <a:ext cx="1554480" cy="548640"/>
          </a:xfrm>
          <a:prstGeom prst="rect">
            <a:avLst/>
          </a:prstGeom>
          <a:noFill/>
          <a:ln/>
        </p:spPr>
        <p:txBody>
          <a:bodyPr wrap="square" lIns="0" tIns="0" rIns="0" bIns="0" rtlCol="0" anchor="t"/>
          <a:lstStyle/>
          <a:p>
            <a:pPr indent="0" marL="0">
              <a:buNone/>
            </a:pPr>
            <a:r>
              <a:rPr lang="en-US" sz="950" dirty="0">
                <a:solidFill>
                  <a:srgbClr val="5F6368"/>
                </a:solidFill>
                <a:latin typeface="Roboto Mono" pitchFamily="34" charset="0"/>
                <a:ea typeface="Roboto Mono" pitchFamily="34" charset="-122"/>
                <a:cs typeface="Roboto Mono" pitchFamily="34" charset="-120"/>
              </a:rPr>
              <a:t>POST /api/upload</a:t>
            </a:r>
            <a:endParaRPr lang="en-US" sz="950" dirty="0"/>
          </a:p>
          <a:p>
            <a:pPr indent="0" marL="0">
              <a:buNone/>
            </a:pPr>
            <a:r>
              <a:rPr lang="en-US" sz="950" dirty="0">
                <a:solidFill>
                  <a:srgbClr val="5F6368"/>
                </a:solidFill>
                <a:latin typeface="Roboto Mono" pitchFamily="34" charset="0"/>
                <a:ea typeface="Roboto Mono" pitchFamily="34" charset="-122"/>
                <a:cs typeface="Roboto Mono" pitchFamily="34" charset="-120"/>
              </a:rPr>
              <a:t>video_id üretir</a:t>
            </a:r>
            <a:endParaRPr lang="en-US" sz="950" dirty="0"/>
          </a:p>
        </p:txBody>
      </p:sp>
      <p:sp>
        <p:nvSpPr>
          <p:cNvPr id="31" name="Text 24"/>
          <p:cNvSpPr txBox="1"/>
          <p:nvPr/>
        </p:nvSpPr>
        <p:spPr>
          <a:xfrm>
            <a:off x="4453128" y="2377440"/>
            <a:ext cx="338328"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32" name="Shape 25"/>
          <p:cNvSpPr/>
          <p:nvPr/>
        </p:nvSpPr>
        <p:spPr>
          <a:xfrm>
            <a:off x="4791456" y="1965960"/>
            <a:ext cx="1828800" cy="1371600"/>
          </a:xfrm>
          <a:prstGeom prst="roundRect">
            <a:avLst>
              <a:gd name="adj" fmla="val 666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3" name="Shape 26"/>
          <p:cNvSpPr/>
          <p:nvPr/>
        </p:nvSpPr>
        <p:spPr>
          <a:xfrm>
            <a:off x="4928616" y="2103120"/>
            <a:ext cx="457200" cy="457200"/>
          </a:xfrm>
          <a:prstGeom prst="ellipse">
            <a:avLst/>
          </a:prstGeom>
          <a:solidFill>
            <a:srgbClr val="E8F0FE"/>
          </a:solidFill>
          <a:ln w="12700">
            <a:solidFill>
              <a:srgbClr val="E8F0FE"/>
            </a:solidFill>
            <a:prstDash val="solid"/>
          </a:ln>
        </p:spPr>
      </p:sp>
      <p:pic>
        <p:nvPicPr>
          <p:cNvPr id="34" name="Image 4" descr="preencoded.png">    </p:cNvPr>
          <p:cNvPicPr>
            <a:picLocks noChangeAspect="1"/>
          </p:cNvPicPr>
          <p:nvPr/>
        </p:nvPicPr>
        <p:blipFill>
          <a:blip r:embed="rId5"/>
          <a:stretch>
            <a:fillRect/>
          </a:stretch>
        </p:blipFill>
        <p:spPr>
          <a:xfrm>
            <a:off x="5029200" y="2203704"/>
            <a:ext cx="256032" cy="256032"/>
          </a:xfrm>
          <a:prstGeom prst="rect">
            <a:avLst/>
          </a:prstGeom>
        </p:spPr>
      </p:pic>
      <p:sp>
        <p:nvSpPr>
          <p:cNvPr id="35" name="Text 27"/>
          <p:cNvSpPr txBox="1"/>
          <p:nvPr/>
        </p:nvSpPr>
        <p:spPr>
          <a:xfrm>
            <a:off x="5477256" y="2148840"/>
            <a:ext cx="1051560" cy="365760"/>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Cloud Storage</a:t>
            </a:r>
            <a:endParaRPr lang="en-US" sz="1300" dirty="0"/>
          </a:p>
        </p:txBody>
      </p:sp>
      <p:sp>
        <p:nvSpPr>
          <p:cNvPr id="36" name="Text 28"/>
          <p:cNvSpPr txBox="1"/>
          <p:nvPr/>
        </p:nvSpPr>
        <p:spPr>
          <a:xfrm>
            <a:off x="4928616" y="2697480"/>
            <a:ext cx="1554480" cy="548640"/>
          </a:xfrm>
          <a:prstGeom prst="rect">
            <a:avLst/>
          </a:prstGeom>
          <a:noFill/>
          <a:ln/>
        </p:spPr>
        <p:txBody>
          <a:bodyPr wrap="square" lIns="0" tIns="0" rIns="0" bIns="0" rtlCol="0" anchor="t"/>
          <a:lstStyle/>
          <a:p>
            <a:pPr indent="0" marL="0">
              <a:buNone/>
            </a:pPr>
            <a:r>
              <a:rPr lang="en-US" sz="950" dirty="0">
                <a:solidFill>
                  <a:srgbClr val="5F6368"/>
                </a:solidFill>
                <a:latin typeface="Roboto Mono" pitchFamily="34" charset="0"/>
                <a:ea typeface="Roboto Mono" pitchFamily="34" charset="-122"/>
                <a:cs typeface="Roboto Mono" pitchFamily="34" charset="-120"/>
              </a:rPr>
              <a:t>uploads/{video_id}.webm</a:t>
            </a:r>
            <a:endParaRPr lang="en-US" sz="950" dirty="0"/>
          </a:p>
        </p:txBody>
      </p:sp>
      <p:sp>
        <p:nvSpPr>
          <p:cNvPr id="37" name="Text 29"/>
          <p:cNvSpPr txBox="1"/>
          <p:nvPr/>
        </p:nvSpPr>
        <p:spPr>
          <a:xfrm>
            <a:off x="6620256" y="2377440"/>
            <a:ext cx="338328" cy="365760"/>
          </a:xfrm>
          <a:prstGeom prst="rect">
            <a:avLst/>
          </a:prstGeom>
          <a:noFill/>
          <a:ln/>
        </p:spPr>
        <p:txBody>
          <a:bodyPr wrap="square" lIns="0" tIns="0" rIns="0" bIns="0" rtlCol="0" anchor="ctr"/>
          <a:lstStyle/>
          <a:p>
            <a:pPr algn="ctr" indent="0" marL="0">
              <a:buNone/>
            </a:pPr>
            <a:r>
              <a:rPr lang="en-US" sz="1600" dirty="0">
                <a:solidFill>
                  <a:srgbClr val="5F6368"/>
                </a:solidFill>
                <a:latin typeface="Google Sans" pitchFamily="34" charset="0"/>
                <a:ea typeface="Google Sans" pitchFamily="34" charset="-122"/>
                <a:cs typeface="Google Sans" pitchFamily="34" charset="-120"/>
              </a:rPr>
              <a:t>→</a:t>
            </a:r>
            <a:endParaRPr lang="en-US" sz="1600" dirty="0"/>
          </a:p>
        </p:txBody>
      </p:sp>
      <p:sp>
        <p:nvSpPr>
          <p:cNvPr id="38" name="Shape 30"/>
          <p:cNvSpPr/>
          <p:nvPr/>
        </p:nvSpPr>
        <p:spPr>
          <a:xfrm>
            <a:off x="6958584" y="1965960"/>
            <a:ext cx="1828800" cy="1371600"/>
          </a:xfrm>
          <a:prstGeom prst="roundRect">
            <a:avLst>
              <a:gd name="adj" fmla="val 6667"/>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9" name="Shape 31"/>
          <p:cNvSpPr/>
          <p:nvPr/>
        </p:nvSpPr>
        <p:spPr>
          <a:xfrm>
            <a:off x="7095744" y="2103120"/>
            <a:ext cx="457200" cy="457200"/>
          </a:xfrm>
          <a:prstGeom prst="ellipse">
            <a:avLst/>
          </a:prstGeom>
          <a:solidFill>
            <a:srgbClr val="F3E8FD"/>
          </a:solidFill>
          <a:ln w="12700">
            <a:solidFill>
              <a:srgbClr val="F3E8FD"/>
            </a:solidFill>
            <a:prstDash val="solid"/>
          </a:ln>
        </p:spPr>
      </p:sp>
      <p:pic>
        <p:nvPicPr>
          <p:cNvPr id="40" name="Image 5" descr="preencoded.png">    </p:cNvPr>
          <p:cNvPicPr>
            <a:picLocks noChangeAspect="1"/>
          </p:cNvPicPr>
          <p:nvPr/>
        </p:nvPicPr>
        <p:blipFill>
          <a:blip r:embed="rId6"/>
          <a:stretch>
            <a:fillRect/>
          </a:stretch>
        </p:blipFill>
        <p:spPr>
          <a:xfrm>
            <a:off x="7196328" y="2203704"/>
            <a:ext cx="256032" cy="256032"/>
          </a:xfrm>
          <a:prstGeom prst="rect">
            <a:avLst/>
          </a:prstGeom>
        </p:spPr>
      </p:pic>
      <p:sp>
        <p:nvSpPr>
          <p:cNvPr id="41" name="Text 32"/>
          <p:cNvSpPr txBox="1"/>
          <p:nvPr/>
        </p:nvSpPr>
        <p:spPr>
          <a:xfrm>
            <a:off x="7644384" y="2148840"/>
            <a:ext cx="1051560" cy="365760"/>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Gemini</a:t>
            </a:r>
            <a:endParaRPr lang="en-US" sz="1300" dirty="0"/>
          </a:p>
        </p:txBody>
      </p:sp>
      <p:sp>
        <p:nvSpPr>
          <p:cNvPr id="42" name="Text 33"/>
          <p:cNvSpPr txBox="1"/>
          <p:nvPr/>
        </p:nvSpPr>
        <p:spPr>
          <a:xfrm>
            <a:off x="7095744" y="2697480"/>
            <a:ext cx="1554480" cy="548640"/>
          </a:xfrm>
          <a:prstGeom prst="rect">
            <a:avLst/>
          </a:prstGeom>
          <a:noFill/>
          <a:ln/>
        </p:spPr>
        <p:txBody>
          <a:bodyPr wrap="square" lIns="0" tIns="0" rIns="0" bIns="0" rtlCol="0" anchor="t"/>
          <a:lstStyle/>
          <a:p>
            <a:pPr indent="0" marL="0">
              <a:buNone/>
            </a:pPr>
            <a:r>
              <a:rPr lang="en-US" sz="950" dirty="0">
                <a:solidFill>
                  <a:srgbClr val="5F6368"/>
                </a:solidFill>
                <a:latin typeface="Roboto Mono" pitchFamily="34" charset="0"/>
                <a:ea typeface="Roboto Mono" pitchFamily="34" charset="-122"/>
                <a:cs typeface="Roboto Mono" pitchFamily="34" charset="-120"/>
              </a:rPr>
              <a:t>GCS URI ile okur</a:t>
            </a:r>
            <a:endParaRPr lang="en-US" sz="950" dirty="0"/>
          </a:p>
        </p:txBody>
      </p:sp>
      <p:sp>
        <p:nvSpPr>
          <p:cNvPr id="43" name="Shape 34"/>
          <p:cNvSpPr/>
          <p:nvPr/>
        </p:nvSpPr>
        <p:spPr>
          <a:xfrm>
            <a:off x="457200" y="3611880"/>
            <a:ext cx="1828800" cy="731520"/>
          </a:xfrm>
          <a:prstGeom prst="roundRect">
            <a:avLst>
              <a:gd name="adj" fmla="val 12500"/>
            </a:avLst>
          </a:prstGeom>
          <a:solidFill>
            <a:srgbClr val="E8F0FE"/>
          </a:solidFill>
          <a:ln w="12700">
            <a:solidFill>
              <a:srgbClr val="E8F0FE"/>
            </a:solidFill>
            <a:prstDash val="solid"/>
          </a:ln>
        </p:spPr>
      </p:sp>
      <p:sp>
        <p:nvSpPr>
          <p:cNvPr id="44" name="Text 35"/>
          <p:cNvSpPr txBox="1"/>
          <p:nvPr/>
        </p:nvSpPr>
        <p:spPr>
          <a:xfrm>
            <a:off x="594360" y="3685032"/>
            <a:ext cx="1554480" cy="292608"/>
          </a:xfrm>
          <a:prstGeom prst="rect">
            <a:avLst/>
          </a:prstGeom>
          <a:noFill/>
          <a:ln/>
        </p:spPr>
        <p:txBody>
          <a:bodyPr wrap="square" lIns="0" tIns="0" rIns="0" bIns="0" rtlCol="0" anchor="ctr"/>
          <a:lstStyle/>
          <a:p>
            <a:pPr indent="0" marL="0">
              <a:buNone/>
            </a:pPr>
            <a:r>
              <a:rPr lang="en-US" sz="1200" b="1" dirty="0">
                <a:solidFill>
                  <a:srgbClr val="4285F4"/>
                </a:solidFill>
                <a:latin typeface="Roboto Mono" pitchFamily="34" charset="0"/>
                <a:ea typeface="Roboto Mono" pitchFamily="34" charset="-122"/>
                <a:cs typeface="Roboto Mono" pitchFamily="34" charset="-120"/>
              </a:rPr>
              <a:t>uploads/</a:t>
            </a:r>
            <a:endParaRPr lang="en-US" sz="1200" dirty="0"/>
          </a:p>
        </p:txBody>
      </p:sp>
      <p:sp>
        <p:nvSpPr>
          <p:cNvPr id="45" name="Text 36"/>
          <p:cNvSpPr txBox="1"/>
          <p:nvPr/>
        </p:nvSpPr>
        <p:spPr>
          <a:xfrm>
            <a:off x="594360" y="3995928"/>
            <a:ext cx="1554480" cy="256032"/>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Ham videolar</a:t>
            </a:r>
            <a:endParaRPr lang="en-US" sz="1050" dirty="0"/>
          </a:p>
        </p:txBody>
      </p:sp>
      <p:sp>
        <p:nvSpPr>
          <p:cNvPr id="46" name="Shape 37"/>
          <p:cNvSpPr/>
          <p:nvPr/>
        </p:nvSpPr>
        <p:spPr>
          <a:xfrm>
            <a:off x="2624328" y="3611880"/>
            <a:ext cx="1828800" cy="731520"/>
          </a:xfrm>
          <a:prstGeom prst="roundRect">
            <a:avLst>
              <a:gd name="adj" fmla="val 12500"/>
            </a:avLst>
          </a:prstGeom>
          <a:solidFill>
            <a:srgbClr val="F3E8FD"/>
          </a:solidFill>
          <a:ln w="12700">
            <a:solidFill>
              <a:srgbClr val="F3E8FD"/>
            </a:solidFill>
            <a:prstDash val="solid"/>
          </a:ln>
        </p:spPr>
      </p:sp>
      <p:sp>
        <p:nvSpPr>
          <p:cNvPr id="47" name="Text 38"/>
          <p:cNvSpPr txBox="1"/>
          <p:nvPr/>
        </p:nvSpPr>
        <p:spPr>
          <a:xfrm>
            <a:off x="2761488" y="3685032"/>
            <a:ext cx="1554480" cy="292608"/>
          </a:xfrm>
          <a:prstGeom prst="rect">
            <a:avLst/>
          </a:prstGeom>
          <a:noFill/>
          <a:ln/>
        </p:spPr>
        <p:txBody>
          <a:bodyPr wrap="square" lIns="0" tIns="0" rIns="0" bIns="0" rtlCol="0" anchor="ctr"/>
          <a:lstStyle/>
          <a:p>
            <a:pPr indent="0" marL="0">
              <a:buNone/>
            </a:pPr>
            <a:r>
              <a:rPr lang="en-US" sz="1200" b="1" dirty="0">
                <a:solidFill>
                  <a:srgbClr val="A142F4"/>
                </a:solidFill>
                <a:latin typeface="Roboto Mono" pitchFamily="34" charset="0"/>
                <a:ea typeface="Roboto Mono" pitchFamily="34" charset="-122"/>
                <a:cs typeface="Roboto Mono" pitchFamily="34" charset="-120"/>
              </a:rPr>
              <a:t>frames/</a:t>
            </a:r>
            <a:endParaRPr lang="en-US" sz="1200" dirty="0"/>
          </a:p>
        </p:txBody>
      </p:sp>
      <p:sp>
        <p:nvSpPr>
          <p:cNvPr id="48" name="Text 39"/>
          <p:cNvSpPr txBox="1"/>
          <p:nvPr/>
        </p:nvSpPr>
        <p:spPr>
          <a:xfrm>
            <a:off x="2761488" y="3995928"/>
            <a:ext cx="1554480" cy="256032"/>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Seçilen kareler</a:t>
            </a:r>
            <a:endParaRPr lang="en-US" sz="1050" dirty="0"/>
          </a:p>
        </p:txBody>
      </p:sp>
      <p:sp>
        <p:nvSpPr>
          <p:cNvPr id="49" name="Shape 40"/>
          <p:cNvSpPr/>
          <p:nvPr/>
        </p:nvSpPr>
        <p:spPr>
          <a:xfrm>
            <a:off x="4791456" y="3611880"/>
            <a:ext cx="1828800" cy="731520"/>
          </a:xfrm>
          <a:prstGeom prst="roundRect">
            <a:avLst>
              <a:gd name="adj" fmla="val 12500"/>
            </a:avLst>
          </a:prstGeom>
          <a:solidFill>
            <a:srgbClr val="FEF7E0"/>
          </a:solidFill>
          <a:ln w="12700">
            <a:solidFill>
              <a:srgbClr val="FEF7E0"/>
            </a:solidFill>
            <a:prstDash val="solid"/>
          </a:ln>
        </p:spPr>
      </p:sp>
      <p:sp>
        <p:nvSpPr>
          <p:cNvPr id="50" name="Text 41"/>
          <p:cNvSpPr txBox="1"/>
          <p:nvPr/>
        </p:nvSpPr>
        <p:spPr>
          <a:xfrm>
            <a:off x="4928616" y="3685032"/>
            <a:ext cx="1554480" cy="292608"/>
          </a:xfrm>
          <a:prstGeom prst="rect">
            <a:avLst/>
          </a:prstGeom>
          <a:noFill/>
          <a:ln/>
        </p:spPr>
        <p:txBody>
          <a:bodyPr wrap="square" lIns="0" tIns="0" rIns="0" bIns="0" rtlCol="0" anchor="ctr"/>
          <a:lstStyle/>
          <a:p>
            <a:pPr indent="0" marL="0">
              <a:buNone/>
            </a:pPr>
            <a:r>
              <a:rPr lang="en-US" sz="1200" b="1" dirty="0">
                <a:solidFill>
                  <a:srgbClr val="F9AB00"/>
                </a:solidFill>
                <a:latin typeface="Roboto Mono" pitchFamily="34" charset="0"/>
                <a:ea typeface="Roboto Mono" pitchFamily="34" charset="-122"/>
                <a:cs typeface="Roboto Mono" pitchFamily="34" charset="-120"/>
              </a:rPr>
              <a:t>avatars/</a:t>
            </a:r>
            <a:endParaRPr lang="en-US" sz="1200" dirty="0"/>
          </a:p>
        </p:txBody>
      </p:sp>
      <p:sp>
        <p:nvSpPr>
          <p:cNvPr id="51" name="Text 42"/>
          <p:cNvSpPr txBox="1"/>
          <p:nvPr/>
        </p:nvSpPr>
        <p:spPr>
          <a:xfrm>
            <a:off x="4928616" y="3995928"/>
            <a:ext cx="1554480" cy="256032"/>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Avatarlar</a:t>
            </a:r>
            <a:endParaRPr lang="en-US" sz="1050" dirty="0"/>
          </a:p>
        </p:txBody>
      </p:sp>
      <p:sp>
        <p:nvSpPr>
          <p:cNvPr id="52" name="Shape 43"/>
          <p:cNvSpPr/>
          <p:nvPr/>
        </p:nvSpPr>
        <p:spPr>
          <a:xfrm>
            <a:off x="6958584" y="3611880"/>
            <a:ext cx="1828800" cy="731520"/>
          </a:xfrm>
          <a:prstGeom prst="roundRect">
            <a:avLst>
              <a:gd name="adj" fmla="val 12500"/>
            </a:avLst>
          </a:prstGeom>
          <a:solidFill>
            <a:srgbClr val="E6F4EA"/>
          </a:solidFill>
          <a:ln w="12700">
            <a:solidFill>
              <a:srgbClr val="E6F4EA"/>
            </a:solidFill>
            <a:prstDash val="solid"/>
          </a:ln>
        </p:spPr>
      </p:sp>
      <p:sp>
        <p:nvSpPr>
          <p:cNvPr id="53" name="Text 44"/>
          <p:cNvSpPr txBox="1"/>
          <p:nvPr/>
        </p:nvSpPr>
        <p:spPr>
          <a:xfrm>
            <a:off x="7095744" y="3685032"/>
            <a:ext cx="1554480" cy="292608"/>
          </a:xfrm>
          <a:prstGeom prst="rect">
            <a:avLst/>
          </a:prstGeom>
          <a:noFill/>
          <a:ln/>
        </p:spPr>
        <p:txBody>
          <a:bodyPr wrap="square" lIns="0" tIns="0" rIns="0" bIns="0" rtlCol="0" anchor="ctr"/>
          <a:lstStyle/>
          <a:p>
            <a:pPr indent="0" marL="0">
              <a:buNone/>
            </a:pPr>
            <a:r>
              <a:rPr lang="en-US" sz="1200" b="1" dirty="0">
                <a:solidFill>
                  <a:srgbClr val="34A853"/>
                </a:solidFill>
                <a:latin typeface="Roboto Mono" pitchFamily="34" charset="0"/>
                <a:ea typeface="Roboto Mono" pitchFamily="34" charset="-122"/>
                <a:cs typeface="Roboto Mono" pitchFamily="34" charset="-120"/>
              </a:rPr>
              <a:t>output/</a:t>
            </a:r>
            <a:endParaRPr lang="en-US" sz="1200" dirty="0"/>
          </a:p>
        </p:txBody>
      </p:sp>
      <p:sp>
        <p:nvSpPr>
          <p:cNvPr id="54" name="Text 45"/>
          <p:cNvSpPr txBox="1"/>
          <p:nvPr/>
        </p:nvSpPr>
        <p:spPr>
          <a:xfrm>
            <a:off x="7095744" y="3995928"/>
            <a:ext cx="1554480" cy="256032"/>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Üretilen videolar</a:t>
            </a:r>
            <a:endParaRPr lang="en-US" sz="1050" dirty="0"/>
          </a:p>
        </p:txBody>
      </p:sp>
      <p:sp>
        <p:nvSpPr>
          <p:cNvPr id="55" name="Text 46"/>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Medya storage’da yaşar, uygulama belleğinde değil.</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1874520" cy="0"/>
          </a:xfrm>
          <a:prstGeom prst="line">
            <a:avLst/>
          </a:prstGeom>
          <a:noFill/>
          <a:ln w="38100">
            <a:solidFill>
              <a:srgbClr val="4285F4"/>
            </a:solidFill>
            <a:prstDash val="solid"/>
          </a:ln>
        </p:spPr>
      </p:sp>
      <p:sp>
        <p:nvSpPr>
          <p:cNvPr id="6" name="!!tl_halo"/>
          <p:cNvSpPr/>
          <p:nvPr/>
        </p:nvSpPr>
        <p:spPr>
          <a:xfrm>
            <a:off x="2432304" y="118872"/>
            <a:ext cx="530352" cy="530352"/>
          </a:xfrm>
          <a:prstGeom prst="ellipse">
            <a:avLst/>
          </a:prstGeom>
          <a:solidFill>
            <a:srgbClr val="F3E8FD"/>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14600" y="201168"/>
            <a:ext cx="365760" cy="365760"/>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b="1" dirty="0">
                <a:solidFill>
                  <a:srgbClr val="A142F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FFFFF"/>
          </a:solidFill>
          <a:ln w="19050">
            <a:solidFill>
              <a:srgbClr val="DADCE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FFFFFF"/>
          </a:solidFill>
          <a:ln w="19050">
            <a:solidFill>
              <a:srgbClr val="DADCE0"/>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259689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Gemini: Video → Structured JSON</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Hareketi, pipeline’ın kullanabileceği veriye dönüştürüyoruz.</a:t>
            </a:r>
            <a:endParaRPr lang="en-US" sz="1400" dirty="0"/>
          </a:p>
        </p:txBody>
      </p:sp>
      <p:sp>
        <p:nvSpPr>
          <p:cNvPr id="20" name="Shape 15"/>
          <p:cNvSpPr/>
          <p:nvPr/>
        </p:nvSpPr>
        <p:spPr>
          <a:xfrm>
            <a:off x="457200" y="1920240"/>
            <a:ext cx="4572000" cy="2514600"/>
          </a:xfrm>
          <a:prstGeom prst="roundRect">
            <a:avLst>
              <a:gd name="adj" fmla="val 3636"/>
            </a:avLst>
          </a:prstGeom>
          <a:solidFill>
            <a:srgbClr val="202124"/>
          </a:solidFill>
          <a:ln w="12700">
            <a:solidFill>
              <a:srgbClr val="202124"/>
            </a:solidFill>
            <a:prstDash val="solid"/>
          </a:ln>
          <a:effectLst>
            <a:outerShdw sx="100000" sy="100000" kx="0" ky="0" algn="bl" rotWithShape="0" blurRad="76200" dist="12700" dir="5400000">
              <a:srgbClr val="000000">
                <a:alpha val="8000"/>
              </a:srgbClr>
            </a:outerShdw>
          </a:effectLst>
        </p:spPr>
      </p:sp>
      <p:sp>
        <p:nvSpPr>
          <p:cNvPr id="21" name="Text 16"/>
          <p:cNvSpPr txBox="1"/>
          <p:nvPr/>
        </p:nvSpPr>
        <p:spPr>
          <a:xfrm>
            <a:off x="685800" y="2103120"/>
            <a:ext cx="4206240" cy="2240280"/>
          </a:xfrm>
          <a:prstGeom prst="rect">
            <a:avLst/>
          </a:prstGeom>
          <a:noFill/>
          <a:ln/>
        </p:spPr>
        <p:txBody>
          <a:bodyPr wrap="square" lIns="0" tIns="0" rIns="0" bIns="0" rtlCol="0" anchor="t"/>
          <a:lstStyle/>
          <a:p>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a:t>
            </a:r>
            <a:endParaRPr lang="en-US" sz="1200" dirty="0"/>
          </a:p>
          <a:p>
            <a:pPr indent="0" marL="0">
              <a:spcAft>
                <a:spcPts val="400"/>
              </a:spcAft>
              <a:buNone/>
            </a:pPr>
            <a:r>
              <a:rPr lang="en-US" sz="1200" b="1" dirty="0">
                <a:solidFill>
                  <a:srgbClr val="8AB4F8"/>
                </a:solidFill>
                <a:latin typeface="Roboto Mono" pitchFamily="34" charset="0"/>
                <a:ea typeface="Roboto Mono" pitchFamily="34" charset="-122"/>
                <a:cs typeface="Roboto Mono" pitchFamily="34" charset="-120"/>
              </a:rPr>
              <a:t>  "movement_summary"</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"Kollar yukarı...",</a:t>
            </a:r>
            <a:endParaRPr lang="en-US" sz="1200" dirty="0"/>
          </a:p>
          <a:p>
            <a:pPr indent="0" marL="0">
              <a:spcAft>
                <a:spcPts val="400"/>
              </a:spcAft>
              <a:buNone/>
            </a:pPr>
            <a:r>
              <a:rPr lang="en-US" sz="1200" b="1" dirty="0">
                <a:solidFill>
                  <a:srgbClr val="8AB4F8"/>
                </a:solidFill>
                <a:latin typeface="Roboto Mono" pitchFamily="34" charset="0"/>
                <a:ea typeface="Roboto Mono" pitchFamily="34" charset="-122"/>
                <a:cs typeface="Roboto Mono" pitchFamily="34" charset="-120"/>
              </a:rPr>
              <a:t>  "body_parts"</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["arms","torso"],</a:t>
            </a:r>
            <a:endParaRPr lang="en-US" sz="1200" dirty="0"/>
          </a:p>
          <a:p>
            <a:pPr indent="0" marL="0">
              <a:spcAft>
                <a:spcPts val="400"/>
              </a:spcAft>
              <a:buNone/>
            </a:pPr>
            <a:r>
              <a:rPr lang="en-US" sz="1200" b="1" dirty="0">
                <a:solidFill>
                  <a:srgbClr val="8AB4F8"/>
                </a:solidFill>
                <a:latin typeface="Roboto Mono" pitchFamily="34" charset="0"/>
                <a:ea typeface="Roboto Mono" pitchFamily="34" charset="-122"/>
                <a:cs typeface="Roboto Mono" pitchFamily="34" charset="-120"/>
              </a:rPr>
              <a:t>  "phases"</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 ... ],</a:t>
            </a:r>
            <a:endParaRPr lang="en-US" sz="1200" dirty="0"/>
          </a:p>
          <a:p>
            <a:pPr indent="0" marL="0">
              <a:spcAft>
                <a:spcPts val="400"/>
              </a:spcAft>
              <a:buNone/>
            </a:pPr>
            <a:r>
              <a:rPr lang="en-US" sz="1200" b="1" dirty="0">
                <a:solidFill>
                  <a:srgbClr val="FDD663"/>
                </a:solidFill>
                <a:latin typeface="Roboto Mono" pitchFamily="34" charset="0"/>
                <a:ea typeface="Roboto Mono" pitchFamily="34" charset="-122"/>
                <a:cs typeface="Roboto Mono" pitchFamily="34" charset="-120"/>
              </a:rPr>
              <a:t>  "best_frame_timestamp"</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"0:02",</a:t>
            </a:r>
            <a:endParaRPr lang="en-US" sz="1200" dirty="0"/>
          </a:p>
          <a:p>
            <a:pPr indent="0" marL="0">
              <a:spcAft>
                <a:spcPts val="400"/>
              </a:spcAft>
              <a:buNone/>
            </a:pPr>
            <a:r>
              <a:rPr lang="en-US" sz="1200" b="1" dirty="0">
                <a:solidFill>
                  <a:srgbClr val="FDD663"/>
                </a:solidFill>
                <a:latin typeface="Roboto Mono" pitchFamily="34" charset="0"/>
                <a:ea typeface="Roboto Mono" pitchFamily="34" charset="-122"/>
                <a:cs typeface="Roboto Mono" pitchFamily="34" charset="-120"/>
              </a:rPr>
              <a:t>  "person_description"</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"Beyaz tişört...",</a:t>
            </a:r>
            <a:endParaRPr lang="en-US" sz="1200" dirty="0"/>
          </a:p>
          <a:p>
            <a:pPr indent="0" marL="0">
              <a:spcAft>
                <a:spcPts val="400"/>
              </a:spcAft>
              <a:buNone/>
            </a:pPr>
            <a:r>
              <a:rPr lang="en-US" sz="1200" b="1" dirty="0">
                <a:solidFill>
                  <a:srgbClr val="81C995"/>
                </a:solidFill>
                <a:latin typeface="Roboto Mono" pitchFamily="34" charset="0"/>
                <a:ea typeface="Roboto Mono" pitchFamily="34" charset="-122"/>
                <a:cs typeface="Roboto Mono" pitchFamily="34" charset="-120"/>
              </a:rPr>
              <a:t>  "veo_prompt"</a:t>
            </a:r>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 "Arms rise..."</a:t>
            </a:r>
            <a:endParaRPr lang="en-US" sz="1200" dirty="0"/>
          </a:p>
          <a:p>
            <a:pPr indent="0" marL="0">
              <a:spcAft>
                <a:spcPts val="400"/>
              </a:spcAft>
              <a:buNone/>
            </a:pPr>
            <a:r>
              <a:rPr lang="en-US" sz="1200" dirty="0">
                <a:solidFill>
                  <a:srgbClr val="E8EAED"/>
                </a:solidFill>
                <a:latin typeface="Roboto Mono" pitchFamily="34" charset="0"/>
                <a:ea typeface="Roboto Mono" pitchFamily="34" charset="-122"/>
                <a:cs typeface="Roboto Mono" pitchFamily="34" charset="-120"/>
              </a:rPr>
              <a:t>}</a:t>
            </a:r>
            <a:endParaRPr lang="en-US" sz="1200" dirty="0"/>
          </a:p>
        </p:txBody>
      </p:sp>
      <p:sp>
        <p:nvSpPr>
          <p:cNvPr id="22" name="Shape 17"/>
          <p:cNvSpPr/>
          <p:nvPr/>
        </p:nvSpPr>
        <p:spPr>
          <a:xfrm>
            <a:off x="5303520" y="1920240"/>
            <a:ext cx="3383280" cy="740664"/>
          </a:xfrm>
          <a:prstGeom prst="roundRect">
            <a:avLst>
              <a:gd name="adj" fmla="val 123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3" name="Shape 18"/>
          <p:cNvSpPr/>
          <p:nvPr/>
        </p:nvSpPr>
        <p:spPr>
          <a:xfrm>
            <a:off x="5468112" y="2048256"/>
            <a:ext cx="493776" cy="493776"/>
          </a:xfrm>
          <a:prstGeom prst="ellipse">
            <a:avLst/>
          </a:prstGeom>
          <a:solidFill>
            <a:srgbClr val="E8F0FE"/>
          </a:solidFill>
          <a:ln w="12700">
            <a:solidFill>
              <a:srgbClr val="E8F0FE"/>
            </a:solidFill>
            <a:prstDash val="solid"/>
          </a:ln>
        </p:spPr>
      </p:sp>
      <p:pic>
        <p:nvPicPr>
          <p:cNvPr id="24" name="Image 2" descr="preencoded.png">    </p:cNvPr>
          <p:cNvPicPr>
            <a:picLocks noChangeAspect="1"/>
          </p:cNvPicPr>
          <p:nvPr/>
        </p:nvPicPr>
        <p:blipFill>
          <a:blip r:embed="rId3"/>
          <a:stretch>
            <a:fillRect/>
          </a:stretch>
        </p:blipFill>
        <p:spPr>
          <a:xfrm>
            <a:off x="5576743" y="2156887"/>
            <a:ext cx="276515" cy="276515"/>
          </a:xfrm>
          <a:prstGeom prst="rect">
            <a:avLst/>
          </a:prstGeom>
        </p:spPr>
      </p:pic>
      <p:sp>
        <p:nvSpPr>
          <p:cNvPr id="25" name="Text 19"/>
          <p:cNvSpPr txBox="1"/>
          <p:nvPr/>
        </p:nvSpPr>
        <p:spPr>
          <a:xfrm>
            <a:off x="6126480" y="2029968"/>
            <a:ext cx="2468880" cy="27432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Hareketi anla</a:t>
            </a:r>
            <a:endParaRPr lang="en-US" sz="1400" dirty="0"/>
          </a:p>
        </p:txBody>
      </p:sp>
      <p:sp>
        <p:nvSpPr>
          <p:cNvPr id="26" name="Text 20"/>
          <p:cNvSpPr txBox="1"/>
          <p:nvPr/>
        </p:nvSpPr>
        <p:spPr>
          <a:xfrm>
            <a:off x="6126480" y="2322576"/>
            <a:ext cx="2468880" cy="237744"/>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Özet, vücut bölgeleri, fazlar</a:t>
            </a:r>
            <a:endParaRPr lang="en-US" sz="1100" dirty="0"/>
          </a:p>
        </p:txBody>
      </p:sp>
      <p:sp>
        <p:nvSpPr>
          <p:cNvPr id="27" name="Shape 21"/>
          <p:cNvSpPr/>
          <p:nvPr/>
        </p:nvSpPr>
        <p:spPr>
          <a:xfrm>
            <a:off x="5303520" y="2807208"/>
            <a:ext cx="3383280" cy="740664"/>
          </a:xfrm>
          <a:prstGeom prst="roundRect">
            <a:avLst>
              <a:gd name="adj" fmla="val 123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8" name="Shape 22"/>
          <p:cNvSpPr/>
          <p:nvPr/>
        </p:nvSpPr>
        <p:spPr>
          <a:xfrm>
            <a:off x="5468112" y="2935224"/>
            <a:ext cx="493776" cy="493776"/>
          </a:xfrm>
          <a:prstGeom prst="ellipse">
            <a:avLst/>
          </a:prstGeom>
          <a:solidFill>
            <a:srgbClr val="FEF7E0"/>
          </a:solidFill>
          <a:ln w="12700">
            <a:solidFill>
              <a:srgbClr val="FEF7E0"/>
            </a:solidFill>
            <a:prstDash val="solid"/>
          </a:ln>
        </p:spPr>
      </p:sp>
      <p:pic>
        <p:nvPicPr>
          <p:cNvPr id="29" name="Image 3" descr="preencoded.png">    </p:cNvPr>
          <p:cNvPicPr>
            <a:picLocks noChangeAspect="1"/>
          </p:cNvPicPr>
          <p:nvPr/>
        </p:nvPicPr>
        <p:blipFill>
          <a:blip r:embed="rId4"/>
          <a:stretch>
            <a:fillRect/>
          </a:stretch>
        </p:blipFill>
        <p:spPr>
          <a:xfrm>
            <a:off x="5576743" y="3043855"/>
            <a:ext cx="276515" cy="276515"/>
          </a:xfrm>
          <a:prstGeom prst="rect">
            <a:avLst/>
          </a:prstGeom>
        </p:spPr>
      </p:pic>
      <p:sp>
        <p:nvSpPr>
          <p:cNvPr id="30" name="Text 23"/>
          <p:cNvSpPr txBox="1"/>
          <p:nvPr/>
        </p:nvSpPr>
        <p:spPr>
          <a:xfrm>
            <a:off x="6126480" y="2916936"/>
            <a:ext cx="2468880" cy="27432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Avatar için</a:t>
            </a:r>
            <a:endParaRPr lang="en-US" sz="1400" dirty="0"/>
          </a:p>
        </p:txBody>
      </p:sp>
      <p:sp>
        <p:nvSpPr>
          <p:cNvPr id="31" name="Text 24"/>
          <p:cNvSpPr txBox="1"/>
          <p:nvPr/>
        </p:nvSpPr>
        <p:spPr>
          <a:xfrm>
            <a:off x="6126480" y="3209544"/>
            <a:ext cx="2468880" cy="237744"/>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En iyi kare + kişi tarifi</a:t>
            </a:r>
            <a:endParaRPr lang="en-US" sz="1100" dirty="0"/>
          </a:p>
        </p:txBody>
      </p:sp>
      <p:sp>
        <p:nvSpPr>
          <p:cNvPr id="32" name="Shape 25"/>
          <p:cNvSpPr/>
          <p:nvPr/>
        </p:nvSpPr>
        <p:spPr>
          <a:xfrm>
            <a:off x="5303520" y="3694176"/>
            <a:ext cx="3383280" cy="740664"/>
          </a:xfrm>
          <a:prstGeom prst="roundRect">
            <a:avLst>
              <a:gd name="adj" fmla="val 123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3" name="Shape 26"/>
          <p:cNvSpPr/>
          <p:nvPr/>
        </p:nvSpPr>
        <p:spPr>
          <a:xfrm>
            <a:off x="5468112" y="3822192"/>
            <a:ext cx="493776" cy="493776"/>
          </a:xfrm>
          <a:prstGeom prst="ellipse">
            <a:avLst/>
          </a:prstGeom>
          <a:solidFill>
            <a:srgbClr val="E6F4EA"/>
          </a:solidFill>
          <a:ln w="12700">
            <a:solidFill>
              <a:srgbClr val="E6F4EA"/>
            </a:solidFill>
            <a:prstDash val="solid"/>
          </a:ln>
        </p:spPr>
      </p:sp>
      <p:pic>
        <p:nvPicPr>
          <p:cNvPr id="34" name="Image 4" descr="preencoded.png">    </p:cNvPr>
          <p:cNvPicPr>
            <a:picLocks noChangeAspect="1"/>
          </p:cNvPicPr>
          <p:nvPr/>
        </p:nvPicPr>
        <p:blipFill>
          <a:blip r:embed="rId5"/>
          <a:stretch>
            <a:fillRect/>
          </a:stretch>
        </p:blipFill>
        <p:spPr>
          <a:xfrm>
            <a:off x="5576743" y="3930823"/>
            <a:ext cx="276515" cy="276515"/>
          </a:xfrm>
          <a:prstGeom prst="rect">
            <a:avLst/>
          </a:prstGeom>
        </p:spPr>
      </p:pic>
      <p:sp>
        <p:nvSpPr>
          <p:cNvPr id="35" name="Text 27"/>
          <p:cNvSpPr txBox="1"/>
          <p:nvPr/>
        </p:nvSpPr>
        <p:spPr>
          <a:xfrm>
            <a:off x="6126480" y="3803904"/>
            <a:ext cx="2468880" cy="27432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Veo için</a:t>
            </a:r>
            <a:endParaRPr lang="en-US" sz="1400" dirty="0"/>
          </a:p>
        </p:txBody>
      </p:sp>
      <p:sp>
        <p:nvSpPr>
          <p:cNvPr id="36" name="Text 28"/>
          <p:cNvSpPr txBox="1"/>
          <p:nvPr/>
        </p:nvSpPr>
        <p:spPr>
          <a:xfrm>
            <a:off x="6126480" y="4096512"/>
            <a:ext cx="2468880" cy="237744"/>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Hareketin üretim talimatı</a:t>
            </a:r>
            <a:endParaRPr lang="en-US" sz="1100" dirty="0"/>
          </a:p>
        </p:txBody>
      </p:sp>
      <p:sp>
        <p:nvSpPr>
          <p:cNvPr id="37" name="Text 29"/>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Model çıktısı final cevap değil; pipeline’ın ara verisi.</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1874520" cy="0"/>
          </a:xfrm>
          <a:prstGeom prst="line">
            <a:avLst/>
          </a:prstGeom>
          <a:noFill/>
          <a:ln w="38100">
            <a:solidFill>
              <a:srgbClr val="4285F4"/>
            </a:solidFill>
            <a:prstDash val="solid"/>
          </a:ln>
        </p:spPr>
      </p:sp>
      <p:sp>
        <p:nvSpPr>
          <p:cNvPr id="6" name="!!tl_halo"/>
          <p:cNvSpPr/>
          <p:nvPr/>
        </p:nvSpPr>
        <p:spPr>
          <a:xfrm>
            <a:off x="2432304" y="118872"/>
            <a:ext cx="530352" cy="530352"/>
          </a:xfrm>
          <a:prstGeom prst="ellipse">
            <a:avLst/>
          </a:prstGeom>
          <a:solidFill>
            <a:srgbClr val="F3E8FD"/>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14600" y="201168"/>
            <a:ext cx="365760" cy="365760"/>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b="1" dirty="0">
                <a:solidFill>
                  <a:srgbClr val="A142F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FFFFF"/>
          </a:solidFill>
          <a:ln w="19050">
            <a:solidFill>
              <a:srgbClr val="DADCE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FFFFFF"/>
          </a:solidFill>
          <a:ln w="19050">
            <a:solidFill>
              <a:srgbClr val="DADCE0"/>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259689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Video Input → JSON Output</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Structured output’u çağrı seviyesinde nasıl istiyoruz?</a:t>
            </a:r>
            <a:endParaRPr lang="en-US" sz="1400" dirty="0"/>
          </a:p>
        </p:txBody>
      </p:sp>
      <p:sp>
        <p:nvSpPr>
          <p:cNvPr id="20" name="Shape 15"/>
          <p:cNvSpPr/>
          <p:nvPr/>
        </p:nvSpPr>
        <p:spPr>
          <a:xfrm>
            <a:off x="457200" y="1920240"/>
            <a:ext cx="5120640" cy="2514600"/>
          </a:xfrm>
          <a:prstGeom prst="roundRect">
            <a:avLst>
              <a:gd name="adj" fmla="val 3636"/>
            </a:avLst>
          </a:prstGeom>
          <a:solidFill>
            <a:srgbClr val="202124"/>
          </a:solidFill>
          <a:ln w="12700">
            <a:solidFill>
              <a:srgbClr val="202124"/>
            </a:solidFill>
            <a:prstDash val="solid"/>
          </a:ln>
          <a:effectLst>
            <a:outerShdw sx="100000" sy="100000" kx="0" ky="0" algn="bl" rotWithShape="0" blurRad="76200" dist="12700" dir="5400000">
              <a:srgbClr val="000000">
                <a:alpha val="8000"/>
              </a:srgbClr>
            </a:outerShdw>
          </a:effectLst>
        </p:spPr>
      </p:sp>
      <p:sp>
        <p:nvSpPr>
          <p:cNvPr id="21" name="Text 16"/>
          <p:cNvSpPr txBox="1"/>
          <p:nvPr/>
        </p:nvSpPr>
        <p:spPr>
          <a:xfrm>
            <a:off x="640080" y="2057400"/>
            <a:ext cx="4846320" cy="2286000"/>
          </a:xfrm>
          <a:prstGeom prst="rect">
            <a:avLst/>
          </a:prstGeom>
          <a:noFill/>
          <a:ln/>
        </p:spPr>
        <p:txBody>
          <a:bodyPr wrap="square" lIns="0" tIns="0" rIns="0" bIns="0" rtlCol="0" anchor="t"/>
          <a:lstStyle/>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response = client.models.generate_content(</a:t>
            </a:r>
            <a:endParaRPr lang="en-US" sz="950" dirty="0"/>
          </a:p>
          <a:p>
            <a:pPr indent="0" marL="0">
              <a:spcAft>
                <a:spcPts val="100"/>
              </a:spcAft>
              <a:buNone/>
            </a:pPr>
            <a:r>
              <a:rPr lang="en-US" sz="950" dirty="0">
                <a:solidFill>
                  <a:srgbClr val="C58AF9"/>
                </a:solidFill>
                <a:latin typeface="Roboto Mono" pitchFamily="34" charset="0"/>
                <a:ea typeface="Roboto Mono" pitchFamily="34" charset="-122"/>
                <a:cs typeface="Roboto Mono" pitchFamily="34" charset="-120"/>
              </a:rPr>
              <a:t>  model="gemini-3-flash-preview",</a:t>
            </a:r>
            <a:endParaRPr lang="en-US" sz="950" dirty="0"/>
          </a:p>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  contents=[</a:t>
            </a:r>
            <a:endParaRPr lang="en-US" sz="950" dirty="0"/>
          </a:p>
          <a:p>
            <a:pPr indent="0" marL="0">
              <a:spcAft>
                <a:spcPts val="100"/>
              </a:spcAft>
              <a:buNone/>
            </a:pPr>
            <a:r>
              <a:rPr lang="en-US" sz="950" dirty="0">
                <a:solidFill>
                  <a:srgbClr val="8AB4F8"/>
                </a:solidFill>
                <a:latin typeface="Roboto Mono" pitchFamily="34" charset="0"/>
                <a:ea typeface="Roboto Mono" pitchFamily="34" charset="-122"/>
                <a:cs typeface="Roboto Mono" pitchFamily="34" charset="-120"/>
              </a:rPr>
              <a:t>    Part.from_uri(file_uri=gcs_uri,</a:t>
            </a:r>
            <a:endParaRPr lang="en-US" sz="950" dirty="0"/>
          </a:p>
          <a:p>
            <a:pPr indent="0" marL="0">
              <a:spcAft>
                <a:spcPts val="100"/>
              </a:spcAft>
              <a:buNone/>
            </a:pPr>
            <a:r>
              <a:rPr lang="en-US" sz="950" dirty="0">
                <a:solidFill>
                  <a:srgbClr val="8AB4F8"/>
                </a:solidFill>
                <a:latin typeface="Roboto Mono" pitchFamily="34" charset="0"/>
                <a:ea typeface="Roboto Mono" pitchFamily="34" charset="-122"/>
                <a:cs typeface="Roboto Mono" pitchFamily="34" charset="-120"/>
              </a:rPr>
              <a:t>                  mime_type="video/webm"),</a:t>
            </a:r>
            <a:endParaRPr lang="en-US" sz="950" dirty="0"/>
          </a:p>
          <a:p>
            <a:pPr indent="0" marL="0">
              <a:spcAft>
                <a:spcPts val="100"/>
              </a:spcAft>
              <a:buNone/>
            </a:pPr>
            <a:r>
              <a:rPr lang="en-US" sz="950" dirty="0">
                <a:solidFill>
                  <a:srgbClr val="FDD663"/>
                </a:solidFill>
                <a:latin typeface="Roboto Mono" pitchFamily="34" charset="0"/>
                <a:ea typeface="Roboto Mono" pitchFamily="34" charset="-122"/>
                <a:cs typeface="Roboto Mono" pitchFamily="34" charset="-120"/>
              </a:rPr>
              <a:t>    MOTION_ANALYSIS_PROMPT,</a:t>
            </a:r>
            <a:endParaRPr lang="en-US" sz="950" dirty="0"/>
          </a:p>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  ],</a:t>
            </a:r>
            <a:endParaRPr lang="en-US" sz="950" dirty="0"/>
          </a:p>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  config=GenerateContentConfig(</a:t>
            </a:r>
            <a:endParaRPr lang="en-US" sz="950" dirty="0"/>
          </a:p>
          <a:p>
            <a:pPr indent="0" marL="0">
              <a:spcAft>
                <a:spcPts val="100"/>
              </a:spcAft>
              <a:buNone/>
            </a:pPr>
            <a:r>
              <a:rPr lang="en-US" sz="950" dirty="0">
                <a:solidFill>
                  <a:srgbClr val="81C995"/>
                </a:solidFill>
                <a:latin typeface="Roboto Mono" pitchFamily="34" charset="0"/>
                <a:ea typeface="Roboto Mono" pitchFamily="34" charset="-122"/>
                <a:cs typeface="Roboto Mono" pitchFamily="34" charset="-120"/>
              </a:rPr>
              <a:t>    response_mime_type="application/json",</a:t>
            </a:r>
            <a:endParaRPr lang="en-US" sz="950" dirty="0"/>
          </a:p>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    thinking_config=ThinkingConfig(thinking_budget=1024))</a:t>
            </a:r>
            <a:endParaRPr lang="en-US" sz="950" dirty="0"/>
          </a:p>
          <a:p>
            <a:pPr indent="0" marL="0">
              <a:spcAft>
                <a:spcPts val="100"/>
              </a:spcAft>
              <a:buNone/>
            </a:pPr>
            <a:r>
              <a:rPr lang="en-US" sz="950" dirty="0">
                <a:solidFill>
                  <a:srgbClr val="E8EAED"/>
                </a:solidFill>
                <a:latin typeface="Roboto Mono" pitchFamily="34" charset="0"/>
                <a:ea typeface="Roboto Mono" pitchFamily="34" charset="-122"/>
                <a:cs typeface="Roboto Mono" pitchFamily="34" charset="-120"/>
              </a:rPr>
              <a:t>)</a:t>
            </a:r>
            <a:endParaRPr lang="en-US" sz="950" dirty="0"/>
          </a:p>
          <a:p>
            <a:pPr indent="0" marL="0">
              <a:spcAft>
                <a:spcPts val="100"/>
              </a:spcAft>
              <a:buNone/>
            </a:pPr>
            <a:r>
              <a:rPr lang="en-US" sz="950" dirty="0">
                <a:solidFill>
                  <a:srgbClr val="F28B82"/>
                </a:solidFill>
                <a:latin typeface="Roboto Mono" pitchFamily="34" charset="0"/>
                <a:ea typeface="Roboto Mono" pitchFamily="34" charset="-122"/>
                <a:cs typeface="Roboto Mono" pitchFamily="34" charset="-120"/>
              </a:rPr>
              <a:t>analysis = json.loads(response.text)</a:t>
            </a:r>
            <a:endParaRPr lang="en-US" sz="950" dirty="0"/>
          </a:p>
        </p:txBody>
      </p:sp>
      <p:sp>
        <p:nvSpPr>
          <p:cNvPr id="22" name="Shape 17"/>
          <p:cNvSpPr/>
          <p:nvPr/>
        </p:nvSpPr>
        <p:spPr>
          <a:xfrm>
            <a:off x="5852160" y="1920240"/>
            <a:ext cx="2834640" cy="530352"/>
          </a:xfrm>
          <a:prstGeom prst="roundRect">
            <a:avLst>
              <a:gd name="adj" fmla="val 17241"/>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3" name="Shape 18"/>
          <p:cNvSpPr/>
          <p:nvPr/>
        </p:nvSpPr>
        <p:spPr>
          <a:xfrm>
            <a:off x="5961888" y="2011680"/>
            <a:ext cx="347472" cy="347472"/>
          </a:xfrm>
          <a:prstGeom prst="ellipse">
            <a:avLst/>
          </a:prstGeom>
          <a:solidFill>
            <a:srgbClr val="4285F4"/>
          </a:solidFill>
          <a:ln w="12700">
            <a:solidFill>
              <a:srgbClr val="4285F4"/>
            </a:solidFill>
            <a:prstDash val="solid"/>
          </a:ln>
        </p:spPr>
      </p:sp>
      <p:sp>
        <p:nvSpPr>
          <p:cNvPr id="24" name="Text 19"/>
          <p:cNvSpPr txBox="1"/>
          <p:nvPr/>
        </p:nvSpPr>
        <p:spPr>
          <a:xfrm>
            <a:off x="5961888" y="2011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Google Sans" pitchFamily="34" charset="0"/>
                <a:ea typeface="Google Sans" pitchFamily="34" charset="-122"/>
                <a:cs typeface="Google Sans" pitchFamily="34" charset="-120"/>
              </a:rPr>
              <a:t>1</a:t>
            </a:r>
            <a:endParaRPr lang="en-US" sz="1200" dirty="0"/>
          </a:p>
        </p:txBody>
      </p:sp>
      <p:sp>
        <p:nvSpPr>
          <p:cNvPr id="25" name="Text 20"/>
          <p:cNvSpPr txBox="1"/>
          <p:nvPr/>
        </p:nvSpPr>
        <p:spPr>
          <a:xfrm>
            <a:off x="6446520" y="2011680"/>
            <a:ext cx="2148840" cy="347472"/>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Video from GCS</a:t>
            </a:r>
            <a:endParaRPr lang="en-US" sz="1300" dirty="0"/>
          </a:p>
        </p:txBody>
      </p:sp>
      <p:sp>
        <p:nvSpPr>
          <p:cNvPr id="26" name="Shape 21"/>
          <p:cNvSpPr/>
          <p:nvPr/>
        </p:nvSpPr>
        <p:spPr>
          <a:xfrm>
            <a:off x="5852160" y="2569464"/>
            <a:ext cx="2834640" cy="530352"/>
          </a:xfrm>
          <a:prstGeom prst="roundRect">
            <a:avLst>
              <a:gd name="adj" fmla="val 17241"/>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7" name="Shape 22"/>
          <p:cNvSpPr/>
          <p:nvPr/>
        </p:nvSpPr>
        <p:spPr>
          <a:xfrm>
            <a:off x="5961888" y="2660904"/>
            <a:ext cx="347472" cy="347472"/>
          </a:xfrm>
          <a:prstGeom prst="ellipse">
            <a:avLst/>
          </a:prstGeom>
          <a:solidFill>
            <a:srgbClr val="F9AB00"/>
          </a:solidFill>
          <a:ln w="12700">
            <a:solidFill>
              <a:srgbClr val="F9AB00"/>
            </a:solidFill>
            <a:prstDash val="solid"/>
          </a:ln>
        </p:spPr>
      </p:sp>
      <p:sp>
        <p:nvSpPr>
          <p:cNvPr id="28" name="Text 23"/>
          <p:cNvSpPr txBox="1"/>
          <p:nvPr/>
        </p:nvSpPr>
        <p:spPr>
          <a:xfrm>
            <a:off x="5961888" y="26609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Google Sans" pitchFamily="34" charset="0"/>
                <a:ea typeface="Google Sans" pitchFamily="34" charset="-122"/>
                <a:cs typeface="Google Sans" pitchFamily="34" charset="-120"/>
              </a:rPr>
              <a:t>2</a:t>
            </a:r>
            <a:endParaRPr lang="en-US" sz="1200" dirty="0"/>
          </a:p>
        </p:txBody>
      </p:sp>
      <p:sp>
        <p:nvSpPr>
          <p:cNvPr id="29" name="Text 24"/>
          <p:cNvSpPr txBox="1"/>
          <p:nvPr/>
        </p:nvSpPr>
        <p:spPr>
          <a:xfrm>
            <a:off x="6446520" y="2660904"/>
            <a:ext cx="2148840" cy="347472"/>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Prompt template</a:t>
            </a:r>
            <a:endParaRPr lang="en-US" sz="1300" dirty="0"/>
          </a:p>
        </p:txBody>
      </p:sp>
      <p:sp>
        <p:nvSpPr>
          <p:cNvPr id="30" name="Shape 25"/>
          <p:cNvSpPr/>
          <p:nvPr/>
        </p:nvSpPr>
        <p:spPr>
          <a:xfrm>
            <a:off x="5852160" y="3218688"/>
            <a:ext cx="2834640" cy="530352"/>
          </a:xfrm>
          <a:prstGeom prst="roundRect">
            <a:avLst>
              <a:gd name="adj" fmla="val 17241"/>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1" name="Shape 26"/>
          <p:cNvSpPr/>
          <p:nvPr/>
        </p:nvSpPr>
        <p:spPr>
          <a:xfrm>
            <a:off x="5961888" y="3310128"/>
            <a:ext cx="347472" cy="347472"/>
          </a:xfrm>
          <a:prstGeom prst="ellipse">
            <a:avLst/>
          </a:prstGeom>
          <a:solidFill>
            <a:srgbClr val="34A853"/>
          </a:solidFill>
          <a:ln w="12700">
            <a:solidFill>
              <a:srgbClr val="34A853"/>
            </a:solidFill>
            <a:prstDash val="solid"/>
          </a:ln>
        </p:spPr>
      </p:sp>
      <p:sp>
        <p:nvSpPr>
          <p:cNvPr id="32" name="Text 27"/>
          <p:cNvSpPr txBox="1"/>
          <p:nvPr/>
        </p:nvSpPr>
        <p:spPr>
          <a:xfrm>
            <a:off x="5961888" y="33101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Google Sans" pitchFamily="34" charset="0"/>
                <a:ea typeface="Google Sans" pitchFamily="34" charset="-122"/>
                <a:cs typeface="Google Sans" pitchFamily="34" charset="-120"/>
              </a:rPr>
              <a:t>3</a:t>
            </a:r>
            <a:endParaRPr lang="en-US" sz="1200" dirty="0"/>
          </a:p>
        </p:txBody>
      </p:sp>
      <p:sp>
        <p:nvSpPr>
          <p:cNvPr id="33" name="Text 28"/>
          <p:cNvSpPr txBox="1"/>
          <p:nvPr/>
        </p:nvSpPr>
        <p:spPr>
          <a:xfrm>
            <a:off x="6446520" y="3310128"/>
            <a:ext cx="2148840" cy="347472"/>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JSON response</a:t>
            </a:r>
            <a:endParaRPr lang="en-US" sz="1300" dirty="0"/>
          </a:p>
        </p:txBody>
      </p:sp>
      <p:sp>
        <p:nvSpPr>
          <p:cNvPr id="34" name="Shape 29"/>
          <p:cNvSpPr/>
          <p:nvPr/>
        </p:nvSpPr>
        <p:spPr>
          <a:xfrm>
            <a:off x="5852160" y="3867912"/>
            <a:ext cx="2834640" cy="530352"/>
          </a:xfrm>
          <a:prstGeom prst="roundRect">
            <a:avLst>
              <a:gd name="adj" fmla="val 17241"/>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5" name="Shape 30"/>
          <p:cNvSpPr/>
          <p:nvPr/>
        </p:nvSpPr>
        <p:spPr>
          <a:xfrm>
            <a:off x="5961888" y="3959352"/>
            <a:ext cx="347472" cy="347472"/>
          </a:xfrm>
          <a:prstGeom prst="ellipse">
            <a:avLst/>
          </a:prstGeom>
          <a:solidFill>
            <a:srgbClr val="A142F4"/>
          </a:solidFill>
          <a:ln w="12700">
            <a:solidFill>
              <a:srgbClr val="A142F4"/>
            </a:solidFill>
            <a:prstDash val="solid"/>
          </a:ln>
        </p:spPr>
      </p:sp>
      <p:sp>
        <p:nvSpPr>
          <p:cNvPr id="36" name="Text 31"/>
          <p:cNvSpPr txBox="1"/>
          <p:nvPr/>
        </p:nvSpPr>
        <p:spPr>
          <a:xfrm>
            <a:off x="5961888" y="39593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Google Sans" pitchFamily="34" charset="0"/>
                <a:ea typeface="Google Sans" pitchFamily="34" charset="-122"/>
                <a:cs typeface="Google Sans" pitchFamily="34" charset="-120"/>
              </a:rPr>
              <a:t>4</a:t>
            </a:r>
            <a:endParaRPr lang="en-US" sz="1200" dirty="0"/>
          </a:p>
        </p:txBody>
      </p:sp>
      <p:sp>
        <p:nvSpPr>
          <p:cNvPr id="37" name="Text 32"/>
          <p:cNvSpPr txBox="1"/>
          <p:nvPr/>
        </p:nvSpPr>
        <p:spPr>
          <a:xfrm>
            <a:off x="6446520" y="3959352"/>
            <a:ext cx="2148840" cy="347472"/>
          </a:xfrm>
          <a:prstGeom prst="rect">
            <a:avLst/>
          </a:prstGeom>
          <a:noFill/>
          <a:ln/>
        </p:spPr>
        <p:txBody>
          <a:bodyPr wrap="square" lIns="0" tIns="0" rIns="0" bIns="0"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Parse and continue</a:t>
            </a:r>
            <a:endParaRPr lang="en-US" sz="1300" dirty="0"/>
          </a:p>
        </p:txBody>
      </p:sp>
      <p:sp>
        <p:nvSpPr>
          <p:cNvPr id="38" name="Text 33"/>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Structured output, multimodal pipeline’ı güvenilir ve birleştirilebilir yapıyor.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3749040" cy="0"/>
          </a:xfrm>
          <a:prstGeom prst="line">
            <a:avLst/>
          </a:prstGeom>
          <a:noFill/>
          <a:ln w="38100">
            <a:solidFill>
              <a:srgbClr val="4285F4"/>
            </a:solidFill>
            <a:prstDash val="solid"/>
          </a:ln>
        </p:spPr>
      </p:sp>
      <p:sp>
        <p:nvSpPr>
          <p:cNvPr id="6" name="!!tl_halo"/>
          <p:cNvSpPr/>
          <p:nvPr/>
        </p:nvSpPr>
        <p:spPr>
          <a:xfrm>
            <a:off x="4306824" y="118872"/>
            <a:ext cx="530352" cy="530352"/>
          </a:xfrm>
          <a:prstGeom prst="ellipse">
            <a:avLst/>
          </a:prstGeom>
          <a:solidFill>
            <a:srgbClr val="FEF7E0"/>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389120" y="201168"/>
            <a:ext cx="365760" cy="365760"/>
          </a:xfrm>
          <a:prstGeom prst="ellipse">
            <a:avLst/>
          </a:prstGeom>
          <a:solidFill>
            <a:srgbClr val="F9AB00"/>
          </a:solidFill>
          <a:ln w="19050">
            <a:solidFill>
              <a:srgbClr val="F9AB0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b="1" dirty="0">
                <a:solidFill>
                  <a:srgbClr val="F9AB00"/>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FFFFFF"/>
          </a:solidFill>
          <a:ln w="19050">
            <a:solidFill>
              <a:srgbClr val="DADCE0"/>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447141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Avatar Generation</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En iyi kare, Veo için bir referans görsele dönüşüyor.</a:t>
            </a:r>
            <a:endParaRPr lang="en-US" sz="1400" dirty="0"/>
          </a:p>
        </p:txBody>
      </p:sp>
      <p:sp>
        <p:nvSpPr>
          <p:cNvPr id="20" name="Shape 15"/>
          <p:cNvSpPr/>
          <p:nvPr/>
        </p:nvSpPr>
        <p:spPr>
          <a:xfrm>
            <a:off x="457200" y="1965960"/>
            <a:ext cx="2331720" cy="2377440"/>
          </a:xfrm>
          <a:prstGeom prst="roundRect">
            <a:avLst>
              <a:gd name="adj" fmla="val 3922"/>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1" name="Shape 16"/>
          <p:cNvSpPr/>
          <p:nvPr/>
        </p:nvSpPr>
        <p:spPr>
          <a:xfrm>
            <a:off x="640080" y="2148840"/>
            <a:ext cx="548640" cy="548640"/>
          </a:xfrm>
          <a:prstGeom prst="ellipse">
            <a:avLst/>
          </a:prstGeom>
          <a:solidFill>
            <a:srgbClr val="E8F0FE"/>
          </a:solidFill>
          <a:ln w="12700">
            <a:solidFill>
              <a:srgbClr val="E8F0FE"/>
            </a:solidFill>
            <a:prstDash val="solid"/>
          </a:ln>
        </p:spPr>
      </p:sp>
      <p:pic>
        <p:nvPicPr>
          <p:cNvPr id="22" name="Image 2" descr="preencoded.png">    </p:cNvPr>
          <p:cNvPicPr>
            <a:picLocks noChangeAspect="1"/>
          </p:cNvPicPr>
          <p:nvPr/>
        </p:nvPicPr>
        <p:blipFill>
          <a:blip r:embed="rId3"/>
          <a:stretch>
            <a:fillRect/>
          </a:stretch>
        </p:blipFill>
        <p:spPr>
          <a:xfrm>
            <a:off x="760781" y="2269541"/>
            <a:ext cx="307238" cy="307238"/>
          </a:xfrm>
          <a:prstGeom prst="rect">
            <a:avLst/>
          </a:prstGeom>
        </p:spPr>
      </p:pic>
      <p:sp>
        <p:nvSpPr>
          <p:cNvPr id="23" name="Text 17"/>
          <p:cNvSpPr txBox="1"/>
          <p:nvPr/>
        </p:nvSpPr>
        <p:spPr>
          <a:xfrm>
            <a:off x="640080" y="2834640"/>
            <a:ext cx="1965960" cy="320040"/>
          </a:xfrm>
          <a:prstGeom prst="rect">
            <a:avLst/>
          </a:prstGeom>
          <a:noFill/>
          <a:ln/>
        </p:spPr>
        <p:txBody>
          <a:bodyPr wrap="square" lIns="0" tIns="0" rIns="0" bIns="0" rtlCol="0" anchor="ctr"/>
          <a:lstStyle/>
          <a:p>
            <a:pPr indent="0" marL="0">
              <a:buNone/>
            </a:pPr>
            <a:r>
              <a:rPr lang="en-US" sz="1500" b="1" dirty="0">
                <a:solidFill>
                  <a:srgbClr val="202124"/>
                </a:solidFill>
                <a:latin typeface="Google Sans" pitchFamily="34" charset="0"/>
                <a:ea typeface="Google Sans" pitchFamily="34" charset="-122"/>
                <a:cs typeface="Google Sans" pitchFamily="34" charset="-120"/>
              </a:rPr>
              <a:t>Best frame</a:t>
            </a:r>
            <a:endParaRPr lang="en-US" sz="1500" dirty="0"/>
          </a:p>
        </p:txBody>
      </p:sp>
      <p:sp>
        <p:nvSpPr>
          <p:cNvPr id="24" name="Text 18"/>
          <p:cNvSpPr txBox="1"/>
          <p:nvPr/>
        </p:nvSpPr>
        <p:spPr>
          <a:xfrm>
            <a:off x="640080" y="3200400"/>
            <a:ext cx="1965960" cy="1005840"/>
          </a:xfrm>
          <a:prstGeom prst="rect">
            <a:avLst/>
          </a:prstGeom>
          <a:noFill/>
          <a:ln/>
        </p:spPr>
        <p:txBody>
          <a:bodyPr wrap="square" lIns="0" tIns="0" rIns="0" bIns="0" rtlCol="0" anchor="t"/>
          <a:lstStyle/>
          <a:p>
            <a:pPr indent="0" marL="0">
              <a:buNone/>
            </a:pPr>
            <a:r>
              <a:rPr lang="en-US" sz="1100" dirty="0">
                <a:solidFill>
                  <a:srgbClr val="5F6368"/>
                </a:solidFill>
                <a:latin typeface="Google Sans" pitchFamily="34" charset="0"/>
                <a:ea typeface="Google Sans" pitchFamily="34" charset="-122"/>
                <a:cs typeface="Google Sans" pitchFamily="34" charset="-120"/>
              </a:rPr>
              <a:t>best_frame_timestamp anı ffmpeg ile videodan kesiliyor</a:t>
            </a:r>
            <a:endParaRPr lang="en-US" sz="1100" dirty="0"/>
          </a:p>
        </p:txBody>
      </p:sp>
      <p:sp>
        <p:nvSpPr>
          <p:cNvPr id="25" name="Text 19"/>
          <p:cNvSpPr txBox="1"/>
          <p:nvPr/>
        </p:nvSpPr>
        <p:spPr>
          <a:xfrm>
            <a:off x="2788920" y="2926080"/>
            <a:ext cx="365760" cy="36576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26" name="Shape 20"/>
          <p:cNvSpPr/>
          <p:nvPr/>
        </p:nvSpPr>
        <p:spPr>
          <a:xfrm>
            <a:off x="3154680" y="1965960"/>
            <a:ext cx="2331720" cy="2377440"/>
          </a:xfrm>
          <a:prstGeom prst="roundRect">
            <a:avLst>
              <a:gd name="adj" fmla="val 3922"/>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7" name="Shape 21"/>
          <p:cNvSpPr/>
          <p:nvPr/>
        </p:nvSpPr>
        <p:spPr>
          <a:xfrm>
            <a:off x="3337560" y="2148840"/>
            <a:ext cx="548640" cy="548640"/>
          </a:xfrm>
          <a:prstGeom prst="ellipse">
            <a:avLst/>
          </a:prstGeom>
          <a:solidFill>
            <a:srgbClr val="FEF7E0"/>
          </a:solidFill>
          <a:ln w="12700">
            <a:solidFill>
              <a:srgbClr val="FEF7E0"/>
            </a:solidFill>
            <a:prstDash val="solid"/>
          </a:ln>
        </p:spPr>
      </p:sp>
      <p:pic>
        <p:nvPicPr>
          <p:cNvPr id="28" name="Image 3" descr="preencoded.png">    </p:cNvPr>
          <p:cNvPicPr>
            <a:picLocks noChangeAspect="1"/>
          </p:cNvPicPr>
          <p:nvPr/>
        </p:nvPicPr>
        <p:blipFill>
          <a:blip r:embed="rId4"/>
          <a:stretch>
            <a:fillRect/>
          </a:stretch>
        </p:blipFill>
        <p:spPr>
          <a:xfrm>
            <a:off x="3458261" y="2269541"/>
            <a:ext cx="307238" cy="307238"/>
          </a:xfrm>
          <a:prstGeom prst="rect">
            <a:avLst/>
          </a:prstGeom>
        </p:spPr>
      </p:pic>
      <p:sp>
        <p:nvSpPr>
          <p:cNvPr id="29" name="Text 22"/>
          <p:cNvSpPr txBox="1"/>
          <p:nvPr/>
        </p:nvSpPr>
        <p:spPr>
          <a:xfrm>
            <a:off x="3337560" y="2834640"/>
            <a:ext cx="1965960" cy="320040"/>
          </a:xfrm>
          <a:prstGeom prst="rect">
            <a:avLst/>
          </a:prstGeom>
          <a:noFill/>
          <a:ln/>
        </p:spPr>
        <p:txBody>
          <a:bodyPr wrap="square" lIns="0" tIns="0" rIns="0" bIns="0" rtlCol="0" anchor="ctr"/>
          <a:lstStyle/>
          <a:p>
            <a:pPr indent="0" marL="0">
              <a:buNone/>
            </a:pPr>
            <a:r>
              <a:rPr lang="en-US" sz="1500" b="1" dirty="0">
                <a:solidFill>
                  <a:srgbClr val="202124"/>
                </a:solidFill>
                <a:latin typeface="Google Sans" pitchFamily="34" charset="0"/>
                <a:ea typeface="Google Sans" pitchFamily="34" charset="-122"/>
                <a:cs typeface="Google Sans" pitchFamily="34" charset="-120"/>
              </a:rPr>
              <a:t>Nano Banana</a:t>
            </a:r>
            <a:endParaRPr lang="en-US" sz="1500" dirty="0"/>
          </a:p>
        </p:txBody>
      </p:sp>
      <p:sp>
        <p:nvSpPr>
          <p:cNvPr id="30" name="Text 23"/>
          <p:cNvSpPr txBox="1"/>
          <p:nvPr/>
        </p:nvSpPr>
        <p:spPr>
          <a:xfrm>
            <a:off x="3337560" y="3200400"/>
            <a:ext cx="1965960" cy="1005840"/>
          </a:xfrm>
          <a:prstGeom prst="rect">
            <a:avLst/>
          </a:prstGeom>
          <a:noFill/>
          <a:ln/>
        </p:spPr>
        <p:txBody>
          <a:bodyPr wrap="square" lIns="0" tIns="0" rIns="0" bIns="0" rtlCol="0" anchor="t"/>
          <a:lstStyle/>
          <a:p>
            <a:pPr indent="0" marL="0">
              <a:buNone/>
            </a:pPr>
            <a:r>
              <a:rPr lang="en-US" sz="1100" dirty="0">
                <a:solidFill>
                  <a:srgbClr val="5F6368"/>
                </a:solidFill>
                <a:latin typeface="Google Sans" pitchFamily="34" charset="0"/>
                <a:ea typeface="Google Sans" pitchFamily="34" charset="-122"/>
                <a:cs typeface="Google Sans" pitchFamily="34" charset="-120"/>
              </a:rPr>
              <a:t>Kare + style prompt</a:t>
            </a:r>
            <a:endParaRPr lang="en-US" sz="1100" dirty="0"/>
          </a:p>
          <a:p>
            <a:pPr indent="0" marL="0">
              <a:buNone/>
            </a:pPr>
            <a:r>
              <a:rPr lang="en-US" sz="1100" dirty="0">
                <a:solidFill>
                  <a:srgbClr val="5F6368"/>
                </a:solidFill>
                <a:latin typeface="Google Sans" pitchFamily="34" charset="0"/>
                <a:ea typeface="Google Sans" pitchFamily="34" charset="-122"/>
                <a:cs typeface="Google Sans" pitchFamily="34" charset="-120"/>
              </a:rPr>
              <a:t>gemini-3.1-flash-image-preview</a:t>
            </a:r>
            <a:endParaRPr lang="en-US" sz="1100" dirty="0"/>
          </a:p>
        </p:txBody>
      </p:sp>
      <p:sp>
        <p:nvSpPr>
          <p:cNvPr id="31" name="Text 24"/>
          <p:cNvSpPr txBox="1"/>
          <p:nvPr/>
        </p:nvSpPr>
        <p:spPr>
          <a:xfrm>
            <a:off x="5486400" y="2926080"/>
            <a:ext cx="365760" cy="365760"/>
          </a:xfrm>
          <a:prstGeom prst="rect">
            <a:avLst/>
          </a:prstGeom>
          <a:noFill/>
          <a:ln/>
        </p:spPr>
        <p:txBody>
          <a:bodyPr wrap="square" lIns="0" tIns="0" rIns="0" bIns="0" rtlCol="0" anchor="ctr"/>
          <a:lstStyle/>
          <a:p>
            <a:pPr algn="ctr" indent="0" marL="0">
              <a:buNone/>
            </a:pPr>
            <a:r>
              <a:rPr lang="en-US" sz="1800" dirty="0">
                <a:solidFill>
                  <a:srgbClr val="5F6368"/>
                </a:solidFill>
                <a:latin typeface="Google Sans" pitchFamily="34" charset="0"/>
                <a:ea typeface="Google Sans" pitchFamily="34" charset="-122"/>
                <a:cs typeface="Google Sans" pitchFamily="34" charset="-120"/>
              </a:rPr>
              <a:t>→</a:t>
            </a:r>
            <a:endParaRPr lang="en-US" sz="1800" dirty="0"/>
          </a:p>
        </p:txBody>
      </p:sp>
      <p:sp>
        <p:nvSpPr>
          <p:cNvPr id="32" name="Shape 25"/>
          <p:cNvSpPr/>
          <p:nvPr/>
        </p:nvSpPr>
        <p:spPr>
          <a:xfrm>
            <a:off x="5852160" y="1965960"/>
            <a:ext cx="2834640" cy="2377440"/>
          </a:xfrm>
          <a:prstGeom prst="roundRect">
            <a:avLst>
              <a:gd name="adj" fmla="val 3846"/>
            </a:avLst>
          </a:prstGeom>
          <a:solidFill>
            <a:srgbClr val="FEF7E0"/>
          </a:solidFill>
          <a:ln w="19050">
            <a:solidFill>
              <a:srgbClr val="F9AB00"/>
            </a:solidFill>
            <a:prstDash val="solid"/>
          </a:ln>
          <a:effectLst>
            <a:outerShdw sx="100000" sy="100000" kx="0" ky="0" algn="bl" rotWithShape="0" blurRad="76200" dist="12700" dir="5400000">
              <a:srgbClr val="000000">
                <a:alpha val="8000"/>
              </a:srgbClr>
            </a:outerShdw>
          </a:effectLst>
        </p:spPr>
      </p:sp>
      <p:pic>
        <p:nvPicPr>
          <p:cNvPr id="33" name="Image 4" descr="/tmp/claude-0/-home-claude/d5e34c45-44d6-5238-8d7b-e6c7b3c8d5c3/scratchpad/deck/ref_image33.png">    </p:cNvPr>
          <p:cNvPicPr>
            <a:picLocks noChangeAspect="1"/>
          </p:cNvPicPr>
          <p:nvPr/>
        </p:nvPicPr>
        <p:blipFill>
          <a:blip r:embed="rId5"/>
          <a:stretch>
            <a:fillRect/>
          </a:stretch>
        </p:blipFill>
        <p:spPr>
          <a:xfrm>
            <a:off x="5989320" y="2011680"/>
            <a:ext cx="1463040" cy="1463040"/>
          </a:xfrm>
          <a:prstGeom prst="rect">
            <a:avLst/>
          </a:prstGeom>
        </p:spPr>
      </p:pic>
      <p:sp>
        <p:nvSpPr>
          <p:cNvPr id="34" name="Text 26"/>
          <p:cNvSpPr txBox="1"/>
          <p:nvPr/>
        </p:nvSpPr>
        <p:spPr>
          <a:xfrm>
            <a:off x="7452360" y="2286000"/>
            <a:ext cx="1188720" cy="548640"/>
          </a:xfrm>
          <a:prstGeom prst="rect">
            <a:avLst/>
          </a:prstGeom>
          <a:noFill/>
          <a:ln/>
        </p:spPr>
        <p:txBody>
          <a:bodyPr wrap="square" lIns="0" tIns="0" rIns="0" bIns="0" rtlCol="0" anchor="t"/>
          <a:lstStyle/>
          <a:p>
            <a:pPr indent="0" marL="0">
              <a:buNone/>
            </a:pPr>
            <a:r>
              <a:rPr lang="en-US" sz="1200" b="1" dirty="0">
                <a:solidFill>
                  <a:srgbClr val="202124"/>
                </a:solidFill>
                <a:latin typeface="Google Sans" pitchFamily="34" charset="0"/>
                <a:ea typeface="Google Sans" pitchFamily="34" charset="-122"/>
                <a:cs typeface="Google Sans" pitchFamily="34" charset="-120"/>
              </a:rPr>
              <a:t>1024×1024 PNG</a:t>
            </a:r>
            <a:endParaRPr lang="en-US" sz="1200" dirty="0"/>
          </a:p>
        </p:txBody>
      </p:sp>
      <p:sp>
        <p:nvSpPr>
          <p:cNvPr id="35" name="Text 27"/>
          <p:cNvSpPr txBox="1"/>
          <p:nvPr/>
        </p:nvSpPr>
        <p:spPr>
          <a:xfrm>
            <a:off x="7452360" y="2788920"/>
            <a:ext cx="1188720" cy="548640"/>
          </a:xfrm>
          <a:prstGeom prst="rect">
            <a:avLst/>
          </a:prstGeom>
          <a:noFill/>
          <a:ln/>
        </p:spPr>
        <p:txBody>
          <a:bodyPr wrap="square" lIns="0" tIns="0" rIns="0" bIns="0" rtlCol="0" anchor="t"/>
          <a:lstStyle/>
          <a:p>
            <a:pPr indent="0" marL="0">
              <a:buNone/>
            </a:pPr>
            <a:r>
              <a:rPr lang="en-US" sz="1000" dirty="0">
                <a:solidFill>
                  <a:srgbClr val="5F6368"/>
                </a:solidFill>
                <a:latin typeface="Google Sans" pitchFamily="34" charset="0"/>
                <a:ea typeface="Google Sans" pitchFamily="34" charset="-122"/>
                <a:cs typeface="Google Sans" pitchFamily="34" charset="-120"/>
              </a:rPr>
              <a:t>avatars/ altında saklanıyor</a:t>
            </a:r>
            <a:endParaRPr lang="en-US" sz="1000" dirty="0"/>
          </a:p>
        </p:txBody>
      </p:sp>
      <p:sp>
        <p:nvSpPr>
          <p:cNvPr id="36" name="Text 28"/>
          <p:cNvSpPr txBox="1"/>
          <p:nvPr/>
        </p:nvSpPr>
        <p:spPr>
          <a:xfrm>
            <a:off x="6035040" y="3611880"/>
            <a:ext cx="2514600" cy="548640"/>
          </a:xfrm>
          <a:prstGeom prst="rect">
            <a:avLst/>
          </a:prstGeom>
          <a:noFill/>
          <a:ln/>
        </p:spPr>
        <p:txBody>
          <a:bodyPr wrap="square" lIns="0" tIns="0" rIns="0" bIns="0" rtlCol="0" anchor="t"/>
          <a:lstStyle/>
          <a:p>
            <a:pPr indent="0" marL="0">
              <a:buNone/>
            </a:pPr>
            <a:r>
              <a:rPr lang="en-US" sz="1200" b="1" dirty="0">
                <a:solidFill>
                  <a:srgbClr val="B06000"/>
                </a:solidFill>
                <a:latin typeface="Google Sans" pitchFamily="34" charset="0"/>
                <a:ea typeface="Google Sans" pitchFamily="34" charset="-122"/>
                <a:cs typeface="Google Sans" pitchFamily="34" charset="-120"/>
              </a:rPr>
              <a:t>Final çıktı değil, Veo için reference asset.</a:t>
            </a:r>
            <a:endParaRPr lang="en-US" sz="1200" dirty="0"/>
          </a:p>
        </p:txBody>
      </p:sp>
      <p:sp>
        <p:nvSpPr>
          <p:cNvPr id="37" name="Text 29"/>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Bu aşama karakterin görsel kimliğini hazırlıyor.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5623560" cy="0"/>
          </a:xfrm>
          <a:prstGeom prst="line">
            <a:avLst/>
          </a:prstGeom>
          <a:noFill/>
          <a:ln w="38100">
            <a:solidFill>
              <a:srgbClr val="4285F4"/>
            </a:solidFill>
            <a:prstDash val="solid"/>
          </a:ln>
        </p:spPr>
      </p:sp>
      <p:sp>
        <p:nvSpPr>
          <p:cNvPr id="6" name="!!tl_halo"/>
          <p:cNvSpPr/>
          <p:nvPr/>
        </p:nvSpPr>
        <p:spPr>
          <a:xfrm>
            <a:off x="6181344" y="118872"/>
            <a:ext cx="530352" cy="530352"/>
          </a:xfrm>
          <a:prstGeom prst="ellipse">
            <a:avLst/>
          </a:prstGeom>
          <a:solidFill>
            <a:srgbClr val="E6F4EA"/>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9AB00"/>
          </a:solidFill>
          <a:ln w="19050">
            <a:solidFill>
              <a:srgbClr val="F9AB0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263640" y="201168"/>
            <a:ext cx="365760" cy="365760"/>
          </a:xfrm>
          <a:prstGeom prst="ellipse">
            <a:avLst/>
          </a:prstGeom>
          <a:solidFill>
            <a:srgbClr val="34A853"/>
          </a:solidFill>
          <a:ln w="19050">
            <a:solidFill>
              <a:srgbClr val="34A853"/>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b="1" dirty="0">
                <a:solidFill>
                  <a:srgbClr val="34A853"/>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634593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Veo Video Generation</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Hareket context’i + görsel kimlik → yeni bir video.</a:t>
            </a:r>
            <a:endParaRPr lang="en-US" sz="1400" dirty="0"/>
          </a:p>
        </p:txBody>
      </p:sp>
      <p:sp>
        <p:nvSpPr>
          <p:cNvPr id="20" name="Shape 15"/>
          <p:cNvSpPr/>
          <p:nvPr/>
        </p:nvSpPr>
        <p:spPr>
          <a:xfrm>
            <a:off x="457200" y="1965960"/>
            <a:ext cx="2651760" cy="1051560"/>
          </a:xfrm>
          <a:prstGeom prst="roundRect">
            <a:avLst>
              <a:gd name="adj" fmla="val 869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1" name="Shape 16"/>
          <p:cNvSpPr/>
          <p:nvPr/>
        </p:nvSpPr>
        <p:spPr>
          <a:xfrm>
            <a:off x="621792" y="2221992"/>
            <a:ext cx="530352" cy="530352"/>
          </a:xfrm>
          <a:prstGeom prst="ellipse">
            <a:avLst/>
          </a:prstGeom>
          <a:solidFill>
            <a:srgbClr val="F3E8FD"/>
          </a:solidFill>
          <a:ln w="12700">
            <a:solidFill>
              <a:srgbClr val="F3E8FD"/>
            </a:solidFill>
            <a:prstDash val="solid"/>
          </a:ln>
        </p:spPr>
      </p:sp>
      <p:pic>
        <p:nvPicPr>
          <p:cNvPr id="22" name="Image 2" descr="preencoded.png">    </p:cNvPr>
          <p:cNvPicPr>
            <a:picLocks noChangeAspect="1"/>
          </p:cNvPicPr>
          <p:nvPr/>
        </p:nvPicPr>
        <p:blipFill>
          <a:blip r:embed="rId3"/>
          <a:stretch>
            <a:fillRect/>
          </a:stretch>
        </p:blipFill>
        <p:spPr>
          <a:xfrm>
            <a:off x="738469" y="2338669"/>
            <a:ext cx="296997" cy="296997"/>
          </a:xfrm>
          <a:prstGeom prst="rect">
            <a:avLst/>
          </a:prstGeom>
        </p:spPr>
      </p:pic>
      <p:sp>
        <p:nvSpPr>
          <p:cNvPr id="23" name="Text 17"/>
          <p:cNvSpPr txBox="1"/>
          <p:nvPr/>
        </p:nvSpPr>
        <p:spPr>
          <a:xfrm>
            <a:off x="1280160" y="2194560"/>
            <a:ext cx="1737360" cy="292608"/>
          </a:xfrm>
          <a:prstGeom prst="rect">
            <a:avLst/>
          </a:prstGeom>
          <a:noFill/>
          <a:ln/>
        </p:spPr>
        <p:txBody>
          <a:bodyPr wrap="square" lIns="0" tIns="0" rIns="0" bIns="0" rtlCol="0" anchor="ctr"/>
          <a:lstStyle/>
          <a:p>
            <a:pPr indent="0" marL="0">
              <a:buNone/>
            </a:pPr>
            <a:r>
              <a:rPr lang="en-US" sz="1400" b="1" dirty="0">
                <a:solidFill>
                  <a:srgbClr val="202124"/>
                </a:solidFill>
                <a:latin typeface="Roboto Mono" pitchFamily="34" charset="0"/>
                <a:ea typeface="Roboto Mono" pitchFamily="34" charset="-122"/>
                <a:cs typeface="Roboto Mono" pitchFamily="34" charset="-120"/>
              </a:rPr>
              <a:t>veo_prompt</a:t>
            </a:r>
            <a:endParaRPr lang="en-US" sz="1400" dirty="0"/>
          </a:p>
        </p:txBody>
      </p:sp>
      <p:sp>
        <p:nvSpPr>
          <p:cNvPr id="24" name="Text 18"/>
          <p:cNvSpPr txBox="1"/>
          <p:nvPr/>
        </p:nvSpPr>
        <p:spPr>
          <a:xfrm>
            <a:off x="1280160" y="2514600"/>
            <a:ext cx="1737360" cy="274320"/>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Hareketin tarifi (Gemini)</a:t>
            </a:r>
            <a:endParaRPr lang="en-US" sz="1050" dirty="0"/>
          </a:p>
        </p:txBody>
      </p:sp>
      <p:sp>
        <p:nvSpPr>
          <p:cNvPr id="25" name="Shape 19"/>
          <p:cNvSpPr/>
          <p:nvPr/>
        </p:nvSpPr>
        <p:spPr>
          <a:xfrm>
            <a:off x="457200" y="3200400"/>
            <a:ext cx="2651760" cy="1051560"/>
          </a:xfrm>
          <a:prstGeom prst="roundRect">
            <a:avLst>
              <a:gd name="adj" fmla="val 869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6" name="Shape 20"/>
          <p:cNvSpPr/>
          <p:nvPr/>
        </p:nvSpPr>
        <p:spPr>
          <a:xfrm>
            <a:off x="621792" y="3456432"/>
            <a:ext cx="530352" cy="530352"/>
          </a:xfrm>
          <a:prstGeom prst="ellipse">
            <a:avLst/>
          </a:prstGeom>
          <a:solidFill>
            <a:srgbClr val="FEF7E0"/>
          </a:solidFill>
          <a:ln w="12700">
            <a:solidFill>
              <a:srgbClr val="FEF7E0"/>
            </a:solidFill>
            <a:prstDash val="solid"/>
          </a:ln>
        </p:spPr>
      </p:sp>
      <p:pic>
        <p:nvPicPr>
          <p:cNvPr id="27" name="Image 3" descr="preencoded.png">    </p:cNvPr>
          <p:cNvPicPr>
            <a:picLocks noChangeAspect="1"/>
          </p:cNvPicPr>
          <p:nvPr/>
        </p:nvPicPr>
        <p:blipFill>
          <a:blip r:embed="rId4"/>
          <a:stretch>
            <a:fillRect/>
          </a:stretch>
        </p:blipFill>
        <p:spPr>
          <a:xfrm>
            <a:off x="738469" y="3573109"/>
            <a:ext cx="296997" cy="296997"/>
          </a:xfrm>
          <a:prstGeom prst="rect">
            <a:avLst/>
          </a:prstGeom>
        </p:spPr>
      </p:pic>
      <p:sp>
        <p:nvSpPr>
          <p:cNvPr id="28" name="Text 21"/>
          <p:cNvSpPr txBox="1"/>
          <p:nvPr/>
        </p:nvSpPr>
        <p:spPr>
          <a:xfrm>
            <a:off x="1280160" y="3429000"/>
            <a:ext cx="1737360" cy="292608"/>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Avatar</a:t>
            </a:r>
            <a:endParaRPr lang="en-US" sz="1400" dirty="0"/>
          </a:p>
        </p:txBody>
      </p:sp>
      <p:sp>
        <p:nvSpPr>
          <p:cNvPr id="29" name="Text 22"/>
          <p:cNvSpPr txBox="1"/>
          <p:nvPr/>
        </p:nvSpPr>
        <p:spPr>
          <a:xfrm>
            <a:off x="1280160" y="3749040"/>
            <a:ext cx="1737360" cy="274320"/>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Görsel kimlik (Nano Banana)</a:t>
            </a:r>
            <a:endParaRPr lang="en-US" sz="1050" dirty="0"/>
          </a:p>
        </p:txBody>
      </p:sp>
      <p:sp>
        <p:nvSpPr>
          <p:cNvPr id="30" name="Text 23"/>
          <p:cNvSpPr txBox="1"/>
          <p:nvPr/>
        </p:nvSpPr>
        <p:spPr>
          <a:xfrm>
            <a:off x="3154680" y="2834640"/>
            <a:ext cx="457200" cy="457200"/>
          </a:xfrm>
          <a:prstGeom prst="rect">
            <a:avLst/>
          </a:prstGeom>
          <a:noFill/>
          <a:ln/>
        </p:spPr>
        <p:txBody>
          <a:bodyPr wrap="square" lIns="0" tIns="0" rIns="0" bIns="0" rtlCol="0" anchor="ctr"/>
          <a:lstStyle/>
          <a:p>
            <a:pPr algn="ctr" indent="0" marL="0">
              <a:buNone/>
            </a:pPr>
            <a:r>
              <a:rPr lang="en-US" sz="2200" dirty="0">
                <a:solidFill>
                  <a:srgbClr val="5F6368"/>
                </a:solidFill>
                <a:latin typeface="Google Sans" pitchFamily="34" charset="0"/>
                <a:ea typeface="Google Sans" pitchFamily="34" charset="-122"/>
                <a:cs typeface="Google Sans" pitchFamily="34" charset="-120"/>
              </a:rPr>
              <a:t>→</a:t>
            </a:r>
            <a:endParaRPr lang="en-US" sz="2200" dirty="0"/>
          </a:p>
        </p:txBody>
      </p:sp>
      <p:sp>
        <p:nvSpPr>
          <p:cNvPr id="31" name="Shape 24"/>
          <p:cNvSpPr/>
          <p:nvPr/>
        </p:nvSpPr>
        <p:spPr>
          <a:xfrm>
            <a:off x="3657600" y="1965960"/>
            <a:ext cx="2194560" cy="2286000"/>
          </a:xfrm>
          <a:prstGeom prst="roundRect">
            <a:avLst>
              <a:gd name="adj" fmla="val 4167"/>
            </a:avLst>
          </a:prstGeom>
          <a:solidFill>
            <a:srgbClr val="E6F4EA"/>
          </a:solidFill>
          <a:ln w="19050">
            <a:solidFill>
              <a:srgbClr val="34A853"/>
            </a:solidFill>
            <a:prstDash val="solid"/>
          </a:ln>
          <a:effectLst>
            <a:outerShdw sx="100000" sy="100000" kx="0" ky="0" algn="bl" rotWithShape="0" blurRad="76200" dist="12700" dir="5400000">
              <a:srgbClr val="000000">
                <a:alpha val="8000"/>
              </a:srgbClr>
            </a:outerShdw>
          </a:effectLst>
        </p:spPr>
      </p:sp>
      <p:pic>
        <p:nvPicPr>
          <p:cNvPr id="32" name="Image 4" descr="preencoded.png">    </p:cNvPr>
          <p:cNvPicPr>
            <a:picLocks noChangeAspect="1"/>
          </p:cNvPicPr>
          <p:nvPr/>
        </p:nvPicPr>
        <p:blipFill>
          <a:blip r:embed="rId5"/>
          <a:stretch>
            <a:fillRect/>
          </a:stretch>
        </p:blipFill>
        <p:spPr>
          <a:xfrm>
            <a:off x="4434840" y="2194560"/>
            <a:ext cx="640080" cy="640080"/>
          </a:xfrm>
          <a:prstGeom prst="rect">
            <a:avLst/>
          </a:prstGeom>
        </p:spPr>
      </p:pic>
      <p:sp>
        <p:nvSpPr>
          <p:cNvPr id="33" name="Text 25"/>
          <p:cNvSpPr txBox="1"/>
          <p:nvPr/>
        </p:nvSpPr>
        <p:spPr>
          <a:xfrm>
            <a:off x="3749040" y="2926080"/>
            <a:ext cx="2011680" cy="320040"/>
          </a:xfrm>
          <a:prstGeom prst="rect">
            <a:avLst/>
          </a:prstGeom>
          <a:noFill/>
          <a:ln/>
        </p:spPr>
        <p:txBody>
          <a:bodyPr wrap="square" lIns="0" tIns="0" rIns="0" bIns="0" rtlCol="0" anchor="ctr"/>
          <a:lstStyle/>
          <a:p>
            <a:pPr algn="ctr" indent="0" marL="0">
              <a:buNone/>
            </a:pPr>
            <a:r>
              <a:rPr lang="en-US" sz="1500" b="1" dirty="0">
                <a:solidFill>
                  <a:srgbClr val="202124"/>
                </a:solidFill>
                <a:latin typeface="Google Sans" pitchFamily="34" charset="0"/>
                <a:ea typeface="Google Sans" pitchFamily="34" charset="-122"/>
                <a:cs typeface="Google Sans" pitchFamily="34" charset="-120"/>
              </a:rPr>
              <a:t>Veo 3.1 Fast</a:t>
            </a:r>
            <a:endParaRPr lang="en-US" sz="1500" dirty="0"/>
          </a:p>
        </p:txBody>
      </p:sp>
      <p:sp>
        <p:nvSpPr>
          <p:cNvPr id="34" name="Text 26"/>
          <p:cNvSpPr txBox="1"/>
          <p:nvPr/>
        </p:nvSpPr>
        <p:spPr>
          <a:xfrm>
            <a:off x="3749040" y="3291840"/>
            <a:ext cx="2011680" cy="640080"/>
          </a:xfrm>
          <a:prstGeom prst="rect">
            <a:avLst/>
          </a:prstGeom>
          <a:noFill/>
          <a:ln/>
        </p:spPr>
        <p:txBody>
          <a:bodyPr wrap="square" lIns="0" tIns="0" rIns="0" bIns="0" rtlCol="0" anchor="t"/>
          <a:lstStyle/>
          <a:p>
            <a:pPr algn="ctr" indent="0" marL="0">
              <a:buNone/>
            </a:pPr>
            <a:r>
              <a:rPr lang="en-US" sz="1100" dirty="0">
                <a:solidFill>
                  <a:srgbClr val="5F6368"/>
                </a:solidFill>
                <a:latin typeface="Google Sans" pitchFamily="34" charset="0"/>
                <a:ea typeface="Google Sans" pitchFamily="34" charset="-122"/>
                <a:cs typeface="Google Sans" pitchFamily="34" charset="-120"/>
              </a:rPr>
              <a:t>8 sn · 16:9</a:t>
            </a:r>
            <a:endParaRPr lang="en-US" sz="1100" dirty="0"/>
          </a:p>
          <a:p>
            <a:pPr algn="ctr" indent="0" marL="0">
              <a:buNone/>
            </a:pPr>
            <a:r>
              <a:rPr lang="en-US" sz="1100" dirty="0">
                <a:solidFill>
                  <a:srgbClr val="5F6368"/>
                </a:solidFill>
                <a:latin typeface="Google Sans" pitchFamily="34" charset="0"/>
                <a:ea typeface="Google Sans" pitchFamily="34" charset="-122"/>
                <a:cs typeface="Google Sans" pitchFamily="34" charset="-120"/>
              </a:rPr>
              <a:t>→ GCS output/</a:t>
            </a:r>
            <a:endParaRPr lang="en-US" sz="1100" dirty="0"/>
          </a:p>
        </p:txBody>
      </p:sp>
      <p:sp>
        <p:nvSpPr>
          <p:cNvPr id="35" name="Shape 27"/>
          <p:cNvSpPr/>
          <p:nvPr/>
        </p:nvSpPr>
        <p:spPr>
          <a:xfrm>
            <a:off x="6126480" y="1965960"/>
            <a:ext cx="2560320" cy="2286000"/>
          </a:xfrm>
          <a:prstGeom prst="roundRect">
            <a:avLst>
              <a:gd name="adj" fmla="val 4000"/>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6" name="Shape 28"/>
          <p:cNvSpPr/>
          <p:nvPr/>
        </p:nvSpPr>
        <p:spPr>
          <a:xfrm>
            <a:off x="6309360" y="2148840"/>
            <a:ext cx="457200" cy="457200"/>
          </a:xfrm>
          <a:prstGeom prst="ellipse">
            <a:avLst/>
          </a:prstGeom>
          <a:solidFill>
            <a:srgbClr val="FCE8E6"/>
          </a:solidFill>
          <a:ln w="12700">
            <a:solidFill>
              <a:srgbClr val="FCE8E6"/>
            </a:solidFill>
            <a:prstDash val="solid"/>
          </a:ln>
        </p:spPr>
      </p:sp>
      <p:pic>
        <p:nvPicPr>
          <p:cNvPr id="37" name="Image 5" descr="preencoded.png">    </p:cNvPr>
          <p:cNvPicPr>
            <a:picLocks noChangeAspect="1"/>
          </p:cNvPicPr>
          <p:nvPr/>
        </p:nvPicPr>
        <p:blipFill>
          <a:blip r:embed="rId6"/>
          <a:stretch>
            <a:fillRect/>
          </a:stretch>
        </p:blipFill>
        <p:spPr>
          <a:xfrm>
            <a:off x="6409944" y="2249424"/>
            <a:ext cx="256032" cy="256032"/>
          </a:xfrm>
          <a:prstGeom prst="rect">
            <a:avLst/>
          </a:prstGeom>
        </p:spPr>
      </p:pic>
      <p:sp>
        <p:nvSpPr>
          <p:cNvPr id="38" name="Text 29"/>
          <p:cNvSpPr txBox="1"/>
          <p:nvPr/>
        </p:nvSpPr>
        <p:spPr>
          <a:xfrm>
            <a:off x="6309360" y="2743200"/>
            <a:ext cx="2240280" cy="32004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Avatar ilk kare değil</a:t>
            </a:r>
            <a:endParaRPr lang="en-US" sz="1400" dirty="0"/>
          </a:p>
        </p:txBody>
      </p:sp>
      <p:sp>
        <p:nvSpPr>
          <p:cNvPr id="39" name="Text 30"/>
          <p:cNvSpPr txBox="1"/>
          <p:nvPr/>
        </p:nvSpPr>
        <p:spPr>
          <a:xfrm>
            <a:off x="6309360" y="3108960"/>
            <a:ext cx="2240280" cy="685800"/>
          </a:xfrm>
          <a:prstGeom prst="rect">
            <a:avLst/>
          </a:prstGeom>
          <a:noFill/>
          <a:ln/>
        </p:spPr>
        <p:txBody>
          <a:bodyPr wrap="square" lIns="0" tIns="0" rIns="0" bIns="0" rtlCol="0" anchor="t"/>
          <a:lstStyle/>
          <a:p>
            <a:pPr indent="0" marL="0">
              <a:buNone/>
            </a:pPr>
            <a:r>
              <a:rPr lang="en-US" sz="1100" dirty="0">
                <a:solidFill>
                  <a:srgbClr val="5F6368"/>
                </a:solidFill>
                <a:latin typeface="Google Sans" pitchFamily="34" charset="0"/>
                <a:ea typeface="Google Sans" pitchFamily="34" charset="-122"/>
                <a:cs typeface="Google Sans" pitchFamily="34" charset="-120"/>
              </a:rPr>
              <a:t>Referans görsel olarak veriliyor: “videodaki karakter böyle görünsün.”</a:t>
            </a:r>
            <a:endParaRPr lang="en-US" sz="1100" dirty="0"/>
          </a:p>
        </p:txBody>
      </p:sp>
      <p:sp>
        <p:nvSpPr>
          <p:cNvPr id="40" name="Text 31"/>
          <p:cNvSpPr txBox="1"/>
          <p:nvPr/>
        </p:nvSpPr>
        <p:spPr>
          <a:xfrm>
            <a:off x="6309360" y="3840480"/>
            <a:ext cx="2240280" cy="274320"/>
          </a:xfrm>
          <a:prstGeom prst="rect">
            <a:avLst/>
          </a:prstGeom>
          <a:noFill/>
          <a:ln/>
        </p:spPr>
        <p:txBody>
          <a:bodyPr wrap="square" lIns="0" tIns="0" rIns="0" bIns="0" rtlCol="0" anchor="ctr"/>
          <a:lstStyle/>
          <a:p>
            <a:pPr indent="0" marL="0">
              <a:buNone/>
            </a:pPr>
            <a:r>
              <a:rPr lang="en-US" sz="1000" dirty="0">
                <a:solidFill>
                  <a:srgbClr val="EA4335"/>
                </a:solidFill>
                <a:latin typeface="Roboto Mono" pitchFamily="34" charset="0"/>
                <a:ea typeface="Roboto Mono" pitchFamily="34" charset="-122"/>
                <a:cs typeface="Roboto Mono" pitchFamily="34" charset="-120"/>
              </a:rPr>
              <a:t>reference_type = ASSET</a:t>
            </a:r>
            <a:endParaRPr lang="en-US" sz="1000" dirty="0"/>
          </a:p>
        </p:txBody>
      </p:sp>
      <p:sp>
        <p:nvSpPr>
          <p:cNvPr id="41" name="Text 32"/>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Veo bağımsız çalışmıyor; önceki aşamaların çıktılarıyla besleniyor.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5623560" cy="0"/>
          </a:xfrm>
          <a:prstGeom prst="line">
            <a:avLst/>
          </a:prstGeom>
          <a:noFill/>
          <a:ln w="38100">
            <a:solidFill>
              <a:srgbClr val="4285F4"/>
            </a:solidFill>
            <a:prstDash val="solid"/>
          </a:ln>
        </p:spPr>
      </p:sp>
      <p:sp>
        <p:nvSpPr>
          <p:cNvPr id="6" name="!!tl_halo"/>
          <p:cNvSpPr/>
          <p:nvPr/>
        </p:nvSpPr>
        <p:spPr>
          <a:xfrm>
            <a:off x="6181344" y="118872"/>
            <a:ext cx="530352" cy="530352"/>
          </a:xfrm>
          <a:prstGeom prst="ellipse">
            <a:avLst/>
          </a:prstGeom>
          <a:solidFill>
            <a:srgbClr val="E6F4EA"/>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9AB00"/>
          </a:solidFill>
          <a:ln w="19050">
            <a:solidFill>
              <a:srgbClr val="F9AB0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263640" y="201168"/>
            <a:ext cx="365760" cy="365760"/>
          </a:xfrm>
          <a:prstGeom prst="ellipse">
            <a:avLst/>
          </a:prstGeom>
          <a:solidFill>
            <a:srgbClr val="34A853"/>
          </a:solidFill>
          <a:ln w="19050">
            <a:solidFill>
              <a:srgbClr val="34A853"/>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b="1" dirty="0">
                <a:solidFill>
                  <a:srgbClr val="34A853"/>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202168" y="265176"/>
            <a:ext cx="237744" cy="237744"/>
          </a:xfrm>
          <a:prstGeom prst="ellipse">
            <a:avLst/>
          </a:prstGeom>
          <a:solidFill>
            <a:srgbClr val="FFFFFF"/>
          </a:solidFill>
          <a:ln w="19050">
            <a:solidFill>
              <a:srgbClr val="DADCE0"/>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dirty="0">
                <a:solidFill>
                  <a:srgbClr val="5F6368"/>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634593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Async, Status &amp; Concurrency</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Bir AI işlemi saniyelerde bitmiyorsa uygulama bunu nasıl yönetir?</a:t>
            </a:r>
            <a:endParaRPr lang="en-US" sz="1400" dirty="0"/>
          </a:p>
        </p:txBody>
      </p:sp>
      <p:sp>
        <p:nvSpPr>
          <p:cNvPr id="20" name="Shape 15"/>
          <p:cNvSpPr/>
          <p:nvPr/>
        </p:nvSpPr>
        <p:spPr>
          <a:xfrm>
            <a:off x="457200" y="1920240"/>
            <a:ext cx="4846320" cy="2514600"/>
          </a:xfrm>
          <a:prstGeom prst="roundRect">
            <a:avLst>
              <a:gd name="adj" fmla="val 363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1" name="Text 16"/>
          <p:cNvSpPr txBox="1"/>
          <p:nvPr/>
        </p:nvSpPr>
        <p:spPr>
          <a:xfrm>
            <a:off x="640080" y="2011680"/>
            <a:ext cx="4480560" cy="274320"/>
          </a:xfrm>
          <a:prstGeom prst="rect">
            <a:avLst/>
          </a:prstGeom>
          <a:noFill/>
          <a:ln/>
        </p:spPr>
        <p:txBody>
          <a:bodyPr wrap="square" lIns="0" tIns="0" rIns="0" bIns="0" rtlCol="0" anchor="ctr"/>
          <a:lstStyle/>
          <a:p>
            <a:pPr indent="0" marL="0">
              <a:buNone/>
            </a:pPr>
            <a:r>
              <a:rPr lang="en-US" sz="1200" b="1" dirty="0">
                <a:solidFill>
                  <a:srgbClr val="5F6368"/>
                </a:solidFill>
                <a:latin typeface="Google Sans" pitchFamily="34" charset="0"/>
                <a:ea typeface="Google Sans" pitchFamily="34" charset="-122"/>
                <a:cs typeface="Google Sans" pitchFamily="34" charset="-120"/>
              </a:rPr>
              <a:t>Aşama süreleri (yaklaşık)</a:t>
            </a:r>
            <a:endParaRPr lang="en-US" sz="1200" dirty="0"/>
          </a:p>
        </p:txBody>
      </p:sp>
      <p:sp>
        <p:nvSpPr>
          <p:cNvPr id="22" name="Text 17"/>
          <p:cNvSpPr txBox="1"/>
          <p:nvPr/>
        </p:nvSpPr>
        <p:spPr>
          <a:xfrm>
            <a:off x="640080" y="2423160"/>
            <a:ext cx="1005840" cy="292608"/>
          </a:xfrm>
          <a:prstGeom prst="rect">
            <a:avLst/>
          </a:prstGeom>
          <a:noFill/>
          <a:ln/>
        </p:spPr>
        <p:txBody>
          <a:bodyPr wrap="square" lIns="0" tIns="0" rIns="0" bIns="0" rtlCol="0" anchor="ctr"/>
          <a:lstStyle/>
          <a:p>
            <a:pPr indent="0" marL="0">
              <a:buNone/>
            </a:pPr>
            <a:r>
              <a:rPr lang="en-US" sz="1100" dirty="0">
                <a:solidFill>
                  <a:srgbClr val="202124"/>
                </a:solidFill>
                <a:latin typeface="Google Sans" pitchFamily="34" charset="0"/>
                <a:ea typeface="Google Sans" pitchFamily="34" charset="-122"/>
                <a:cs typeface="Google Sans" pitchFamily="34" charset="-120"/>
              </a:rPr>
              <a:t>Analyzing</a:t>
            </a:r>
            <a:endParaRPr lang="en-US" sz="1100" dirty="0"/>
          </a:p>
        </p:txBody>
      </p:sp>
      <p:sp>
        <p:nvSpPr>
          <p:cNvPr id="23" name="Shape 18"/>
          <p:cNvSpPr/>
          <p:nvPr/>
        </p:nvSpPr>
        <p:spPr>
          <a:xfrm>
            <a:off x="1691640" y="2478024"/>
            <a:ext cx="228600" cy="182880"/>
          </a:xfrm>
          <a:prstGeom prst="roundRect">
            <a:avLst>
              <a:gd name="adj" fmla="val 25000"/>
            </a:avLst>
          </a:prstGeom>
          <a:solidFill>
            <a:srgbClr val="A142F4"/>
          </a:solidFill>
          <a:ln w="12700">
            <a:solidFill>
              <a:srgbClr val="A142F4"/>
            </a:solidFill>
            <a:prstDash val="solid"/>
          </a:ln>
        </p:spPr>
      </p:sp>
      <p:sp>
        <p:nvSpPr>
          <p:cNvPr id="24" name="Text 19"/>
          <p:cNvSpPr txBox="1"/>
          <p:nvPr/>
        </p:nvSpPr>
        <p:spPr>
          <a:xfrm>
            <a:off x="2011680" y="2423160"/>
            <a:ext cx="914400" cy="292608"/>
          </a:xfrm>
          <a:prstGeom prst="rect">
            <a:avLst/>
          </a:prstGeom>
          <a:noFill/>
          <a:ln/>
        </p:spPr>
        <p:txBody>
          <a:bodyPr wrap="square" lIns="0" tIns="0" rIns="0" bIns="0" rtlCol="0" anchor="ctr"/>
          <a:lstStyle/>
          <a:p>
            <a:pPr indent="0" marL="0">
              <a:buNone/>
            </a:pPr>
            <a:r>
              <a:rPr lang="en-US" sz="1000" dirty="0">
                <a:solidFill>
                  <a:srgbClr val="5F6368"/>
                </a:solidFill>
                <a:latin typeface="Google Sans" pitchFamily="34" charset="0"/>
                <a:ea typeface="Google Sans" pitchFamily="34" charset="-122"/>
                <a:cs typeface="Google Sans" pitchFamily="34" charset="-120"/>
              </a:rPr>
              <a:t>5–10 sn</a:t>
            </a:r>
            <a:endParaRPr lang="en-US" sz="1000" dirty="0"/>
          </a:p>
        </p:txBody>
      </p:sp>
      <p:sp>
        <p:nvSpPr>
          <p:cNvPr id="25" name="Text 20"/>
          <p:cNvSpPr txBox="1"/>
          <p:nvPr/>
        </p:nvSpPr>
        <p:spPr>
          <a:xfrm>
            <a:off x="640080" y="2880360"/>
            <a:ext cx="1005840" cy="292608"/>
          </a:xfrm>
          <a:prstGeom prst="rect">
            <a:avLst/>
          </a:prstGeom>
          <a:noFill/>
          <a:ln/>
        </p:spPr>
        <p:txBody>
          <a:bodyPr wrap="square" lIns="0" tIns="0" rIns="0" bIns="0" rtlCol="0" anchor="ctr"/>
          <a:lstStyle/>
          <a:p>
            <a:pPr indent="0" marL="0">
              <a:buNone/>
            </a:pPr>
            <a:r>
              <a:rPr lang="en-US" sz="1100" dirty="0">
                <a:solidFill>
                  <a:srgbClr val="202124"/>
                </a:solidFill>
                <a:latin typeface="Google Sans" pitchFamily="34" charset="0"/>
                <a:ea typeface="Google Sans" pitchFamily="34" charset="-122"/>
                <a:cs typeface="Google Sans" pitchFamily="34" charset="-120"/>
              </a:rPr>
              <a:t>Avatar</a:t>
            </a:r>
            <a:endParaRPr lang="en-US" sz="1100" dirty="0"/>
          </a:p>
        </p:txBody>
      </p:sp>
      <p:sp>
        <p:nvSpPr>
          <p:cNvPr id="26" name="Shape 21"/>
          <p:cNvSpPr/>
          <p:nvPr/>
        </p:nvSpPr>
        <p:spPr>
          <a:xfrm>
            <a:off x="1691640" y="2935224"/>
            <a:ext cx="274320" cy="182880"/>
          </a:xfrm>
          <a:prstGeom prst="roundRect">
            <a:avLst>
              <a:gd name="adj" fmla="val 25000"/>
            </a:avLst>
          </a:prstGeom>
          <a:solidFill>
            <a:srgbClr val="F9AB00"/>
          </a:solidFill>
          <a:ln w="12700">
            <a:solidFill>
              <a:srgbClr val="F9AB00"/>
            </a:solidFill>
            <a:prstDash val="solid"/>
          </a:ln>
        </p:spPr>
      </p:sp>
      <p:sp>
        <p:nvSpPr>
          <p:cNvPr id="27" name="Text 22"/>
          <p:cNvSpPr txBox="1"/>
          <p:nvPr/>
        </p:nvSpPr>
        <p:spPr>
          <a:xfrm>
            <a:off x="2057400" y="2880360"/>
            <a:ext cx="914400" cy="292608"/>
          </a:xfrm>
          <a:prstGeom prst="rect">
            <a:avLst/>
          </a:prstGeom>
          <a:noFill/>
          <a:ln/>
        </p:spPr>
        <p:txBody>
          <a:bodyPr wrap="square" lIns="0" tIns="0" rIns="0" bIns="0" rtlCol="0" anchor="ctr"/>
          <a:lstStyle/>
          <a:p>
            <a:pPr indent="0" marL="0">
              <a:buNone/>
            </a:pPr>
            <a:r>
              <a:rPr lang="en-US" sz="1000" dirty="0">
                <a:solidFill>
                  <a:srgbClr val="5F6368"/>
                </a:solidFill>
                <a:latin typeface="Google Sans" pitchFamily="34" charset="0"/>
                <a:ea typeface="Google Sans" pitchFamily="34" charset="-122"/>
                <a:cs typeface="Google Sans" pitchFamily="34" charset="-120"/>
              </a:rPr>
              <a:t>8–12 sn</a:t>
            </a:r>
            <a:endParaRPr lang="en-US" sz="1000" dirty="0"/>
          </a:p>
        </p:txBody>
      </p:sp>
      <p:sp>
        <p:nvSpPr>
          <p:cNvPr id="28" name="Text 23"/>
          <p:cNvSpPr txBox="1"/>
          <p:nvPr/>
        </p:nvSpPr>
        <p:spPr>
          <a:xfrm>
            <a:off x="640080" y="3337560"/>
            <a:ext cx="1005840" cy="292608"/>
          </a:xfrm>
          <a:prstGeom prst="rect">
            <a:avLst/>
          </a:prstGeom>
          <a:noFill/>
          <a:ln/>
        </p:spPr>
        <p:txBody>
          <a:bodyPr wrap="square" lIns="0" tIns="0" rIns="0" bIns="0" rtlCol="0" anchor="ctr"/>
          <a:lstStyle/>
          <a:p>
            <a:pPr indent="0" marL="0">
              <a:buNone/>
            </a:pPr>
            <a:r>
              <a:rPr lang="en-US" sz="1100" dirty="0">
                <a:solidFill>
                  <a:srgbClr val="202124"/>
                </a:solidFill>
                <a:latin typeface="Google Sans" pitchFamily="34" charset="0"/>
                <a:ea typeface="Google Sans" pitchFamily="34" charset="-122"/>
                <a:cs typeface="Google Sans" pitchFamily="34" charset="-120"/>
              </a:rPr>
              <a:t>Video</a:t>
            </a:r>
            <a:endParaRPr lang="en-US" sz="1100" dirty="0"/>
          </a:p>
        </p:txBody>
      </p:sp>
      <p:sp>
        <p:nvSpPr>
          <p:cNvPr id="29" name="Shape 24"/>
          <p:cNvSpPr/>
          <p:nvPr/>
        </p:nvSpPr>
        <p:spPr>
          <a:xfrm>
            <a:off x="1691640" y="3392424"/>
            <a:ext cx="2743200" cy="182880"/>
          </a:xfrm>
          <a:prstGeom prst="roundRect">
            <a:avLst>
              <a:gd name="adj" fmla="val 25000"/>
            </a:avLst>
          </a:prstGeom>
          <a:solidFill>
            <a:srgbClr val="34A853"/>
          </a:solidFill>
          <a:ln w="12700">
            <a:solidFill>
              <a:srgbClr val="34A853"/>
            </a:solidFill>
            <a:prstDash val="solid"/>
          </a:ln>
        </p:spPr>
      </p:sp>
      <p:sp>
        <p:nvSpPr>
          <p:cNvPr id="30" name="Text 25"/>
          <p:cNvSpPr txBox="1"/>
          <p:nvPr/>
        </p:nvSpPr>
        <p:spPr>
          <a:xfrm>
            <a:off x="4526280" y="3337560"/>
            <a:ext cx="914400" cy="292608"/>
          </a:xfrm>
          <a:prstGeom prst="rect">
            <a:avLst/>
          </a:prstGeom>
          <a:noFill/>
          <a:ln/>
        </p:spPr>
        <p:txBody>
          <a:bodyPr wrap="square" lIns="0" tIns="0" rIns="0" bIns="0" rtlCol="0" anchor="ctr"/>
          <a:lstStyle/>
          <a:p>
            <a:pPr indent="0" marL="0">
              <a:buNone/>
            </a:pPr>
            <a:r>
              <a:rPr lang="en-US" sz="1000" dirty="0">
                <a:solidFill>
                  <a:srgbClr val="5F6368"/>
                </a:solidFill>
                <a:latin typeface="Google Sans" pitchFamily="34" charset="0"/>
                <a:ea typeface="Google Sans" pitchFamily="34" charset="-122"/>
                <a:cs typeface="Google Sans" pitchFamily="34" charset="-120"/>
              </a:rPr>
              <a:t>60–120 sn</a:t>
            </a:r>
            <a:endParaRPr lang="en-US" sz="1000" dirty="0"/>
          </a:p>
        </p:txBody>
      </p:sp>
      <p:sp>
        <p:nvSpPr>
          <p:cNvPr id="31" name="Text 26"/>
          <p:cNvSpPr txBox="1"/>
          <p:nvPr/>
        </p:nvSpPr>
        <p:spPr>
          <a:xfrm>
            <a:off x="640080" y="3794760"/>
            <a:ext cx="1005840" cy="292608"/>
          </a:xfrm>
          <a:prstGeom prst="rect">
            <a:avLst/>
          </a:prstGeom>
          <a:noFill/>
          <a:ln/>
        </p:spPr>
        <p:txBody>
          <a:bodyPr wrap="square" lIns="0" tIns="0" rIns="0" bIns="0" rtlCol="0" anchor="ctr"/>
          <a:lstStyle/>
          <a:p>
            <a:pPr indent="0" marL="0">
              <a:buNone/>
            </a:pPr>
            <a:r>
              <a:rPr lang="en-US" sz="1100" dirty="0">
                <a:solidFill>
                  <a:srgbClr val="202124"/>
                </a:solidFill>
                <a:latin typeface="Google Sans" pitchFamily="34" charset="0"/>
                <a:ea typeface="Google Sans" pitchFamily="34" charset="-122"/>
                <a:cs typeface="Google Sans" pitchFamily="34" charset="-120"/>
              </a:rPr>
              <a:t>Composing</a:t>
            </a:r>
            <a:endParaRPr lang="en-US" sz="1100" dirty="0"/>
          </a:p>
        </p:txBody>
      </p:sp>
      <p:sp>
        <p:nvSpPr>
          <p:cNvPr id="32" name="Shape 27"/>
          <p:cNvSpPr/>
          <p:nvPr/>
        </p:nvSpPr>
        <p:spPr>
          <a:xfrm>
            <a:off x="1691640" y="3849624"/>
            <a:ext cx="228600" cy="182880"/>
          </a:xfrm>
          <a:prstGeom prst="roundRect">
            <a:avLst>
              <a:gd name="adj" fmla="val 25000"/>
            </a:avLst>
          </a:prstGeom>
          <a:solidFill>
            <a:srgbClr val="EA4335"/>
          </a:solidFill>
          <a:ln w="12700">
            <a:solidFill>
              <a:srgbClr val="EA4335"/>
            </a:solidFill>
            <a:prstDash val="solid"/>
          </a:ln>
        </p:spPr>
      </p:sp>
      <p:sp>
        <p:nvSpPr>
          <p:cNvPr id="33" name="Text 28"/>
          <p:cNvSpPr txBox="1"/>
          <p:nvPr/>
        </p:nvSpPr>
        <p:spPr>
          <a:xfrm>
            <a:off x="2011680" y="3794760"/>
            <a:ext cx="914400" cy="292608"/>
          </a:xfrm>
          <a:prstGeom prst="rect">
            <a:avLst/>
          </a:prstGeom>
          <a:noFill/>
          <a:ln/>
        </p:spPr>
        <p:txBody>
          <a:bodyPr wrap="square" lIns="0" tIns="0" rIns="0" bIns="0" rtlCol="0" anchor="ctr"/>
          <a:lstStyle/>
          <a:p>
            <a:pPr indent="0" marL="0">
              <a:buNone/>
            </a:pPr>
            <a:r>
              <a:rPr lang="en-US" sz="1000" dirty="0">
                <a:solidFill>
                  <a:srgbClr val="5F6368"/>
                </a:solidFill>
                <a:latin typeface="Google Sans" pitchFamily="34" charset="0"/>
                <a:ea typeface="Google Sans" pitchFamily="34" charset="-122"/>
                <a:cs typeface="Google Sans" pitchFamily="34" charset="-120"/>
              </a:rPr>
              <a:t>5–10 sn</a:t>
            </a:r>
            <a:endParaRPr lang="en-US" sz="1000" dirty="0"/>
          </a:p>
        </p:txBody>
      </p:sp>
      <p:sp>
        <p:nvSpPr>
          <p:cNvPr id="34" name="Shape 29"/>
          <p:cNvSpPr/>
          <p:nvPr/>
        </p:nvSpPr>
        <p:spPr>
          <a:xfrm>
            <a:off x="5577840" y="1920240"/>
            <a:ext cx="3108960" cy="1143000"/>
          </a:xfrm>
          <a:prstGeom prst="roundRect">
            <a:avLst>
              <a:gd name="adj" fmla="val 8000"/>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5" name="Text 30"/>
          <p:cNvSpPr txBox="1"/>
          <p:nvPr/>
        </p:nvSpPr>
        <p:spPr>
          <a:xfrm>
            <a:off x="5760720" y="2011680"/>
            <a:ext cx="1280160" cy="731520"/>
          </a:xfrm>
          <a:prstGeom prst="rect">
            <a:avLst/>
          </a:prstGeom>
          <a:noFill/>
          <a:ln/>
        </p:spPr>
        <p:txBody>
          <a:bodyPr wrap="square" lIns="0" tIns="0" rIns="0" bIns="0" rtlCol="0" anchor="ctr"/>
          <a:lstStyle/>
          <a:p>
            <a:pPr indent="0" marL="0">
              <a:buNone/>
            </a:pPr>
            <a:r>
              <a:rPr lang="en-US" sz="3600" b="1" dirty="0">
                <a:solidFill>
                  <a:srgbClr val="34A853"/>
                </a:solidFill>
                <a:latin typeface="Google Sans" pitchFamily="34" charset="0"/>
                <a:ea typeface="Google Sans" pitchFamily="34" charset="-122"/>
                <a:cs typeface="Google Sans" pitchFamily="34" charset="-120"/>
              </a:rPr>
              <a:t>3</a:t>
            </a:r>
            <a:endParaRPr lang="en-US" sz="3600" dirty="0"/>
          </a:p>
        </p:txBody>
      </p:sp>
      <p:sp>
        <p:nvSpPr>
          <p:cNvPr id="36" name="Text 31"/>
          <p:cNvSpPr txBox="1"/>
          <p:nvPr/>
        </p:nvSpPr>
        <p:spPr>
          <a:xfrm>
            <a:off x="6949440" y="2103120"/>
            <a:ext cx="1645920" cy="731520"/>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aktif video işi (max)</a:t>
            </a:r>
            <a:endParaRPr lang="en-US" sz="1100" dirty="0"/>
          </a:p>
        </p:txBody>
      </p:sp>
      <p:sp>
        <p:nvSpPr>
          <p:cNvPr id="37" name="Shape 32"/>
          <p:cNvSpPr/>
          <p:nvPr/>
        </p:nvSpPr>
        <p:spPr>
          <a:xfrm>
            <a:off x="5577840" y="3200400"/>
            <a:ext cx="3108960" cy="1143000"/>
          </a:xfrm>
          <a:prstGeom prst="roundRect">
            <a:avLst>
              <a:gd name="adj" fmla="val 8000"/>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8" name="Text 33"/>
          <p:cNvSpPr txBox="1"/>
          <p:nvPr/>
        </p:nvSpPr>
        <p:spPr>
          <a:xfrm>
            <a:off x="5760720" y="3291840"/>
            <a:ext cx="1280160" cy="731520"/>
          </a:xfrm>
          <a:prstGeom prst="rect">
            <a:avLst/>
          </a:prstGeom>
          <a:noFill/>
          <a:ln/>
        </p:spPr>
        <p:txBody>
          <a:bodyPr wrap="square" lIns="0" tIns="0" rIns="0" bIns="0" rtlCol="0" anchor="ctr"/>
          <a:lstStyle/>
          <a:p>
            <a:pPr indent="0" marL="0">
              <a:buNone/>
            </a:pPr>
            <a:r>
              <a:rPr lang="en-US" sz="3600" b="1" dirty="0">
                <a:solidFill>
                  <a:srgbClr val="4285F4"/>
                </a:solidFill>
                <a:latin typeface="Google Sans" pitchFamily="34" charset="0"/>
                <a:ea typeface="Google Sans" pitchFamily="34" charset="-122"/>
                <a:cs typeface="Google Sans" pitchFamily="34" charset="-120"/>
              </a:rPr>
              <a:t>5 sn</a:t>
            </a:r>
            <a:endParaRPr lang="en-US" sz="3600" dirty="0"/>
          </a:p>
        </p:txBody>
      </p:sp>
      <p:sp>
        <p:nvSpPr>
          <p:cNvPr id="39" name="Text 34"/>
          <p:cNvSpPr txBox="1"/>
          <p:nvPr/>
        </p:nvSpPr>
        <p:spPr>
          <a:xfrm>
            <a:off x="6949440" y="3383280"/>
            <a:ext cx="1645920" cy="731520"/>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Veo operation poll aralığı</a:t>
            </a:r>
            <a:endParaRPr lang="en-US" sz="1100" dirty="0"/>
          </a:p>
        </p:txBody>
      </p:sp>
      <p:sp>
        <p:nvSpPr>
          <p:cNvPr id="40" name="Text 35"/>
          <p:cNvSpPr txBox="1"/>
          <p:nvPr/>
        </p:nvSpPr>
        <p:spPr>
          <a:xfrm>
            <a:off x="457200" y="4736592"/>
            <a:ext cx="5760720" cy="274320"/>
          </a:xfrm>
          <a:prstGeom prst="rect">
            <a:avLst/>
          </a:prstGeom>
          <a:noFill/>
          <a:ln/>
        </p:spPr>
        <p:txBody>
          <a:bodyPr wrap="square" lIns="0" tIns="0" rIns="0" bIns="0" rtlCol="0" anchor="ctr"/>
          <a:lstStyle/>
          <a:p>
            <a:pPr indent="0" marL="0">
              <a:buNone/>
            </a:pPr>
            <a:r>
              <a:rPr lang="en-US" sz="1200" i="1" dirty="0">
                <a:solidFill>
                  <a:srgbClr val="4285F4"/>
                </a:solidFill>
                <a:latin typeface="Google Sans" pitchFamily="34" charset="0"/>
                <a:ea typeface="Google Sans" pitchFamily="34" charset="-122"/>
                <a:cs typeface="Google Sans" pitchFamily="34" charset="-120"/>
              </a:rPr>
              <a:t>İki katmanlı polling: backend Veo’yu, frontend backend’i yokluyor.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l_track"/>
          <p:cNvSpPr/>
          <p:nvPr/>
        </p:nvSpPr>
        <p:spPr>
          <a:xfrm>
            <a:off x="822960" y="384048"/>
            <a:ext cx="7498080" cy="0"/>
          </a:xfrm>
          <a:prstGeom prst="line">
            <a:avLst/>
          </a:prstGeom>
          <a:noFill/>
          <a:ln w="25400">
            <a:solidFill>
              <a:srgbClr val="DADCE0"/>
            </a:solidFill>
            <a:prstDash val="solid"/>
          </a:ln>
        </p:spPr>
      </p:sp>
      <p:sp>
        <p:nvSpPr>
          <p:cNvPr id="5" name="!!tl_prog"/>
          <p:cNvSpPr/>
          <p:nvPr/>
        </p:nvSpPr>
        <p:spPr>
          <a:xfrm>
            <a:off x="822960" y="384048"/>
            <a:ext cx="7498080" cy="0"/>
          </a:xfrm>
          <a:prstGeom prst="line">
            <a:avLst/>
          </a:prstGeom>
          <a:noFill/>
          <a:ln w="38100">
            <a:solidFill>
              <a:srgbClr val="4285F4"/>
            </a:solidFill>
            <a:prstDash val="solid"/>
          </a:ln>
        </p:spPr>
      </p:sp>
      <p:sp>
        <p:nvSpPr>
          <p:cNvPr id="6" name="!!tl_halo"/>
          <p:cNvSpPr/>
          <p:nvPr/>
        </p:nvSpPr>
        <p:spPr>
          <a:xfrm>
            <a:off x="8055864" y="118872"/>
            <a:ext cx="530352" cy="530352"/>
          </a:xfrm>
          <a:prstGeom prst="ellipse">
            <a:avLst/>
          </a:prstGeom>
          <a:solidFill>
            <a:srgbClr val="FCE8E6"/>
          </a:solidFill>
          <a:ln w="12700">
            <a:solidFill>
              <a:srgbClr val="F8FAFD"/>
            </a:solidFill>
            <a:prstDash val="solid"/>
          </a:ln>
        </p:spPr>
      </p:sp>
      <p:sp>
        <p:nvSpPr>
          <p:cNvPr id="7" name="!!tl_node0"/>
          <p:cNvSpPr/>
          <p:nvPr/>
        </p:nvSpPr>
        <p:spPr>
          <a:xfrm>
            <a:off x="704088" y="265176"/>
            <a:ext cx="237744" cy="237744"/>
          </a:xfrm>
          <a:prstGeom prst="ellipse">
            <a:avLst/>
          </a:prstGeom>
          <a:solidFill>
            <a:srgbClr val="4285F4"/>
          </a:solidFill>
          <a:ln w="19050">
            <a:solidFill>
              <a:srgbClr val="4285F4"/>
            </a:solidFill>
            <a:prstDash val="solid"/>
          </a:ln>
        </p:spPr>
      </p:sp>
      <p:sp>
        <p:nvSpPr>
          <p:cNvPr id="8" name="!!tl_lbl0"/>
          <p:cNvSpPr txBox="1"/>
          <p:nvPr/>
        </p:nvSpPr>
        <p:spPr>
          <a:xfrm>
            <a:off x="9144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Upload</a:t>
            </a:r>
            <a:endParaRPr lang="en-US" sz="900" dirty="0"/>
          </a:p>
        </p:txBody>
      </p:sp>
      <p:sp>
        <p:nvSpPr>
          <p:cNvPr id="9" name="!!tl_node1"/>
          <p:cNvSpPr/>
          <p:nvPr/>
        </p:nvSpPr>
        <p:spPr>
          <a:xfrm>
            <a:off x="2578608" y="265176"/>
            <a:ext cx="237744" cy="237744"/>
          </a:xfrm>
          <a:prstGeom prst="ellipse">
            <a:avLst/>
          </a:prstGeom>
          <a:solidFill>
            <a:srgbClr val="A142F4"/>
          </a:solidFill>
          <a:ln w="19050">
            <a:solidFill>
              <a:srgbClr val="A142F4"/>
            </a:solidFill>
            <a:prstDash val="solid"/>
          </a:ln>
        </p:spPr>
      </p:sp>
      <p:sp>
        <p:nvSpPr>
          <p:cNvPr id="10" name="!!tl_lbl1"/>
          <p:cNvSpPr txBox="1"/>
          <p:nvPr/>
        </p:nvSpPr>
        <p:spPr>
          <a:xfrm>
            <a:off x="196596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Gemini</a:t>
            </a:r>
            <a:endParaRPr lang="en-US" sz="900" dirty="0"/>
          </a:p>
        </p:txBody>
      </p:sp>
      <p:sp>
        <p:nvSpPr>
          <p:cNvPr id="11" name="!!tl_node2"/>
          <p:cNvSpPr/>
          <p:nvPr/>
        </p:nvSpPr>
        <p:spPr>
          <a:xfrm>
            <a:off x="4453128" y="265176"/>
            <a:ext cx="237744" cy="237744"/>
          </a:xfrm>
          <a:prstGeom prst="ellipse">
            <a:avLst/>
          </a:prstGeom>
          <a:solidFill>
            <a:srgbClr val="F9AB00"/>
          </a:solidFill>
          <a:ln w="19050">
            <a:solidFill>
              <a:srgbClr val="F9AB00"/>
            </a:solidFill>
            <a:prstDash val="solid"/>
          </a:ln>
        </p:spPr>
      </p:sp>
      <p:sp>
        <p:nvSpPr>
          <p:cNvPr id="12" name="!!tl_lbl2"/>
          <p:cNvSpPr txBox="1"/>
          <p:nvPr/>
        </p:nvSpPr>
        <p:spPr>
          <a:xfrm>
            <a:off x="384048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Nano Banana</a:t>
            </a:r>
            <a:endParaRPr lang="en-US" sz="900" dirty="0"/>
          </a:p>
        </p:txBody>
      </p:sp>
      <p:sp>
        <p:nvSpPr>
          <p:cNvPr id="13" name="!!tl_node3"/>
          <p:cNvSpPr/>
          <p:nvPr/>
        </p:nvSpPr>
        <p:spPr>
          <a:xfrm>
            <a:off x="6327648" y="265176"/>
            <a:ext cx="237744" cy="237744"/>
          </a:xfrm>
          <a:prstGeom prst="ellipse">
            <a:avLst/>
          </a:prstGeom>
          <a:solidFill>
            <a:srgbClr val="34A853"/>
          </a:solidFill>
          <a:ln w="19050">
            <a:solidFill>
              <a:srgbClr val="34A853"/>
            </a:solidFill>
            <a:prstDash val="solid"/>
          </a:ln>
        </p:spPr>
      </p:sp>
      <p:sp>
        <p:nvSpPr>
          <p:cNvPr id="14" name="!!tl_lbl3"/>
          <p:cNvSpPr txBox="1"/>
          <p:nvPr/>
        </p:nvSpPr>
        <p:spPr>
          <a:xfrm>
            <a:off x="5715000" y="603504"/>
            <a:ext cx="1463040" cy="201168"/>
          </a:xfrm>
          <a:prstGeom prst="rect">
            <a:avLst/>
          </a:prstGeom>
          <a:noFill/>
          <a:ln/>
        </p:spPr>
        <p:txBody>
          <a:bodyPr wrap="square" lIns="0" tIns="0" rIns="0" bIns="0" rtlCol="0" anchor="ctr"/>
          <a:lstStyle/>
          <a:p>
            <a:pPr algn="ctr" indent="0" marL="0">
              <a:buNone/>
            </a:pPr>
            <a:r>
              <a:rPr lang="en-US" sz="900" dirty="0">
                <a:solidFill>
                  <a:srgbClr val="202124"/>
                </a:solidFill>
                <a:latin typeface="Google Sans" pitchFamily="34" charset="0"/>
                <a:ea typeface="Google Sans" pitchFamily="34" charset="-122"/>
                <a:cs typeface="Google Sans" pitchFamily="34" charset="-120"/>
              </a:rPr>
              <a:t>Veo</a:t>
            </a:r>
            <a:endParaRPr lang="en-US" sz="900" dirty="0"/>
          </a:p>
        </p:txBody>
      </p:sp>
      <p:sp>
        <p:nvSpPr>
          <p:cNvPr id="15" name="!!tl_node4"/>
          <p:cNvSpPr/>
          <p:nvPr/>
        </p:nvSpPr>
        <p:spPr>
          <a:xfrm>
            <a:off x="8138160" y="201168"/>
            <a:ext cx="365760" cy="365760"/>
          </a:xfrm>
          <a:prstGeom prst="ellipse">
            <a:avLst/>
          </a:prstGeom>
          <a:solidFill>
            <a:srgbClr val="EA4335"/>
          </a:solidFill>
          <a:ln w="19050">
            <a:solidFill>
              <a:srgbClr val="EA4335"/>
            </a:solidFill>
            <a:prstDash val="solid"/>
          </a:ln>
        </p:spPr>
      </p:sp>
      <p:sp>
        <p:nvSpPr>
          <p:cNvPr id="16" name="!!tl_lbl4"/>
          <p:cNvSpPr txBox="1"/>
          <p:nvPr/>
        </p:nvSpPr>
        <p:spPr>
          <a:xfrm>
            <a:off x="7589520" y="603504"/>
            <a:ext cx="1463040" cy="201168"/>
          </a:xfrm>
          <a:prstGeom prst="rect">
            <a:avLst/>
          </a:prstGeom>
          <a:noFill/>
          <a:ln/>
        </p:spPr>
        <p:txBody>
          <a:bodyPr wrap="square" lIns="0" tIns="0" rIns="0" bIns="0" rtlCol="0" anchor="ctr"/>
          <a:lstStyle/>
          <a:p>
            <a:pPr algn="ctr" indent="0" marL="0">
              <a:buNone/>
            </a:pPr>
            <a:r>
              <a:rPr lang="en-US" sz="900" b="1" dirty="0">
                <a:solidFill>
                  <a:srgbClr val="EA4335"/>
                </a:solidFill>
                <a:latin typeface="Google Sans" pitchFamily="34" charset="0"/>
                <a:ea typeface="Google Sans" pitchFamily="34" charset="-122"/>
                <a:cs typeface="Google Sans" pitchFamily="34" charset="-120"/>
              </a:rPr>
              <a:t>Share</a:t>
            </a:r>
            <a:endParaRPr lang="en-US" sz="900" dirty="0"/>
          </a:p>
        </p:txBody>
      </p:sp>
      <p:pic>
        <p:nvPicPr>
          <p:cNvPr id="17" name="!!tl_icon" descr="preencoded.png">    </p:cNvPr>
          <p:cNvPicPr>
            <a:picLocks noChangeAspect="1"/>
          </p:cNvPicPr>
          <p:nvPr/>
        </p:nvPicPr>
        <p:blipFill>
          <a:blip r:embed="rId2"/>
          <a:stretch>
            <a:fillRect/>
          </a:stretch>
        </p:blipFill>
        <p:spPr>
          <a:xfrm>
            <a:off x="8220456" y="283464"/>
            <a:ext cx="201168" cy="201168"/>
          </a:xfrm>
          <a:prstGeom prst="rect">
            <a:avLst/>
          </a:prstGeom>
        </p:spPr>
      </p:pic>
      <p:sp>
        <p:nvSpPr>
          <p:cNvPr id="18" name="Text 13"/>
          <p:cNvSpPr txBox="1"/>
          <p:nvPr/>
        </p:nvSpPr>
        <p:spPr>
          <a:xfrm>
            <a:off x="457200" y="96012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From model output to experience</a:t>
            </a:r>
            <a:endParaRPr lang="en-US" sz="2800" dirty="0"/>
          </a:p>
        </p:txBody>
      </p:sp>
      <p:sp>
        <p:nvSpPr>
          <p:cNvPr id="19" name="Text 14"/>
          <p:cNvSpPr txBox="1"/>
          <p:nvPr/>
        </p:nvSpPr>
        <p:spPr>
          <a:xfrm>
            <a:off x="457200" y="1463040"/>
            <a:ext cx="8229600" cy="274320"/>
          </a:xfrm>
          <a:prstGeom prst="rect">
            <a:avLst/>
          </a:prstGeom>
          <a:noFill/>
          <a:ln/>
        </p:spPr>
        <p:txBody>
          <a:bodyPr wrap="square" lIns="0" tIns="0" rIns="0" bIns="0" rtlCol="0" anchor="ctr"/>
          <a:lstStyle/>
          <a:p>
            <a:pPr indent="0" marL="0">
              <a:buNone/>
            </a:pPr>
            <a:r>
              <a:rPr lang="en-US" sz="1400" dirty="0">
                <a:solidFill>
                  <a:srgbClr val="5F6368"/>
                </a:solidFill>
                <a:latin typeface="Google Sans" pitchFamily="34" charset="0"/>
                <a:ea typeface="Google Sans" pitchFamily="34" charset="-122"/>
                <a:cs typeface="Google Sans" pitchFamily="34" charset="-120"/>
              </a:rPr>
              <a:t>Kullanıcının görmek istediği ham model çıktısı değil.</a:t>
            </a:r>
            <a:endParaRPr lang="en-US" sz="1400" dirty="0"/>
          </a:p>
        </p:txBody>
      </p:sp>
      <p:sp>
        <p:nvSpPr>
          <p:cNvPr id="20" name="Shape 15"/>
          <p:cNvSpPr/>
          <p:nvPr/>
        </p:nvSpPr>
        <p:spPr>
          <a:xfrm>
            <a:off x="713232" y="2414016"/>
            <a:ext cx="0" cy="164592"/>
          </a:xfrm>
          <a:prstGeom prst="line">
            <a:avLst/>
          </a:prstGeom>
          <a:noFill/>
          <a:ln w="19050">
            <a:solidFill>
              <a:srgbClr val="DADCE0"/>
            </a:solidFill>
            <a:prstDash val="solid"/>
          </a:ln>
        </p:spPr>
      </p:sp>
      <p:sp>
        <p:nvSpPr>
          <p:cNvPr id="21" name="Shape 16"/>
          <p:cNvSpPr/>
          <p:nvPr/>
        </p:nvSpPr>
        <p:spPr>
          <a:xfrm>
            <a:off x="457200" y="1920240"/>
            <a:ext cx="493776" cy="493776"/>
          </a:xfrm>
          <a:prstGeom prst="ellipse">
            <a:avLst/>
          </a:prstGeom>
          <a:solidFill>
            <a:srgbClr val="E6F4EA"/>
          </a:solidFill>
          <a:ln w="12700">
            <a:solidFill>
              <a:srgbClr val="E6F4EA"/>
            </a:solidFill>
            <a:prstDash val="solid"/>
          </a:ln>
        </p:spPr>
      </p:sp>
      <p:pic>
        <p:nvPicPr>
          <p:cNvPr id="22" name="Image 2" descr="preencoded.png">    </p:cNvPr>
          <p:cNvPicPr>
            <a:picLocks noChangeAspect="1"/>
          </p:cNvPicPr>
          <p:nvPr/>
        </p:nvPicPr>
        <p:blipFill>
          <a:blip r:embed="rId3"/>
          <a:stretch>
            <a:fillRect/>
          </a:stretch>
        </p:blipFill>
        <p:spPr>
          <a:xfrm>
            <a:off x="565831" y="2028871"/>
            <a:ext cx="276515" cy="276515"/>
          </a:xfrm>
          <a:prstGeom prst="rect">
            <a:avLst/>
          </a:prstGeom>
        </p:spPr>
      </p:pic>
      <p:sp>
        <p:nvSpPr>
          <p:cNvPr id="23" name="Text 17"/>
          <p:cNvSpPr txBox="1"/>
          <p:nvPr/>
        </p:nvSpPr>
        <p:spPr>
          <a:xfrm>
            <a:off x="1097280" y="1938528"/>
            <a:ext cx="2377440" cy="256032"/>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Veo çıktısı</a:t>
            </a:r>
            <a:endParaRPr lang="en-US" sz="1400" dirty="0"/>
          </a:p>
        </p:txBody>
      </p:sp>
      <p:sp>
        <p:nvSpPr>
          <p:cNvPr id="24" name="Text 18"/>
          <p:cNvSpPr txBox="1"/>
          <p:nvPr/>
        </p:nvSpPr>
        <p:spPr>
          <a:xfrm>
            <a:off x="1097280" y="2194560"/>
            <a:ext cx="2377440" cy="219456"/>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8 saniye, 16:9</a:t>
            </a:r>
            <a:endParaRPr lang="en-US" sz="1100" dirty="0"/>
          </a:p>
        </p:txBody>
      </p:sp>
      <p:sp>
        <p:nvSpPr>
          <p:cNvPr id="25" name="Shape 19"/>
          <p:cNvSpPr/>
          <p:nvPr/>
        </p:nvSpPr>
        <p:spPr>
          <a:xfrm>
            <a:off x="713232" y="3072384"/>
            <a:ext cx="0" cy="164592"/>
          </a:xfrm>
          <a:prstGeom prst="line">
            <a:avLst/>
          </a:prstGeom>
          <a:noFill/>
          <a:ln w="19050">
            <a:solidFill>
              <a:srgbClr val="DADCE0"/>
            </a:solidFill>
            <a:prstDash val="solid"/>
          </a:ln>
        </p:spPr>
      </p:sp>
      <p:sp>
        <p:nvSpPr>
          <p:cNvPr id="26" name="Shape 20"/>
          <p:cNvSpPr/>
          <p:nvPr/>
        </p:nvSpPr>
        <p:spPr>
          <a:xfrm>
            <a:off x="457200" y="2578608"/>
            <a:ext cx="493776" cy="493776"/>
          </a:xfrm>
          <a:prstGeom prst="ellipse">
            <a:avLst/>
          </a:prstGeom>
          <a:solidFill>
            <a:srgbClr val="FCE8E6"/>
          </a:solidFill>
          <a:ln w="12700">
            <a:solidFill>
              <a:srgbClr val="FCE8E6"/>
            </a:solidFill>
            <a:prstDash val="solid"/>
          </a:ln>
        </p:spPr>
      </p:sp>
      <p:pic>
        <p:nvPicPr>
          <p:cNvPr id="27" name="Image 3" descr="preencoded.png">    </p:cNvPr>
          <p:cNvPicPr>
            <a:picLocks noChangeAspect="1"/>
          </p:cNvPicPr>
          <p:nvPr/>
        </p:nvPicPr>
        <p:blipFill>
          <a:blip r:embed="rId4"/>
          <a:stretch>
            <a:fillRect/>
          </a:stretch>
        </p:blipFill>
        <p:spPr>
          <a:xfrm>
            <a:off x="565831" y="2687239"/>
            <a:ext cx="276515" cy="276515"/>
          </a:xfrm>
          <a:prstGeom prst="rect">
            <a:avLst/>
          </a:prstGeom>
        </p:spPr>
      </p:pic>
      <p:sp>
        <p:nvSpPr>
          <p:cNvPr id="28" name="Text 21"/>
          <p:cNvSpPr txBox="1"/>
          <p:nvPr/>
        </p:nvSpPr>
        <p:spPr>
          <a:xfrm>
            <a:off x="1097280" y="2596896"/>
            <a:ext cx="2377440" cy="256032"/>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Trim</a:t>
            </a:r>
            <a:endParaRPr lang="en-US" sz="1400" dirty="0"/>
          </a:p>
        </p:txBody>
      </p:sp>
      <p:sp>
        <p:nvSpPr>
          <p:cNvPr id="29" name="Text 22"/>
          <p:cNvSpPr txBox="1"/>
          <p:nvPr/>
        </p:nvSpPr>
        <p:spPr>
          <a:xfrm>
            <a:off x="1097280" y="2852928"/>
            <a:ext cx="2377440" cy="219456"/>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ffmpeg ile 3 saniye</a:t>
            </a:r>
            <a:endParaRPr lang="en-US" sz="1100" dirty="0"/>
          </a:p>
        </p:txBody>
      </p:sp>
      <p:sp>
        <p:nvSpPr>
          <p:cNvPr id="30" name="Shape 23"/>
          <p:cNvSpPr/>
          <p:nvPr/>
        </p:nvSpPr>
        <p:spPr>
          <a:xfrm>
            <a:off x="713232" y="3730752"/>
            <a:ext cx="0" cy="164592"/>
          </a:xfrm>
          <a:prstGeom prst="line">
            <a:avLst/>
          </a:prstGeom>
          <a:noFill/>
          <a:ln w="19050">
            <a:solidFill>
              <a:srgbClr val="DADCE0"/>
            </a:solidFill>
            <a:prstDash val="solid"/>
          </a:ln>
        </p:spPr>
      </p:sp>
      <p:sp>
        <p:nvSpPr>
          <p:cNvPr id="31" name="Shape 24"/>
          <p:cNvSpPr/>
          <p:nvPr/>
        </p:nvSpPr>
        <p:spPr>
          <a:xfrm>
            <a:off x="457200" y="3236976"/>
            <a:ext cx="493776" cy="493776"/>
          </a:xfrm>
          <a:prstGeom prst="ellipse">
            <a:avLst/>
          </a:prstGeom>
          <a:solidFill>
            <a:srgbClr val="FCE8E6"/>
          </a:solidFill>
          <a:ln w="12700">
            <a:solidFill>
              <a:srgbClr val="FCE8E6"/>
            </a:solidFill>
            <a:prstDash val="solid"/>
          </a:ln>
        </p:spPr>
      </p:sp>
      <p:pic>
        <p:nvPicPr>
          <p:cNvPr id="32" name="Image 4" descr="preencoded.png">    </p:cNvPr>
          <p:cNvPicPr>
            <a:picLocks noChangeAspect="1"/>
          </p:cNvPicPr>
          <p:nvPr/>
        </p:nvPicPr>
        <p:blipFill>
          <a:blip r:embed="rId5"/>
          <a:stretch>
            <a:fillRect/>
          </a:stretch>
        </p:blipFill>
        <p:spPr>
          <a:xfrm>
            <a:off x="565831" y="3345607"/>
            <a:ext cx="276515" cy="276515"/>
          </a:xfrm>
          <a:prstGeom prst="rect">
            <a:avLst/>
          </a:prstGeom>
        </p:spPr>
      </p:pic>
      <p:sp>
        <p:nvSpPr>
          <p:cNvPr id="33" name="Text 25"/>
          <p:cNvSpPr txBox="1"/>
          <p:nvPr/>
        </p:nvSpPr>
        <p:spPr>
          <a:xfrm>
            <a:off x="1097280" y="3255264"/>
            <a:ext cx="2377440" cy="256032"/>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Side-by-side</a:t>
            </a:r>
            <a:endParaRPr lang="en-US" sz="1400" dirty="0"/>
          </a:p>
        </p:txBody>
      </p:sp>
      <p:sp>
        <p:nvSpPr>
          <p:cNvPr id="34" name="Text 26"/>
          <p:cNvSpPr txBox="1"/>
          <p:nvPr/>
        </p:nvSpPr>
        <p:spPr>
          <a:xfrm>
            <a:off x="1097280" y="3511296"/>
            <a:ext cx="2377440" cy="219456"/>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Orijinal | AI</a:t>
            </a:r>
            <a:endParaRPr lang="en-US" sz="1100" dirty="0"/>
          </a:p>
        </p:txBody>
      </p:sp>
      <p:sp>
        <p:nvSpPr>
          <p:cNvPr id="35" name="Shape 27"/>
          <p:cNvSpPr/>
          <p:nvPr/>
        </p:nvSpPr>
        <p:spPr>
          <a:xfrm>
            <a:off x="457200" y="3895344"/>
            <a:ext cx="493776" cy="493776"/>
          </a:xfrm>
          <a:prstGeom prst="ellipse">
            <a:avLst/>
          </a:prstGeom>
          <a:solidFill>
            <a:srgbClr val="FCE8E6"/>
          </a:solidFill>
          <a:ln w="12700">
            <a:solidFill>
              <a:srgbClr val="FCE8E6"/>
            </a:solidFill>
            <a:prstDash val="solid"/>
          </a:ln>
        </p:spPr>
      </p:sp>
      <p:pic>
        <p:nvPicPr>
          <p:cNvPr id="36" name="Image 5" descr="preencoded.png">    </p:cNvPr>
          <p:cNvPicPr>
            <a:picLocks noChangeAspect="1"/>
          </p:cNvPicPr>
          <p:nvPr/>
        </p:nvPicPr>
        <p:blipFill>
          <a:blip r:embed="rId6"/>
          <a:stretch>
            <a:fillRect/>
          </a:stretch>
        </p:blipFill>
        <p:spPr>
          <a:xfrm>
            <a:off x="565831" y="4003975"/>
            <a:ext cx="276515" cy="276515"/>
          </a:xfrm>
          <a:prstGeom prst="rect">
            <a:avLst/>
          </a:prstGeom>
        </p:spPr>
      </p:pic>
      <p:sp>
        <p:nvSpPr>
          <p:cNvPr id="37" name="Text 28"/>
          <p:cNvSpPr txBox="1"/>
          <p:nvPr/>
        </p:nvSpPr>
        <p:spPr>
          <a:xfrm>
            <a:off x="1097280" y="3913632"/>
            <a:ext cx="2377440" cy="256032"/>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QR + paylaşım</a:t>
            </a:r>
            <a:endParaRPr lang="en-US" sz="1400" dirty="0"/>
          </a:p>
        </p:txBody>
      </p:sp>
      <p:sp>
        <p:nvSpPr>
          <p:cNvPr id="38" name="Text 29"/>
          <p:cNvSpPr txBox="1"/>
          <p:nvPr/>
        </p:nvSpPr>
        <p:spPr>
          <a:xfrm>
            <a:off x="1097280" y="4169664"/>
            <a:ext cx="2377440" cy="219456"/>
          </a:xfrm>
          <a:prstGeom prst="rect">
            <a:avLst/>
          </a:prstGeom>
          <a:noFill/>
          <a:ln/>
        </p:spPr>
        <p:txBody>
          <a:bodyPr wrap="square" lIns="0" tIns="0" rIns="0" bIns="0" rtlCol="0" anchor="ctr"/>
          <a:lstStyle/>
          <a:p>
            <a:pPr indent="0" marL="0">
              <a:buNone/>
            </a:pPr>
            <a:r>
              <a:rPr lang="en-US" sz="1100" dirty="0">
                <a:solidFill>
                  <a:srgbClr val="5F6368"/>
                </a:solidFill>
                <a:latin typeface="Google Sans" pitchFamily="34" charset="0"/>
                <a:ea typeface="Google Sans" pitchFamily="34" charset="-122"/>
                <a:cs typeface="Google Sans" pitchFamily="34" charset="-120"/>
              </a:rPr>
              <a:t>24 saatlik imzalı link</a:t>
            </a:r>
            <a:endParaRPr lang="en-US" sz="1100" dirty="0"/>
          </a:p>
        </p:txBody>
      </p:sp>
      <p:sp>
        <p:nvSpPr>
          <p:cNvPr id="39" name="Shape 30"/>
          <p:cNvSpPr/>
          <p:nvPr/>
        </p:nvSpPr>
        <p:spPr>
          <a:xfrm>
            <a:off x="3749040" y="1920240"/>
            <a:ext cx="4937760" cy="2560320"/>
          </a:xfrm>
          <a:prstGeom prst="roundRect">
            <a:avLst>
              <a:gd name="adj" fmla="val 3571"/>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40" name="Shape 31"/>
          <p:cNvSpPr/>
          <p:nvPr/>
        </p:nvSpPr>
        <p:spPr>
          <a:xfrm>
            <a:off x="3931920" y="2103120"/>
            <a:ext cx="2194560" cy="1920240"/>
          </a:xfrm>
          <a:prstGeom prst="roundRect">
            <a:avLst>
              <a:gd name="adj" fmla="val 3810"/>
            </a:avLst>
          </a:prstGeom>
          <a:solidFill>
            <a:srgbClr val="E8F0FE"/>
          </a:solidFill>
          <a:ln w="19050">
            <a:solidFill>
              <a:srgbClr val="4285F4"/>
            </a:solidFill>
            <a:prstDash val="solid"/>
          </a:ln>
        </p:spPr>
      </p:sp>
      <p:sp>
        <p:nvSpPr>
          <p:cNvPr id="41" name="Shape 32"/>
          <p:cNvSpPr/>
          <p:nvPr/>
        </p:nvSpPr>
        <p:spPr>
          <a:xfrm>
            <a:off x="6309360" y="2103120"/>
            <a:ext cx="2194560" cy="1920240"/>
          </a:xfrm>
          <a:prstGeom prst="roundRect">
            <a:avLst>
              <a:gd name="adj" fmla="val 3810"/>
            </a:avLst>
          </a:prstGeom>
          <a:solidFill>
            <a:srgbClr val="E6F4EA"/>
          </a:solidFill>
          <a:ln w="19050">
            <a:solidFill>
              <a:srgbClr val="34A853"/>
            </a:solidFill>
            <a:prstDash val="solid"/>
          </a:ln>
        </p:spPr>
      </p:sp>
      <p:sp>
        <p:nvSpPr>
          <p:cNvPr id="42" name="Text 33"/>
          <p:cNvSpPr txBox="1"/>
          <p:nvPr/>
        </p:nvSpPr>
        <p:spPr>
          <a:xfrm>
            <a:off x="3931920" y="2880360"/>
            <a:ext cx="2194560" cy="365760"/>
          </a:xfrm>
          <a:prstGeom prst="rect">
            <a:avLst/>
          </a:prstGeom>
          <a:noFill/>
          <a:ln/>
        </p:spPr>
        <p:txBody>
          <a:bodyPr wrap="square" lIns="0" tIns="0" rIns="0" bIns="0" rtlCol="0" anchor="ctr"/>
          <a:lstStyle/>
          <a:p>
            <a:pPr algn="ctr" indent="0" marL="0">
              <a:buNone/>
            </a:pPr>
            <a:r>
              <a:rPr lang="en-US" sz="1400" b="1" dirty="0">
                <a:solidFill>
                  <a:srgbClr val="4285F4"/>
                </a:solidFill>
                <a:latin typeface="Google Sans" pitchFamily="34" charset="0"/>
                <a:ea typeface="Google Sans" pitchFamily="34" charset="-122"/>
                <a:cs typeface="Google Sans" pitchFamily="34" charset="-120"/>
              </a:rPr>
              <a:t>Orijinal</a:t>
            </a:r>
            <a:endParaRPr lang="en-US" sz="1400" dirty="0"/>
          </a:p>
        </p:txBody>
      </p:sp>
      <p:sp>
        <p:nvSpPr>
          <p:cNvPr id="43" name="Text 34"/>
          <p:cNvSpPr txBox="1"/>
          <p:nvPr/>
        </p:nvSpPr>
        <p:spPr>
          <a:xfrm>
            <a:off x="6309360" y="2880360"/>
            <a:ext cx="2194560" cy="365760"/>
          </a:xfrm>
          <a:prstGeom prst="rect">
            <a:avLst/>
          </a:prstGeom>
          <a:noFill/>
          <a:ln/>
        </p:spPr>
        <p:txBody>
          <a:bodyPr wrap="square" lIns="0" tIns="0" rIns="0" bIns="0" rtlCol="0" anchor="ctr"/>
          <a:lstStyle/>
          <a:p>
            <a:pPr algn="ctr" indent="0" marL="0">
              <a:buNone/>
            </a:pPr>
            <a:r>
              <a:rPr lang="en-US" sz="1400" b="1" dirty="0">
                <a:solidFill>
                  <a:srgbClr val="34A853"/>
                </a:solidFill>
                <a:latin typeface="Google Sans" pitchFamily="34" charset="0"/>
                <a:ea typeface="Google Sans" pitchFamily="34" charset="-122"/>
                <a:cs typeface="Google Sans" pitchFamily="34" charset="-120"/>
              </a:rPr>
              <a:t>AI</a:t>
            </a:r>
            <a:endParaRPr lang="en-US" sz="1400" dirty="0"/>
          </a:p>
        </p:txBody>
      </p:sp>
      <p:sp>
        <p:nvSpPr>
          <p:cNvPr id="44" name="Shape 35"/>
          <p:cNvSpPr/>
          <p:nvPr/>
        </p:nvSpPr>
        <p:spPr>
          <a:xfrm>
            <a:off x="3977640" y="4169664"/>
            <a:ext cx="128016" cy="128016"/>
          </a:xfrm>
          <a:prstGeom prst="ellipse">
            <a:avLst/>
          </a:prstGeom>
          <a:solidFill>
            <a:srgbClr val="EA4335"/>
          </a:solidFill>
          <a:ln w="12700">
            <a:solidFill>
              <a:srgbClr val="EA4335"/>
            </a:solidFill>
            <a:prstDash val="solid"/>
          </a:ln>
        </p:spPr>
      </p:sp>
      <p:sp>
        <p:nvSpPr>
          <p:cNvPr id="45" name="Text 36"/>
          <p:cNvSpPr txBox="1"/>
          <p:nvPr/>
        </p:nvSpPr>
        <p:spPr>
          <a:xfrm>
            <a:off x="4206240" y="4114800"/>
            <a:ext cx="4297680" cy="237744"/>
          </a:xfrm>
          <a:prstGeom prst="rect">
            <a:avLst/>
          </a:prstGeom>
          <a:noFill/>
          <a:ln/>
        </p:spPr>
        <p:txBody>
          <a:bodyPr wrap="square" lIns="0" tIns="0" rIns="0" bIns="0" rtlCol="0" anchor="ctr"/>
          <a:lstStyle/>
          <a:p>
            <a:pPr indent="0" marL="0">
              <a:buNone/>
            </a:pPr>
            <a:r>
              <a:rPr lang="en-US" sz="1000" b="1" spc="100" kern="0" dirty="0">
                <a:solidFill>
                  <a:srgbClr val="5F6368"/>
                </a:solidFill>
                <a:latin typeface="Google Sans" pitchFamily="34" charset="0"/>
                <a:ea typeface="Google Sans" pitchFamily="34" charset="-122"/>
                <a:cs typeface="Google Sans" pitchFamily="34" charset="-120"/>
              </a:rPr>
              <a:t>CANLI SONUÇ · gönüllünün videosu buraya</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ext 0"/>
          <p:cNvSpPr txBox="1"/>
          <p:nvPr/>
        </p:nvSpPr>
        <p:spPr>
          <a:xfrm>
            <a:off x="457200" y="36576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Gemini Motion Lab Architecture</a:t>
            </a:r>
            <a:endParaRPr lang="en-US" sz="2800" dirty="0"/>
          </a:p>
        </p:txBody>
      </p:sp>
      <p:sp>
        <p:nvSpPr>
          <p:cNvPr id="5" name="Shape 1"/>
          <p:cNvSpPr/>
          <p:nvPr/>
        </p:nvSpPr>
        <p:spPr>
          <a:xfrm>
            <a:off x="457200" y="1143000"/>
            <a:ext cx="2194560" cy="1828800"/>
          </a:xfrm>
          <a:prstGeom prst="roundRect">
            <a:avLst>
              <a:gd name="adj" fmla="val 5000"/>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6" name="Shape 2"/>
          <p:cNvSpPr/>
          <p:nvPr/>
        </p:nvSpPr>
        <p:spPr>
          <a:xfrm>
            <a:off x="640080" y="1325880"/>
            <a:ext cx="502920" cy="502920"/>
          </a:xfrm>
          <a:prstGeom prst="ellipse">
            <a:avLst/>
          </a:prstGeom>
          <a:solidFill>
            <a:srgbClr val="E8F0FE"/>
          </a:solidFill>
          <a:ln w="12700">
            <a:solidFill>
              <a:srgbClr val="E8F0FE"/>
            </a:solidFill>
            <a:prstDash val="solid"/>
          </a:ln>
        </p:spPr>
      </p:sp>
      <p:pic>
        <p:nvPicPr>
          <p:cNvPr id="7" name="Image 1" descr="preencoded.png">    </p:cNvPr>
          <p:cNvPicPr>
            <a:picLocks noChangeAspect="1"/>
          </p:cNvPicPr>
          <p:nvPr/>
        </p:nvPicPr>
        <p:blipFill>
          <a:blip r:embed="rId2"/>
          <a:stretch>
            <a:fillRect/>
          </a:stretch>
        </p:blipFill>
        <p:spPr>
          <a:xfrm>
            <a:off x="750722" y="1436522"/>
            <a:ext cx="281635" cy="281635"/>
          </a:xfrm>
          <a:prstGeom prst="rect">
            <a:avLst/>
          </a:prstGeom>
        </p:spPr>
      </p:pic>
      <p:sp>
        <p:nvSpPr>
          <p:cNvPr id="8" name="Text 3"/>
          <p:cNvSpPr txBox="1"/>
          <p:nvPr/>
        </p:nvSpPr>
        <p:spPr>
          <a:xfrm>
            <a:off x="640080" y="1920240"/>
            <a:ext cx="1828800" cy="320040"/>
          </a:xfrm>
          <a:prstGeom prst="rect">
            <a:avLst/>
          </a:prstGeom>
          <a:noFill/>
          <a:ln/>
        </p:spPr>
        <p:txBody>
          <a:bodyPr wrap="square" lIns="0" tIns="0" rIns="0" bIns="0" rtlCol="0" anchor="ctr"/>
          <a:lstStyle/>
          <a:p>
            <a:pPr indent="0" marL="0">
              <a:buNone/>
            </a:pPr>
            <a:r>
              <a:rPr lang="en-US" sz="1500" b="1" dirty="0">
                <a:solidFill>
                  <a:srgbClr val="202124"/>
                </a:solidFill>
                <a:latin typeface="Google Sans" pitchFamily="34" charset="0"/>
                <a:ea typeface="Google Sans" pitchFamily="34" charset="-122"/>
                <a:cs typeface="Google Sans" pitchFamily="34" charset="-120"/>
              </a:rPr>
              <a:t>Frontend</a:t>
            </a:r>
            <a:endParaRPr lang="en-US" sz="1500" dirty="0"/>
          </a:p>
        </p:txBody>
      </p:sp>
      <p:sp>
        <p:nvSpPr>
          <p:cNvPr id="9" name="Text 4"/>
          <p:cNvSpPr txBox="1"/>
          <p:nvPr/>
        </p:nvSpPr>
        <p:spPr>
          <a:xfrm>
            <a:off x="640080" y="2240280"/>
            <a:ext cx="1828800" cy="594360"/>
          </a:xfrm>
          <a:prstGeom prst="rect">
            <a:avLst/>
          </a:prstGeom>
          <a:noFill/>
          <a:ln/>
        </p:spPr>
        <p:txBody>
          <a:bodyPr wrap="square" lIns="0" tIns="0" rIns="0" bIns="0" rtlCol="0" anchor="t"/>
          <a:lstStyle/>
          <a:p>
            <a:pPr indent="0" marL="0">
              <a:buNone/>
            </a:pPr>
            <a:r>
              <a:rPr lang="en-US" sz="1100" dirty="0">
                <a:solidFill>
                  <a:srgbClr val="5F6368"/>
                </a:solidFill>
                <a:latin typeface="Google Sans" pitchFamily="34" charset="0"/>
                <a:ea typeface="Google Sans" pitchFamily="34" charset="-122"/>
                <a:cs typeface="Google Sans" pitchFamily="34" charset="-120"/>
              </a:rPr>
              <a:t>React + Vite</a:t>
            </a:r>
            <a:endParaRPr lang="en-US" sz="1100" dirty="0"/>
          </a:p>
          <a:p>
            <a:pPr indent="0" marL="0">
              <a:buNone/>
            </a:pPr>
            <a:r>
              <a:rPr lang="en-US" sz="1100" dirty="0">
                <a:solidFill>
                  <a:srgbClr val="5F6368"/>
                </a:solidFill>
                <a:latin typeface="Google Sans" pitchFamily="34" charset="0"/>
                <a:ea typeface="Google Sans" pitchFamily="34" charset="-122"/>
                <a:cs typeface="Google Sans" pitchFamily="34" charset="-120"/>
              </a:rPr>
              <a:t>Cloud Run</a:t>
            </a:r>
            <a:endParaRPr lang="en-US" sz="1100" dirty="0"/>
          </a:p>
        </p:txBody>
      </p:sp>
      <p:sp>
        <p:nvSpPr>
          <p:cNvPr id="10" name="Text 5"/>
          <p:cNvSpPr txBox="1"/>
          <p:nvPr/>
        </p:nvSpPr>
        <p:spPr>
          <a:xfrm>
            <a:off x="2651760" y="1828800"/>
            <a:ext cx="457200" cy="457200"/>
          </a:xfrm>
          <a:prstGeom prst="rect">
            <a:avLst/>
          </a:prstGeom>
          <a:noFill/>
          <a:ln/>
        </p:spPr>
        <p:txBody>
          <a:bodyPr wrap="square" lIns="0" tIns="0" rIns="0" bIns="0" rtlCol="0" anchor="ctr"/>
          <a:lstStyle/>
          <a:p>
            <a:pPr algn="ctr" indent="0" marL="0">
              <a:buNone/>
            </a:pPr>
            <a:r>
              <a:rPr lang="en-US" sz="2000" dirty="0">
                <a:solidFill>
                  <a:srgbClr val="5F6368"/>
                </a:solidFill>
                <a:latin typeface="Google Sans" pitchFamily="34" charset="0"/>
                <a:ea typeface="Google Sans" pitchFamily="34" charset="-122"/>
                <a:cs typeface="Google Sans" pitchFamily="34" charset="-120"/>
              </a:rPr>
              <a:t>⇄</a:t>
            </a:r>
            <a:endParaRPr lang="en-US" sz="2000" dirty="0"/>
          </a:p>
        </p:txBody>
      </p:sp>
      <p:sp>
        <p:nvSpPr>
          <p:cNvPr id="11" name="Shape 6"/>
          <p:cNvSpPr/>
          <p:nvPr/>
        </p:nvSpPr>
        <p:spPr>
          <a:xfrm>
            <a:off x="3108960" y="1143000"/>
            <a:ext cx="5577840" cy="1828800"/>
          </a:xfrm>
          <a:prstGeom prst="roundRect">
            <a:avLst>
              <a:gd name="adj" fmla="val 5000"/>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12" name="Shape 7"/>
          <p:cNvSpPr/>
          <p:nvPr/>
        </p:nvSpPr>
        <p:spPr>
          <a:xfrm>
            <a:off x="3291840" y="1325880"/>
            <a:ext cx="502920" cy="502920"/>
          </a:xfrm>
          <a:prstGeom prst="ellipse">
            <a:avLst/>
          </a:prstGeom>
          <a:solidFill>
            <a:srgbClr val="E6F4EA"/>
          </a:solidFill>
          <a:ln w="12700">
            <a:solidFill>
              <a:srgbClr val="E6F4EA"/>
            </a:solidFill>
            <a:prstDash val="solid"/>
          </a:ln>
        </p:spPr>
      </p:sp>
      <p:pic>
        <p:nvPicPr>
          <p:cNvPr id="13" name="Image 2" descr="preencoded.png">    </p:cNvPr>
          <p:cNvPicPr>
            <a:picLocks noChangeAspect="1"/>
          </p:cNvPicPr>
          <p:nvPr/>
        </p:nvPicPr>
        <p:blipFill>
          <a:blip r:embed="rId3"/>
          <a:stretch>
            <a:fillRect/>
          </a:stretch>
        </p:blipFill>
        <p:spPr>
          <a:xfrm>
            <a:off x="3402482" y="1436522"/>
            <a:ext cx="281635" cy="281635"/>
          </a:xfrm>
          <a:prstGeom prst="rect">
            <a:avLst/>
          </a:prstGeom>
        </p:spPr>
      </p:pic>
      <p:sp>
        <p:nvSpPr>
          <p:cNvPr id="14" name="Text 8"/>
          <p:cNvSpPr txBox="1"/>
          <p:nvPr/>
        </p:nvSpPr>
        <p:spPr>
          <a:xfrm>
            <a:off x="3931920" y="1325880"/>
            <a:ext cx="1828800" cy="274320"/>
          </a:xfrm>
          <a:prstGeom prst="rect">
            <a:avLst/>
          </a:prstGeom>
          <a:noFill/>
          <a:ln/>
        </p:spPr>
        <p:txBody>
          <a:bodyPr wrap="square" lIns="0" tIns="0" rIns="0" bIns="0" rtlCol="0" anchor="ctr"/>
          <a:lstStyle/>
          <a:p>
            <a:pPr indent="0" marL="0">
              <a:buNone/>
            </a:pPr>
            <a:r>
              <a:rPr lang="en-US" sz="1500" b="1" dirty="0">
                <a:solidFill>
                  <a:srgbClr val="202124"/>
                </a:solidFill>
                <a:latin typeface="Google Sans" pitchFamily="34" charset="0"/>
                <a:ea typeface="Google Sans" pitchFamily="34" charset="-122"/>
                <a:cs typeface="Google Sans" pitchFamily="34" charset="-120"/>
              </a:rPr>
              <a:t>Backend</a:t>
            </a:r>
            <a:endParaRPr lang="en-US" sz="1500" dirty="0"/>
          </a:p>
        </p:txBody>
      </p:sp>
      <p:sp>
        <p:nvSpPr>
          <p:cNvPr id="15" name="Text 9"/>
          <p:cNvSpPr txBox="1"/>
          <p:nvPr/>
        </p:nvSpPr>
        <p:spPr>
          <a:xfrm>
            <a:off x="3931920" y="1600200"/>
            <a:ext cx="4663440" cy="256032"/>
          </a:xfrm>
          <a:prstGeom prst="rect">
            <a:avLst/>
          </a:prstGeom>
          <a:noFill/>
          <a:ln/>
        </p:spPr>
        <p:txBody>
          <a:bodyPr wrap="square" lIns="0" tIns="0" rIns="0" bIns="0" rtlCol="0" anchor="ctr"/>
          <a:lstStyle/>
          <a:p>
            <a:pPr indent="0" marL="0">
              <a:buNone/>
            </a:pPr>
            <a:r>
              <a:rPr lang="en-US" sz="1050" dirty="0">
                <a:solidFill>
                  <a:srgbClr val="5F6368"/>
                </a:solidFill>
                <a:latin typeface="Google Sans" pitchFamily="34" charset="0"/>
                <a:ea typeface="Google Sans" pitchFamily="34" charset="-122"/>
                <a:cs typeface="Google Sans" pitchFamily="34" charset="-120"/>
              </a:rPr>
              <a:t>FastAPI · Cloud Run · 2 GiB (ffmpeg) · min-instances 1</a:t>
            </a:r>
            <a:endParaRPr lang="en-US" sz="1050" dirty="0"/>
          </a:p>
        </p:txBody>
      </p:sp>
      <p:sp>
        <p:nvSpPr>
          <p:cNvPr id="16" name="Shape 10"/>
          <p:cNvSpPr/>
          <p:nvPr/>
        </p:nvSpPr>
        <p:spPr>
          <a:xfrm>
            <a:off x="3291840" y="2011680"/>
            <a:ext cx="1645920" cy="329184"/>
          </a:xfrm>
          <a:prstGeom prst="roundRect">
            <a:avLst>
              <a:gd name="adj" fmla="val 50000"/>
            </a:avLst>
          </a:prstGeom>
          <a:solidFill>
            <a:srgbClr val="E8F0FE"/>
          </a:solidFill>
          <a:ln w="12700">
            <a:solidFill>
              <a:srgbClr val="E8F0FE"/>
            </a:solidFill>
            <a:prstDash val="solid"/>
          </a:ln>
        </p:spPr>
      </p:sp>
      <p:sp>
        <p:nvSpPr>
          <p:cNvPr id="17" name="Text 11"/>
          <p:cNvSpPr txBox="1"/>
          <p:nvPr/>
        </p:nvSpPr>
        <p:spPr>
          <a:xfrm>
            <a:off x="3291840" y="2011680"/>
            <a:ext cx="1645920" cy="329184"/>
          </a:xfrm>
          <a:prstGeom prst="rect">
            <a:avLst/>
          </a:prstGeom>
          <a:noFill/>
          <a:ln/>
        </p:spPr>
        <p:txBody>
          <a:bodyPr wrap="square" lIns="0" tIns="0" rIns="0" bIns="0" rtlCol="0" anchor="ctr"/>
          <a:lstStyle/>
          <a:p>
            <a:pPr algn="ctr" indent="0" marL="0">
              <a:buNone/>
            </a:pPr>
            <a:r>
              <a:rPr lang="en-US" sz="1050" b="1" dirty="0">
                <a:solidFill>
                  <a:srgbClr val="4285F4"/>
                </a:solidFill>
                <a:latin typeface="Google Sans" pitchFamily="34" charset="0"/>
                <a:ea typeface="Google Sans" pitchFamily="34" charset="-122"/>
                <a:cs typeface="Google Sans" pitchFamily="34" charset="-120"/>
              </a:rPr>
              <a:t>Upload</a:t>
            </a:r>
            <a:endParaRPr lang="en-US" sz="1050" dirty="0"/>
          </a:p>
        </p:txBody>
      </p:sp>
      <p:sp>
        <p:nvSpPr>
          <p:cNvPr id="18" name="Shape 12"/>
          <p:cNvSpPr/>
          <p:nvPr/>
        </p:nvSpPr>
        <p:spPr>
          <a:xfrm>
            <a:off x="5074920" y="2011680"/>
            <a:ext cx="1645920" cy="329184"/>
          </a:xfrm>
          <a:prstGeom prst="roundRect">
            <a:avLst>
              <a:gd name="adj" fmla="val 50000"/>
            </a:avLst>
          </a:prstGeom>
          <a:solidFill>
            <a:srgbClr val="F3E8FD"/>
          </a:solidFill>
          <a:ln w="12700">
            <a:solidFill>
              <a:srgbClr val="F3E8FD"/>
            </a:solidFill>
            <a:prstDash val="solid"/>
          </a:ln>
        </p:spPr>
      </p:sp>
      <p:sp>
        <p:nvSpPr>
          <p:cNvPr id="19" name="Text 13"/>
          <p:cNvSpPr txBox="1"/>
          <p:nvPr/>
        </p:nvSpPr>
        <p:spPr>
          <a:xfrm>
            <a:off x="5074920" y="2011680"/>
            <a:ext cx="1645920" cy="329184"/>
          </a:xfrm>
          <a:prstGeom prst="rect">
            <a:avLst/>
          </a:prstGeom>
          <a:noFill/>
          <a:ln/>
        </p:spPr>
        <p:txBody>
          <a:bodyPr wrap="square" lIns="0" tIns="0" rIns="0" bIns="0" rtlCol="0" anchor="ctr"/>
          <a:lstStyle/>
          <a:p>
            <a:pPr algn="ctr" indent="0" marL="0">
              <a:buNone/>
            </a:pPr>
            <a:r>
              <a:rPr lang="en-US" sz="1050" b="1" dirty="0">
                <a:solidFill>
                  <a:srgbClr val="A142F4"/>
                </a:solidFill>
                <a:latin typeface="Google Sans" pitchFamily="34" charset="0"/>
                <a:ea typeface="Google Sans" pitchFamily="34" charset="-122"/>
                <a:cs typeface="Google Sans" pitchFamily="34" charset="-120"/>
              </a:rPr>
              <a:t>Gemini</a:t>
            </a:r>
            <a:endParaRPr lang="en-US" sz="1050" dirty="0"/>
          </a:p>
        </p:txBody>
      </p:sp>
      <p:sp>
        <p:nvSpPr>
          <p:cNvPr id="20" name="Shape 14"/>
          <p:cNvSpPr/>
          <p:nvPr/>
        </p:nvSpPr>
        <p:spPr>
          <a:xfrm>
            <a:off x="6858000" y="2011680"/>
            <a:ext cx="1645920" cy="329184"/>
          </a:xfrm>
          <a:prstGeom prst="roundRect">
            <a:avLst>
              <a:gd name="adj" fmla="val 50000"/>
            </a:avLst>
          </a:prstGeom>
          <a:solidFill>
            <a:srgbClr val="FEF7E0"/>
          </a:solidFill>
          <a:ln w="12700">
            <a:solidFill>
              <a:srgbClr val="FEF7E0"/>
            </a:solidFill>
            <a:prstDash val="solid"/>
          </a:ln>
        </p:spPr>
      </p:sp>
      <p:sp>
        <p:nvSpPr>
          <p:cNvPr id="21" name="Text 15"/>
          <p:cNvSpPr txBox="1"/>
          <p:nvPr/>
        </p:nvSpPr>
        <p:spPr>
          <a:xfrm>
            <a:off x="6858000" y="2011680"/>
            <a:ext cx="1645920" cy="329184"/>
          </a:xfrm>
          <a:prstGeom prst="rect">
            <a:avLst/>
          </a:prstGeom>
          <a:noFill/>
          <a:ln/>
        </p:spPr>
        <p:txBody>
          <a:bodyPr wrap="square" lIns="0" tIns="0" rIns="0" bIns="0" rtlCol="0" anchor="ctr"/>
          <a:lstStyle/>
          <a:p>
            <a:pPr algn="ctr" indent="0" marL="0">
              <a:buNone/>
            </a:pPr>
            <a:r>
              <a:rPr lang="en-US" sz="1050" b="1" dirty="0">
                <a:solidFill>
                  <a:srgbClr val="F9AB00"/>
                </a:solidFill>
                <a:latin typeface="Google Sans" pitchFamily="34" charset="0"/>
                <a:ea typeface="Google Sans" pitchFamily="34" charset="-122"/>
                <a:cs typeface="Google Sans" pitchFamily="34" charset="-120"/>
              </a:rPr>
              <a:t>Avatar</a:t>
            </a:r>
            <a:endParaRPr lang="en-US" sz="1050" dirty="0"/>
          </a:p>
        </p:txBody>
      </p:sp>
      <p:sp>
        <p:nvSpPr>
          <p:cNvPr id="22" name="Shape 16"/>
          <p:cNvSpPr/>
          <p:nvPr/>
        </p:nvSpPr>
        <p:spPr>
          <a:xfrm>
            <a:off x="3291840" y="2423160"/>
            <a:ext cx="1645920" cy="329184"/>
          </a:xfrm>
          <a:prstGeom prst="roundRect">
            <a:avLst>
              <a:gd name="adj" fmla="val 50000"/>
            </a:avLst>
          </a:prstGeom>
          <a:solidFill>
            <a:srgbClr val="E6F4EA"/>
          </a:solidFill>
          <a:ln w="12700">
            <a:solidFill>
              <a:srgbClr val="E6F4EA"/>
            </a:solidFill>
            <a:prstDash val="solid"/>
          </a:ln>
        </p:spPr>
      </p:sp>
      <p:sp>
        <p:nvSpPr>
          <p:cNvPr id="23" name="Text 17"/>
          <p:cNvSpPr txBox="1"/>
          <p:nvPr/>
        </p:nvSpPr>
        <p:spPr>
          <a:xfrm>
            <a:off x="3291840" y="2423160"/>
            <a:ext cx="1645920" cy="329184"/>
          </a:xfrm>
          <a:prstGeom prst="rect">
            <a:avLst/>
          </a:prstGeom>
          <a:noFill/>
          <a:ln/>
        </p:spPr>
        <p:txBody>
          <a:bodyPr wrap="square" lIns="0" tIns="0" rIns="0" bIns="0" rtlCol="0" anchor="ctr"/>
          <a:lstStyle/>
          <a:p>
            <a:pPr algn="ctr" indent="0" marL="0">
              <a:buNone/>
            </a:pPr>
            <a:r>
              <a:rPr lang="en-US" sz="1050" b="1" dirty="0">
                <a:solidFill>
                  <a:srgbClr val="34A853"/>
                </a:solidFill>
                <a:latin typeface="Google Sans" pitchFamily="34" charset="0"/>
                <a:ea typeface="Google Sans" pitchFamily="34" charset="-122"/>
                <a:cs typeface="Google Sans" pitchFamily="34" charset="-120"/>
              </a:rPr>
              <a:t>Veo</a:t>
            </a:r>
            <a:endParaRPr lang="en-US" sz="1050" dirty="0"/>
          </a:p>
        </p:txBody>
      </p:sp>
      <p:sp>
        <p:nvSpPr>
          <p:cNvPr id="24" name="Shape 18"/>
          <p:cNvSpPr/>
          <p:nvPr/>
        </p:nvSpPr>
        <p:spPr>
          <a:xfrm>
            <a:off x="5074920" y="2423160"/>
            <a:ext cx="1645920" cy="329184"/>
          </a:xfrm>
          <a:prstGeom prst="roundRect">
            <a:avLst>
              <a:gd name="adj" fmla="val 50000"/>
            </a:avLst>
          </a:prstGeom>
          <a:solidFill>
            <a:srgbClr val="FCE8E6"/>
          </a:solidFill>
          <a:ln w="12700">
            <a:solidFill>
              <a:srgbClr val="FCE8E6"/>
            </a:solidFill>
            <a:prstDash val="solid"/>
          </a:ln>
        </p:spPr>
      </p:sp>
      <p:sp>
        <p:nvSpPr>
          <p:cNvPr id="25" name="Text 19"/>
          <p:cNvSpPr txBox="1"/>
          <p:nvPr/>
        </p:nvSpPr>
        <p:spPr>
          <a:xfrm>
            <a:off x="5074920" y="2423160"/>
            <a:ext cx="1645920" cy="329184"/>
          </a:xfrm>
          <a:prstGeom prst="rect">
            <a:avLst/>
          </a:prstGeom>
          <a:noFill/>
          <a:ln/>
        </p:spPr>
        <p:txBody>
          <a:bodyPr wrap="square" lIns="0" tIns="0" rIns="0" bIns="0" rtlCol="0" anchor="ctr"/>
          <a:lstStyle/>
          <a:p>
            <a:pPr algn="ctr" indent="0" marL="0">
              <a:buNone/>
            </a:pPr>
            <a:r>
              <a:rPr lang="en-US" sz="1050" b="1" dirty="0">
                <a:solidFill>
                  <a:srgbClr val="EA4335"/>
                </a:solidFill>
                <a:latin typeface="Google Sans" pitchFamily="34" charset="0"/>
                <a:ea typeface="Google Sans" pitchFamily="34" charset="-122"/>
                <a:cs typeface="Google Sans" pitchFamily="34" charset="-120"/>
              </a:rPr>
              <a:t>Trim+Compose</a:t>
            </a:r>
            <a:endParaRPr lang="en-US" sz="1050" dirty="0"/>
          </a:p>
        </p:txBody>
      </p:sp>
      <p:sp>
        <p:nvSpPr>
          <p:cNvPr id="26" name="Shape 20"/>
          <p:cNvSpPr/>
          <p:nvPr/>
        </p:nvSpPr>
        <p:spPr>
          <a:xfrm>
            <a:off x="6858000" y="2423160"/>
            <a:ext cx="1645920" cy="329184"/>
          </a:xfrm>
          <a:prstGeom prst="roundRect">
            <a:avLst>
              <a:gd name="adj" fmla="val 50000"/>
            </a:avLst>
          </a:prstGeom>
          <a:solidFill>
            <a:srgbClr val="FCE8E6"/>
          </a:solidFill>
          <a:ln w="12700">
            <a:solidFill>
              <a:srgbClr val="FCE8E6"/>
            </a:solidFill>
            <a:prstDash val="solid"/>
          </a:ln>
        </p:spPr>
      </p:sp>
      <p:sp>
        <p:nvSpPr>
          <p:cNvPr id="27" name="Text 21"/>
          <p:cNvSpPr txBox="1"/>
          <p:nvPr/>
        </p:nvSpPr>
        <p:spPr>
          <a:xfrm>
            <a:off x="6858000" y="2423160"/>
            <a:ext cx="1645920" cy="329184"/>
          </a:xfrm>
          <a:prstGeom prst="rect">
            <a:avLst/>
          </a:prstGeom>
          <a:noFill/>
          <a:ln/>
        </p:spPr>
        <p:txBody>
          <a:bodyPr wrap="square" lIns="0" tIns="0" rIns="0" bIns="0" rtlCol="0" anchor="ctr"/>
          <a:lstStyle/>
          <a:p>
            <a:pPr algn="ctr" indent="0" marL="0">
              <a:buNone/>
            </a:pPr>
            <a:r>
              <a:rPr lang="en-US" sz="1050" b="1" dirty="0">
                <a:solidFill>
                  <a:srgbClr val="EA4335"/>
                </a:solidFill>
                <a:latin typeface="Google Sans" pitchFamily="34" charset="0"/>
                <a:ea typeface="Google Sans" pitchFamily="34" charset="-122"/>
                <a:cs typeface="Google Sans" pitchFamily="34" charset="-120"/>
              </a:rPr>
              <a:t>QR / Share</a:t>
            </a:r>
            <a:endParaRPr lang="en-US" sz="1050" dirty="0"/>
          </a:p>
        </p:txBody>
      </p:sp>
      <p:sp>
        <p:nvSpPr>
          <p:cNvPr id="28" name="Shape 22"/>
          <p:cNvSpPr/>
          <p:nvPr/>
        </p:nvSpPr>
        <p:spPr>
          <a:xfrm>
            <a:off x="3108960" y="3291840"/>
            <a:ext cx="2743200" cy="1097280"/>
          </a:xfrm>
          <a:prstGeom prst="roundRect">
            <a:avLst>
              <a:gd name="adj" fmla="val 833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9" name="Shape 23"/>
          <p:cNvSpPr/>
          <p:nvPr/>
        </p:nvSpPr>
        <p:spPr>
          <a:xfrm>
            <a:off x="3273552" y="3456432"/>
            <a:ext cx="457200" cy="457200"/>
          </a:xfrm>
          <a:prstGeom prst="ellipse">
            <a:avLst/>
          </a:prstGeom>
          <a:solidFill>
            <a:srgbClr val="E8F0FE"/>
          </a:solidFill>
          <a:ln w="12700">
            <a:solidFill>
              <a:srgbClr val="E8F0FE"/>
            </a:solidFill>
            <a:prstDash val="solid"/>
          </a:ln>
        </p:spPr>
      </p:sp>
      <p:pic>
        <p:nvPicPr>
          <p:cNvPr id="30" name="Image 3" descr="preencoded.png">    </p:cNvPr>
          <p:cNvPicPr>
            <a:picLocks noChangeAspect="1"/>
          </p:cNvPicPr>
          <p:nvPr/>
        </p:nvPicPr>
        <p:blipFill>
          <a:blip r:embed="rId4"/>
          <a:stretch>
            <a:fillRect/>
          </a:stretch>
        </p:blipFill>
        <p:spPr>
          <a:xfrm>
            <a:off x="3374136" y="3557016"/>
            <a:ext cx="256032" cy="256032"/>
          </a:xfrm>
          <a:prstGeom prst="rect">
            <a:avLst/>
          </a:prstGeom>
        </p:spPr>
      </p:pic>
      <p:sp>
        <p:nvSpPr>
          <p:cNvPr id="31" name="Text 24"/>
          <p:cNvSpPr txBox="1"/>
          <p:nvPr/>
        </p:nvSpPr>
        <p:spPr>
          <a:xfrm>
            <a:off x="3840480" y="3456432"/>
            <a:ext cx="1920240" cy="27432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Cloud Storage</a:t>
            </a:r>
            <a:endParaRPr lang="en-US" sz="1400" dirty="0"/>
          </a:p>
        </p:txBody>
      </p:sp>
      <p:sp>
        <p:nvSpPr>
          <p:cNvPr id="32" name="Text 25"/>
          <p:cNvSpPr txBox="1"/>
          <p:nvPr/>
        </p:nvSpPr>
        <p:spPr>
          <a:xfrm>
            <a:off x="3273552" y="3977640"/>
            <a:ext cx="2468880" cy="320040"/>
          </a:xfrm>
          <a:prstGeom prst="rect">
            <a:avLst/>
          </a:prstGeom>
          <a:noFill/>
          <a:ln/>
        </p:spPr>
        <p:txBody>
          <a:bodyPr wrap="square" lIns="0" tIns="0" rIns="0" bIns="0" rtlCol="0" anchor="ctr"/>
          <a:lstStyle/>
          <a:p>
            <a:pPr indent="0" marL="0">
              <a:buNone/>
            </a:pPr>
            <a:r>
              <a:rPr lang="en-US" sz="950" dirty="0">
                <a:solidFill>
                  <a:srgbClr val="5F6368"/>
                </a:solidFill>
                <a:latin typeface="Google Sans" pitchFamily="34" charset="0"/>
                <a:ea typeface="Google Sans" pitchFamily="34" charset="-122"/>
                <a:cs typeface="Google Sans" pitchFamily="34" charset="-120"/>
              </a:rPr>
              <a:t>uploads/ · frames/ · avatars/ · output/</a:t>
            </a:r>
            <a:endParaRPr lang="en-US" sz="950" dirty="0"/>
          </a:p>
        </p:txBody>
      </p:sp>
      <p:sp>
        <p:nvSpPr>
          <p:cNvPr id="33" name="Shape 26"/>
          <p:cNvSpPr/>
          <p:nvPr/>
        </p:nvSpPr>
        <p:spPr>
          <a:xfrm>
            <a:off x="5943600" y="3291840"/>
            <a:ext cx="2743200" cy="1097280"/>
          </a:xfrm>
          <a:prstGeom prst="roundRect">
            <a:avLst>
              <a:gd name="adj" fmla="val 8333"/>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34" name="Shape 27"/>
          <p:cNvSpPr/>
          <p:nvPr/>
        </p:nvSpPr>
        <p:spPr>
          <a:xfrm>
            <a:off x="6108192" y="3456432"/>
            <a:ext cx="457200" cy="457200"/>
          </a:xfrm>
          <a:prstGeom prst="ellipse">
            <a:avLst/>
          </a:prstGeom>
          <a:solidFill>
            <a:srgbClr val="F3E8FD"/>
          </a:solidFill>
          <a:ln w="12700">
            <a:solidFill>
              <a:srgbClr val="F3E8FD"/>
            </a:solidFill>
            <a:prstDash val="solid"/>
          </a:ln>
        </p:spPr>
      </p:sp>
      <p:pic>
        <p:nvPicPr>
          <p:cNvPr id="35" name="Image 4" descr="preencoded.png">    </p:cNvPr>
          <p:cNvPicPr>
            <a:picLocks noChangeAspect="1"/>
          </p:cNvPicPr>
          <p:nvPr/>
        </p:nvPicPr>
        <p:blipFill>
          <a:blip r:embed="rId5"/>
          <a:stretch>
            <a:fillRect/>
          </a:stretch>
        </p:blipFill>
        <p:spPr>
          <a:xfrm>
            <a:off x="6208776" y="3557016"/>
            <a:ext cx="256032" cy="256032"/>
          </a:xfrm>
          <a:prstGeom prst="rect">
            <a:avLst/>
          </a:prstGeom>
        </p:spPr>
      </p:pic>
      <p:sp>
        <p:nvSpPr>
          <p:cNvPr id="36" name="Text 28"/>
          <p:cNvSpPr txBox="1"/>
          <p:nvPr/>
        </p:nvSpPr>
        <p:spPr>
          <a:xfrm>
            <a:off x="6675120" y="3456432"/>
            <a:ext cx="1920240" cy="274320"/>
          </a:xfrm>
          <a:prstGeom prst="rect">
            <a:avLst/>
          </a:prstGeom>
          <a:noFill/>
          <a:ln/>
        </p:spPr>
        <p:txBody>
          <a:bodyPr wrap="square" lIns="0" tIns="0" rIns="0" bIns="0" rtlCol="0" anchor="ctr"/>
          <a:lstStyle/>
          <a:p>
            <a:pPr indent="0" marL="0">
              <a:buNone/>
            </a:pPr>
            <a:r>
              <a:rPr lang="en-US" sz="1400" b="1" dirty="0">
                <a:solidFill>
                  <a:srgbClr val="202124"/>
                </a:solidFill>
                <a:latin typeface="Google Sans" pitchFamily="34" charset="0"/>
                <a:ea typeface="Google Sans" pitchFamily="34" charset="-122"/>
                <a:cs typeface="Google Sans" pitchFamily="34" charset="-120"/>
              </a:rPr>
              <a:t>Vertex AI</a:t>
            </a:r>
            <a:endParaRPr lang="en-US" sz="1400" dirty="0"/>
          </a:p>
        </p:txBody>
      </p:sp>
      <p:sp>
        <p:nvSpPr>
          <p:cNvPr id="37" name="Text 29"/>
          <p:cNvSpPr txBox="1"/>
          <p:nvPr/>
        </p:nvSpPr>
        <p:spPr>
          <a:xfrm>
            <a:off x="6108192" y="3977640"/>
            <a:ext cx="2468880" cy="320040"/>
          </a:xfrm>
          <a:prstGeom prst="rect">
            <a:avLst/>
          </a:prstGeom>
          <a:noFill/>
          <a:ln/>
        </p:spPr>
        <p:txBody>
          <a:bodyPr wrap="square" lIns="0" tIns="0" rIns="0" bIns="0" rtlCol="0" anchor="ctr"/>
          <a:lstStyle/>
          <a:p>
            <a:pPr indent="0" marL="0">
              <a:buNone/>
            </a:pPr>
            <a:r>
              <a:rPr lang="en-US" sz="950" dirty="0">
                <a:solidFill>
                  <a:srgbClr val="5F6368"/>
                </a:solidFill>
                <a:latin typeface="Google Sans" pitchFamily="34" charset="0"/>
                <a:ea typeface="Google Sans" pitchFamily="34" charset="-122"/>
                <a:cs typeface="Google Sans" pitchFamily="34" charset="-120"/>
              </a:rPr>
              <a:t>Gemini · Nano Banana · Veo</a:t>
            </a:r>
            <a:endParaRPr lang="en-US" sz="950" dirty="0"/>
          </a:p>
        </p:txBody>
      </p:sp>
      <p:sp>
        <p:nvSpPr>
          <p:cNvPr id="38" name="Text 30"/>
          <p:cNvSpPr txBox="1"/>
          <p:nvPr/>
        </p:nvSpPr>
        <p:spPr>
          <a:xfrm>
            <a:off x="457200" y="3291840"/>
            <a:ext cx="2377440" cy="1097280"/>
          </a:xfrm>
          <a:prstGeom prst="rect">
            <a:avLst/>
          </a:prstGeom>
          <a:noFill/>
          <a:ln/>
        </p:spPr>
        <p:txBody>
          <a:bodyPr wrap="square" lIns="0" tIns="0" rIns="0" bIns="0" rtlCol="0" anchor="t"/>
          <a:lstStyle/>
          <a:p>
            <a:pPr indent="0" marL="0">
              <a:buNone/>
            </a:pPr>
            <a:r>
              <a:rPr lang="en-US" sz="1100" i="1" dirty="0">
                <a:solidFill>
                  <a:srgbClr val="4285F4"/>
                </a:solidFill>
                <a:latin typeface="Google Sans" pitchFamily="34" charset="0"/>
                <a:ea typeface="Google Sans" pitchFamily="34" charset="-122"/>
                <a:cs typeface="Google Sans" pitchFamily="34" charset="-120"/>
              </a:rPr>
              <a:t>Frontend deneyimi, backend orkestrasyonu, storage medyayı, modeller kendi uzmanlıklarını üstleniyor.</a:t>
            </a:r>
            <a:endParaRPr lang="en-US" sz="11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D"/>
        </a:solidFill>
      </p:bgPr>
    </p:bg>
    <p:spTree>
      <p:nvGrpSpPr>
        <p:cNvPr id="1" name=""/>
        <p:cNvGrpSpPr/>
        <p:nvPr/>
      </p:nvGrpSpPr>
      <p:grpSpPr>
        <a:xfrm>
          <a:off x="0" y="0"/>
          <a:ext cx="0" cy="0"/>
          <a:chOff x="0" y="0"/>
          <a:chExt cx="0" cy="0"/>
        </a:xfrm>
      </p:grpSpPr>
      <p:pic>
        <p:nvPicPr>
          <p:cNvPr id="2" name="!!logo" descr="/tmp/claude-0/-home-claude/d5e34c45-44d6-5238-8d7b-e6c7b3c8d5c3/scratchpad/deck/logo_dark.png">    </p:cNvPr>
          <p:cNvPicPr>
            <a:picLocks noChangeAspect="1"/>
          </p:cNvPicPr>
          <p:nvPr/>
        </p:nvPicPr>
        <p:blipFill>
          <a:blip r:embed="rId1"/>
          <a:stretch>
            <a:fillRect/>
          </a:stretch>
        </p:blipFill>
        <p:spPr>
          <a:xfrm>
            <a:off x="6812280" y="4732020"/>
            <a:ext cx="1920240" cy="137160"/>
          </a:xfrm>
          <a:prstGeom prst="rect">
            <a:avLst/>
          </a:prstGeom>
        </p:spPr>
      </p:pic>
      <p:sp>
        <p:nvSpPr>
          <p:cNvPr id="4" name="Text 0"/>
          <p:cNvSpPr txBox="1"/>
          <p:nvPr/>
        </p:nvSpPr>
        <p:spPr>
          <a:xfrm>
            <a:off x="457200" y="365760"/>
            <a:ext cx="8229600" cy="502920"/>
          </a:xfrm>
          <a:prstGeom prst="rect">
            <a:avLst/>
          </a:prstGeom>
          <a:noFill/>
          <a:ln/>
        </p:spPr>
        <p:txBody>
          <a:bodyPr wrap="square" lIns="0" tIns="0" rIns="0" bIns="0" rtlCol="0" anchor="ctr"/>
          <a:lstStyle/>
          <a:p>
            <a:pPr indent="0" marL="0">
              <a:buNone/>
            </a:pPr>
            <a:r>
              <a:rPr lang="en-US" sz="2800" b="1" dirty="0">
                <a:solidFill>
                  <a:srgbClr val="202124"/>
                </a:solidFill>
                <a:latin typeface="Google Sans" pitchFamily="34" charset="0"/>
                <a:ea typeface="Google Sans" pitchFamily="34" charset="-122"/>
                <a:cs typeface="Google Sans" pitchFamily="34" charset="-120"/>
              </a:rPr>
              <a:t>Production Lessons</a:t>
            </a:r>
            <a:endParaRPr lang="en-US" sz="2800" dirty="0"/>
          </a:p>
        </p:txBody>
      </p:sp>
      <p:sp>
        <p:nvSpPr>
          <p:cNvPr id="5" name="Shape 1"/>
          <p:cNvSpPr/>
          <p:nvPr/>
        </p:nvSpPr>
        <p:spPr>
          <a:xfrm>
            <a:off x="457200" y="1097280"/>
            <a:ext cx="2834640" cy="1261872"/>
          </a:xfrm>
          <a:prstGeom prst="roundRect">
            <a:avLst>
              <a:gd name="adj" fmla="val 72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6" name="Shape 2"/>
          <p:cNvSpPr/>
          <p:nvPr/>
        </p:nvSpPr>
        <p:spPr>
          <a:xfrm>
            <a:off x="621792" y="1280160"/>
            <a:ext cx="457200" cy="457200"/>
          </a:xfrm>
          <a:prstGeom prst="ellipse">
            <a:avLst/>
          </a:prstGeom>
          <a:solidFill>
            <a:srgbClr val="E8F0FE"/>
          </a:solidFill>
          <a:ln w="12700">
            <a:solidFill>
              <a:srgbClr val="E8F0FE"/>
            </a:solidFill>
            <a:prstDash val="solid"/>
          </a:ln>
        </p:spPr>
      </p:sp>
      <p:pic>
        <p:nvPicPr>
          <p:cNvPr id="7" name="Image 1" descr="preencoded.png">    </p:cNvPr>
          <p:cNvPicPr>
            <a:picLocks noChangeAspect="1"/>
          </p:cNvPicPr>
          <p:nvPr/>
        </p:nvPicPr>
        <p:blipFill>
          <a:blip r:embed="rId2"/>
          <a:stretch>
            <a:fillRect/>
          </a:stretch>
        </p:blipFill>
        <p:spPr>
          <a:xfrm>
            <a:off x="722376" y="1380744"/>
            <a:ext cx="256032" cy="256032"/>
          </a:xfrm>
          <a:prstGeom prst="rect">
            <a:avLst/>
          </a:prstGeom>
        </p:spPr>
      </p:pic>
      <p:sp>
        <p:nvSpPr>
          <p:cNvPr id="8" name="Text 3"/>
          <p:cNvSpPr txBox="1"/>
          <p:nvPr/>
        </p:nvSpPr>
        <p:spPr>
          <a:xfrm>
            <a:off x="1234440" y="1234440"/>
            <a:ext cx="1920240" cy="548640"/>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Latency is UX</a:t>
            </a:r>
            <a:endParaRPr lang="en-US" sz="1250" dirty="0"/>
          </a:p>
        </p:txBody>
      </p:sp>
      <p:sp>
        <p:nvSpPr>
          <p:cNvPr id="9" name="Text 4"/>
          <p:cNvSpPr txBox="1"/>
          <p:nvPr/>
        </p:nvSpPr>
        <p:spPr>
          <a:xfrm>
            <a:off x="1234440" y="1828800"/>
            <a:ext cx="1920240" cy="438912"/>
          </a:xfrm>
          <a:prstGeom prst="rect">
            <a:avLst/>
          </a:prstGeom>
          <a:noFill/>
          <a:ln/>
        </p:spPr>
        <p:txBody>
          <a:bodyPr wrap="square" lIns="0" tIns="0" rIns="0" bIns="0" rtlCol="0" anchor="t"/>
          <a:lstStyle/>
          <a:p>
            <a:pPr indent="0" marL="0">
              <a:buNone/>
            </a:pPr>
            <a:r>
              <a:rPr lang="en-US" sz="1000" dirty="0">
                <a:solidFill>
                  <a:srgbClr val="5F6368"/>
                </a:solidFill>
                <a:latin typeface="Google Sans" pitchFamily="34" charset="0"/>
                <a:ea typeface="Google Sans" pitchFamily="34" charset="-122"/>
                <a:cs typeface="Google Sans" pitchFamily="34" charset="-120"/>
              </a:rPr>
              <a:t>Beklerken ne gösterdiğiniz de ürünün parçası.</a:t>
            </a:r>
            <a:endParaRPr lang="en-US" sz="1000" dirty="0"/>
          </a:p>
        </p:txBody>
      </p:sp>
      <p:sp>
        <p:nvSpPr>
          <p:cNvPr id="10" name="Shape 5"/>
          <p:cNvSpPr/>
          <p:nvPr/>
        </p:nvSpPr>
        <p:spPr>
          <a:xfrm>
            <a:off x="3474720" y="1097280"/>
            <a:ext cx="2834640" cy="1261872"/>
          </a:xfrm>
          <a:prstGeom prst="roundRect">
            <a:avLst>
              <a:gd name="adj" fmla="val 72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11" name="Shape 6"/>
          <p:cNvSpPr/>
          <p:nvPr/>
        </p:nvSpPr>
        <p:spPr>
          <a:xfrm>
            <a:off x="3639312" y="1280160"/>
            <a:ext cx="457200" cy="457200"/>
          </a:xfrm>
          <a:prstGeom prst="ellipse">
            <a:avLst/>
          </a:prstGeom>
          <a:solidFill>
            <a:srgbClr val="F3E8FD"/>
          </a:solidFill>
          <a:ln w="12700">
            <a:solidFill>
              <a:srgbClr val="F3E8FD"/>
            </a:solidFill>
            <a:prstDash val="solid"/>
          </a:ln>
        </p:spPr>
      </p:sp>
      <p:pic>
        <p:nvPicPr>
          <p:cNvPr id="12" name="Image 2" descr="preencoded.png">    </p:cNvPr>
          <p:cNvPicPr>
            <a:picLocks noChangeAspect="1"/>
          </p:cNvPicPr>
          <p:nvPr/>
        </p:nvPicPr>
        <p:blipFill>
          <a:blip r:embed="rId3"/>
          <a:stretch>
            <a:fillRect/>
          </a:stretch>
        </p:blipFill>
        <p:spPr>
          <a:xfrm>
            <a:off x="3739896" y="1380744"/>
            <a:ext cx="256032" cy="256032"/>
          </a:xfrm>
          <a:prstGeom prst="rect">
            <a:avLst/>
          </a:prstGeom>
        </p:spPr>
      </p:pic>
      <p:sp>
        <p:nvSpPr>
          <p:cNvPr id="13" name="Text 7"/>
          <p:cNvSpPr txBox="1"/>
          <p:nvPr/>
        </p:nvSpPr>
        <p:spPr>
          <a:xfrm>
            <a:off x="4251960" y="1234440"/>
            <a:ext cx="1920240" cy="548640"/>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Async jobs need orchestration</a:t>
            </a:r>
            <a:endParaRPr lang="en-US" sz="1250" dirty="0"/>
          </a:p>
        </p:txBody>
      </p:sp>
      <p:sp>
        <p:nvSpPr>
          <p:cNvPr id="14" name="Text 8"/>
          <p:cNvSpPr txBox="1"/>
          <p:nvPr/>
        </p:nvSpPr>
        <p:spPr>
          <a:xfrm>
            <a:off x="4251960" y="1828800"/>
            <a:ext cx="1920240" cy="438912"/>
          </a:xfrm>
          <a:prstGeom prst="rect">
            <a:avLst/>
          </a:prstGeom>
          <a:noFill/>
          <a:ln/>
        </p:spPr>
        <p:txBody>
          <a:bodyPr wrap="square" lIns="0" tIns="0" rIns="0" bIns="0" rtlCol="0" anchor="t"/>
          <a:lstStyle/>
          <a:p>
            <a:pPr indent="0" marL="0">
              <a:buNone/>
            </a:pPr>
            <a:r>
              <a:rPr lang="en-US" sz="1000" dirty="0">
                <a:solidFill>
                  <a:srgbClr val="5F6368"/>
                </a:solidFill>
                <a:latin typeface="Google Sans" pitchFamily="34" charset="0"/>
                <a:ea typeface="Google Sans" pitchFamily="34" charset="-122"/>
                <a:cs typeface="Google Sans" pitchFamily="34" charset="-120"/>
              </a:rPr>
              <a:t>Status, concurrency, retry AI ile kaybolmuyor.</a:t>
            </a:r>
            <a:endParaRPr lang="en-US" sz="1000" dirty="0"/>
          </a:p>
        </p:txBody>
      </p:sp>
      <p:sp>
        <p:nvSpPr>
          <p:cNvPr id="15" name="Shape 9"/>
          <p:cNvSpPr/>
          <p:nvPr/>
        </p:nvSpPr>
        <p:spPr>
          <a:xfrm>
            <a:off x="457200" y="2514600"/>
            <a:ext cx="2834640" cy="1261872"/>
          </a:xfrm>
          <a:prstGeom prst="roundRect">
            <a:avLst>
              <a:gd name="adj" fmla="val 72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16" name="Shape 10"/>
          <p:cNvSpPr/>
          <p:nvPr/>
        </p:nvSpPr>
        <p:spPr>
          <a:xfrm>
            <a:off x="621792" y="2697480"/>
            <a:ext cx="457200" cy="457200"/>
          </a:xfrm>
          <a:prstGeom prst="ellipse">
            <a:avLst/>
          </a:prstGeom>
          <a:solidFill>
            <a:srgbClr val="FEF7E0"/>
          </a:solidFill>
          <a:ln w="12700">
            <a:solidFill>
              <a:srgbClr val="FEF7E0"/>
            </a:solidFill>
            <a:prstDash val="solid"/>
          </a:ln>
        </p:spPr>
      </p:sp>
      <p:pic>
        <p:nvPicPr>
          <p:cNvPr id="17" name="Image 3" descr="preencoded.png">    </p:cNvPr>
          <p:cNvPicPr>
            <a:picLocks noChangeAspect="1"/>
          </p:cNvPicPr>
          <p:nvPr/>
        </p:nvPicPr>
        <p:blipFill>
          <a:blip r:embed="rId4"/>
          <a:stretch>
            <a:fillRect/>
          </a:stretch>
        </p:blipFill>
        <p:spPr>
          <a:xfrm>
            <a:off x="722376" y="2798064"/>
            <a:ext cx="256032" cy="256032"/>
          </a:xfrm>
          <a:prstGeom prst="rect">
            <a:avLst/>
          </a:prstGeom>
        </p:spPr>
      </p:pic>
      <p:sp>
        <p:nvSpPr>
          <p:cNvPr id="18" name="Text 11"/>
          <p:cNvSpPr txBox="1"/>
          <p:nvPr/>
        </p:nvSpPr>
        <p:spPr>
          <a:xfrm>
            <a:off x="1234440" y="2651760"/>
            <a:ext cx="1920240" cy="548640"/>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Failures need fallbacks</a:t>
            </a:r>
            <a:endParaRPr lang="en-US" sz="1250" dirty="0"/>
          </a:p>
        </p:txBody>
      </p:sp>
      <p:sp>
        <p:nvSpPr>
          <p:cNvPr id="19" name="Text 12"/>
          <p:cNvSpPr txBox="1"/>
          <p:nvPr/>
        </p:nvSpPr>
        <p:spPr>
          <a:xfrm>
            <a:off x="1234440" y="3246120"/>
            <a:ext cx="1920240" cy="438912"/>
          </a:xfrm>
          <a:prstGeom prst="rect">
            <a:avLst/>
          </a:prstGeom>
          <a:noFill/>
          <a:ln/>
        </p:spPr>
        <p:txBody>
          <a:bodyPr wrap="square" lIns="0" tIns="0" rIns="0" bIns="0" rtlCol="0" anchor="t"/>
          <a:lstStyle/>
          <a:p>
            <a:pPr indent="0" marL="0">
              <a:buNone/>
            </a:pPr>
            <a:r>
              <a:rPr lang="en-US" sz="1000" dirty="0">
                <a:solidFill>
                  <a:srgbClr val="5F6368"/>
                </a:solidFill>
                <a:latin typeface="Google Sans" pitchFamily="34" charset="0"/>
                <a:ea typeface="Google Sans" pitchFamily="34" charset="-122"/>
                <a:cs typeface="Google Sans" pitchFamily="34" charset="-120"/>
              </a:rPr>
              <a:t>Safety filtreleri, kota, beklenmeyen çıktılar.</a:t>
            </a:r>
            <a:endParaRPr lang="en-US" sz="1000" dirty="0"/>
          </a:p>
        </p:txBody>
      </p:sp>
      <p:sp>
        <p:nvSpPr>
          <p:cNvPr id="20" name="Shape 13"/>
          <p:cNvSpPr/>
          <p:nvPr/>
        </p:nvSpPr>
        <p:spPr>
          <a:xfrm>
            <a:off x="3474720" y="2514600"/>
            <a:ext cx="2834640" cy="1261872"/>
          </a:xfrm>
          <a:prstGeom prst="roundRect">
            <a:avLst>
              <a:gd name="adj" fmla="val 7246"/>
            </a:avLst>
          </a:prstGeom>
          <a:solidFill>
            <a:srgbClr val="FFFFFF"/>
          </a:solidFill>
          <a:ln w="12700">
            <a:solidFill>
              <a:srgbClr val="E8EAED"/>
            </a:solidFill>
            <a:prstDash val="solid"/>
          </a:ln>
          <a:effectLst>
            <a:outerShdw sx="100000" sy="100000" kx="0" ky="0" algn="bl" rotWithShape="0" blurRad="76200" dist="12700" dir="5400000">
              <a:srgbClr val="000000">
                <a:alpha val="8000"/>
              </a:srgbClr>
            </a:outerShdw>
          </a:effectLst>
        </p:spPr>
      </p:sp>
      <p:sp>
        <p:nvSpPr>
          <p:cNvPr id="21" name="Shape 14"/>
          <p:cNvSpPr/>
          <p:nvPr/>
        </p:nvSpPr>
        <p:spPr>
          <a:xfrm>
            <a:off x="3639312" y="2697480"/>
            <a:ext cx="457200" cy="457200"/>
          </a:xfrm>
          <a:prstGeom prst="ellipse">
            <a:avLst/>
          </a:prstGeom>
          <a:solidFill>
            <a:srgbClr val="E6F4EA"/>
          </a:solidFill>
          <a:ln w="12700">
            <a:solidFill>
              <a:srgbClr val="E6F4EA"/>
            </a:solidFill>
            <a:prstDash val="solid"/>
          </a:ln>
        </p:spPr>
      </p:sp>
      <p:pic>
        <p:nvPicPr>
          <p:cNvPr id="22" name="Image 4" descr="preencoded.png">    </p:cNvPr>
          <p:cNvPicPr>
            <a:picLocks noChangeAspect="1"/>
          </p:cNvPicPr>
          <p:nvPr/>
        </p:nvPicPr>
        <p:blipFill>
          <a:blip r:embed="rId5"/>
          <a:stretch>
            <a:fillRect/>
          </a:stretch>
        </p:blipFill>
        <p:spPr>
          <a:xfrm>
            <a:off x="3739896" y="2798064"/>
            <a:ext cx="256032" cy="256032"/>
          </a:xfrm>
          <a:prstGeom prst="rect">
            <a:avLst/>
          </a:prstGeom>
        </p:spPr>
      </p:pic>
      <p:sp>
        <p:nvSpPr>
          <p:cNvPr id="23" name="Text 15"/>
          <p:cNvSpPr txBox="1"/>
          <p:nvPr/>
        </p:nvSpPr>
        <p:spPr>
          <a:xfrm>
            <a:off x="4251960" y="2651760"/>
            <a:ext cx="1920240" cy="548640"/>
          </a:xfrm>
          <a:prstGeom prst="rect">
            <a:avLst/>
          </a:prstGeom>
          <a:noFill/>
          <a:ln/>
        </p:spPr>
        <p:txBody>
          <a:bodyPr wrap="square" lIns="0" tIns="0" rIns="0" bIns="0" rtlCol="0" anchor="ctr"/>
          <a:lstStyle/>
          <a:p>
            <a:pPr indent="0" marL="0">
              <a:buNone/>
            </a:pPr>
            <a:r>
              <a:rPr lang="en-US" sz="1250" b="1" dirty="0">
                <a:solidFill>
                  <a:srgbClr val="202124"/>
                </a:solidFill>
                <a:latin typeface="Google Sans" pitchFamily="34" charset="0"/>
                <a:ea typeface="Google Sans" pitchFamily="34" charset="-122"/>
                <a:cs typeface="Google Sans" pitchFamily="34" charset="-120"/>
              </a:rPr>
              <a:t>Media needs lifecycle &amp; privacy</a:t>
            </a:r>
            <a:endParaRPr lang="en-US" sz="1250" dirty="0"/>
          </a:p>
        </p:txBody>
      </p:sp>
      <p:sp>
        <p:nvSpPr>
          <p:cNvPr id="24" name="Text 16"/>
          <p:cNvSpPr txBox="1"/>
          <p:nvPr/>
        </p:nvSpPr>
        <p:spPr>
          <a:xfrm>
            <a:off x="4251960" y="3246120"/>
            <a:ext cx="1920240" cy="438912"/>
          </a:xfrm>
          <a:prstGeom prst="rect">
            <a:avLst/>
          </a:prstGeom>
          <a:noFill/>
          <a:ln/>
        </p:spPr>
        <p:txBody>
          <a:bodyPr wrap="square" lIns="0" tIns="0" rIns="0" bIns="0" rtlCol="0" anchor="t"/>
          <a:lstStyle/>
          <a:p>
            <a:pPr indent="0" marL="0">
              <a:buNone/>
            </a:pPr>
            <a:r>
              <a:rPr lang="en-US" sz="1000" dirty="0">
                <a:solidFill>
                  <a:srgbClr val="5F6368"/>
                </a:solidFill>
                <a:latin typeface="Google Sans" pitchFamily="34" charset="0"/>
                <a:ea typeface="Google Sans" pitchFamily="34" charset="-122"/>
                <a:cs typeface="Google Sans" pitchFamily="34" charset="-120"/>
              </a:rPr>
              <a:t>Neyi, ne kadar, kime açık tutuyoruz?</a:t>
            </a:r>
            <a:endParaRPr lang="en-US" sz="1000" dirty="0"/>
          </a:p>
        </p:txBody>
      </p:sp>
      <p:sp>
        <p:nvSpPr>
          <p:cNvPr id="25" name="Shape 17"/>
          <p:cNvSpPr/>
          <p:nvPr/>
        </p:nvSpPr>
        <p:spPr>
          <a:xfrm>
            <a:off x="6675120" y="1097280"/>
            <a:ext cx="2011680" cy="2679192"/>
          </a:xfrm>
          <a:prstGeom prst="roundRect">
            <a:avLst>
              <a:gd name="adj" fmla="val 4545"/>
            </a:avLst>
          </a:prstGeom>
          <a:solidFill>
            <a:srgbClr val="E8F0FE"/>
          </a:solidFill>
          <a:ln w="12700">
            <a:solidFill>
              <a:srgbClr val="E8F0FE"/>
            </a:solidFill>
            <a:prstDash val="solid"/>
          </a:ln>
          <a:effectLst>
            <a:outerShdw sx="100000" sy="100000" kx="0" ky="0" algn="bl" rotWithShape="0" blurRad="76200" dist="12700" dir="5400000">
              <a:srgbClr val="000000">
                <a:alpha val="8000"/>
              </a:srgbClr>
            </a:outerShdw>
          </a:effectLst>
        </p:spPr>
      </p:sp>
      <p:pic>
        <p:nvPicPr>
          <p:cNvPr id="26" name="Image 5" descr="/tmp/claude-0/-home-claude/d5e34c45-44d6-5238-8d7b-e6c7b3c8d5c3/scratchpad/deck/qr_codelab.png">    </p:cNvPr>
          <p:cNvPicPr>
            <a:picLocks noChangeAspect="1"/>
          </p:cNvPicPr>
          <p:nvPr/>
        </p:nvPicPr>
        <p:blipFill>
          <a:blip r:embed="rId6"/>
          <a:stretch>
            <a:fillRect/>
          </a:stretch>
        </p:blipFill>
        <p:spPr>
          <a:xfrm>
            <a:off x="6949440" y="1325880"/>
            <a:ext cx="1463040" cy="1463040"/>
          </a:xfrm>
          <a:prstGeom prst="rect">
            <a:avLst/>
          </a:prstGeom>
        </p:spPr>
      </p:pic>
      <p:sp>
        <p:nvSpPr>
          <p:cNvPr id="27" name="Text 18"/>
          <p:cNvSpPr txBox="1"/>
          <p:nvPr/>
        </p:nvSpPr>
        <p:spPr>
          <a:xfrm>
            <a:off x="6766560" y="2926080"/>
            <a:ext cx="1828800" cy="274320"/>
          </a:xfrm>
          <a:prstGeom prst="rect">
            <a:avLst/>
          </a:prstGeom>
          <a:noFill/>
          <a:ln/>
        </p:spPr>
        <p:txBody>
          <a:bodyPr wrap="square" lIns="0" tIns="0" rIns="0" bIns="0" rtlCol="0" anchor="ctr"/>
          <a:lstStyle/>
          <a:p>
            <a:pPr algn="ctr" indent="0" marL="0">
              <a:buNone/>
            </a:pPr>
            <a:r>
              <a:rPr lang="en-US" sz="1300" b="1" dirty="0">
                <a:solidFill>
                  <a:srgbClr val="202124"/>
                </a:solidFill>
                <a:latin typeface="Google Sans" pitchFamily="34" charset="0"/>
                <a:ea typeface="Google Sans" pitchFamily="34" charset="-122"/>
                <a:cs typeface="Google Sans" pitchFamily="34" charset="-120"/>
              </a:rPr>
              <a:t>Kendin dene</a:t>
            </a:r>
            <a:endParaRPr lang="en-US" sz="1300" dirty="0"/>
          </a:p>
        </p:txBody>
      </p:sp>
      <p:sp>
        <p:nvSpPr>
          <p:cNvPr id="28" name="Text 19"/>
          <p:cNvSpPr txBox="1"/>
          <p:nvPr/>
        </p:nvSpPr>
        <p:spPr>
          <a:xfrm>
            <a:off x="6766560" y="3200400"/>
            <a:ext cx="1828800" cy="274320"/>
          </a:xfrm>
          <a:prstGeom prst="rect">
            <a:avLst/>
          </a:prstGeom>
          <a:noFill/>
          <a:ln/>
        </p:spPr>
        <p:txBody>
          <a:bodyPr wrap="square" lIns="0" tIns="0" rIns="0" bIns="0" rtlCol="0" anchor="ctr"/>
          <a:lstStyle/>
          <a:p>
            <a:pPr algn="ctr" indent="0" marL="0">
              <a:buNone/>
            </a:pPr>
            <a:r>
              <a:rPr lang="en-US" sz="1000" dirty="0">
                <a:solidFill>
                  <a:srgbClr val="5F6368"/>
                </a:solidFill>
                <a:latin typeface="Google Sans" pitchFamily="34" charset="0"/>
                <a:ea typeface="Google Sans" pitchFamily="34" charset="-122"/>
                <a:cs typeface="Google Sans" pitchFamily="34" charset="-120"/>
              </a:rPr>
              <a:t>Gemini Motion Lab codelab</a:t>
            </a:r>
            <a:endParaRPr lang="en-US" sz="1000" dirty="0"/>
          </a:p>
        </p:txBody>
      </p:sp>
      <p:sp>
        <p:nvSpPr>
          <p:cNvPr id="29" name="Text 20"/>
          <p:cNvSpPr txBox="1"/>
          <p:nvPr/>
        </p:nvSpPr>
        <p:spPr>
          <a:xfrm>
            <a:off x="457200" y="4069080"/>
            <a:ext cx="7680960" cy="365760"/>
          </a:xfrm>
          <a:prstGeom prst="rect">
            <a:avLst/>
          </a:prstGeom>
          <a:noFill/>
          <a:ln/>
        </p:spPr>
        <p:txBody>
          <a:bodyPr wrap="square" lIns="0" tIns="0" rIns="0" bIns="0" rtlCol="0" anchor="ctr"/>
          <a:lstStyle/>
          <a:p>
            <a:pPr indent="0" marL="0">
              <a:buNone/>
            </a:pPr>
            <a:r>
              <a:rPr lang="en-US" sz="1400" b="1" dirty="0">
                <a:solidFill>
                  <a:srgbClr val="4285F4"/>
                </a:solidFill>
                <a:latin typeface="Google Sans" pitchFamily="34" charset="0"/>
                <a:ea typeface="Google Sans" pitchFamily="34" charset="-122"/>
                <a:cs typeface="Google Sans" pitchFamily="34" charset="-120"/>
              </a:rPr>
              <a:t>AI modeli uygulamanın tamamı değil. Modeli çevreleyen sistem en az model kadar önemli.</a:t>
            </a:r>
            <a:endParaRPr lang="en-US" sz="14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3" name="photo_01" descr="/tmp/claude-0/-home-claude/d5e34c45-44d6-5238-8d7b-e6c7b3c8d5c3/scratchpad/deck/slide_01.jpg">    </p:cNvPr>
          <p:cNvPicPr>
            <a:picLocks noChangeAspect="1"/>
          </p:cNvPicPr>
          <p:nvPr/>
        </p:nvPicPr>
        <p:blipFill>
          <a:blip r:embed="rId1"/>
          <a:stretch>
            <a:fillRect/>
          </a:stretch>
        </p:blipFill>
        <p:spPr>
          <a:xfrm>
            <a:off x="502920" y="649224"/>
            <a:ext cx="2935224" cy="3840480"/>
          </a:xfrm>
          <a:prstGeom prst="rect">
            <a:avLst/>
          </a:prstGeom>
        </p:spPr>
      </p:pic>
      <p:pic>
        <p:nvPicPr>
          <p:cNvPr id="4" name="photo_02" descr="/tmp/claude-0/-home-claude/d5e34c45-44d6-5238-8d7b-e6c7b3c8d5c3/scratchpad/deck/slide_02.jpg">    </p:cNvPr>
          <p:cNvPicPr>
            <a:picLocks noChangeAspect="1"/>
          </p:cNvPicPr>
          <p:nvPr/>
        </p:nvPicPr>
        <p:blipFill>
          <a:blip r:embed="rId2"/>
          <a:stretch>
            <a:fillRect/>
          </a:stretch>
        </p:blipFill>
        <p:spPr>
          <a:xfrm>
            <a:off x="502920" y="649224"/>
            <a:ext cx="2935224" cy="3840480"/>
          </a:xfrm>
          <a:prstGeom prst="rect">
            <a:avLst/>
          </a:prstGeom>
        </p:spPr>
      </p:pic>
      <p:pic>
        <p:nvPicPr>
          <p:cNvPr id="5" name="photo_03" descr="/tmp/claude-0/-home-claude/d5e34c45-44d6-5238-8d7b-e6c7b3c8d5c3/scratchpad/deck/slide_03.jpg">    </p:cNvPr>
          <p:cNvPicPr>
            <a:picLocks noChangeAspect="1"/>
          </p:cNvPicPr>
          <p:nvPr/>
        </p:nvPicPr>
        <p:blipFill>
          <a:blip r:embed="rId3"/>
          <a:stretch>
            <a:fillRect/>
          </a:stretch>
        </p:blipFill>
        <p:spPr>
          <a:xfrm>
            <a:off x="502920" y="649224"/>
            <a:ext cx="2935224" cy="3840480"/>
          </a:xfrm>
          <a:prstGeom prst="rect">
            <a:avLst/>
          </a:prstGeom>
        </p:spPr>
      </p:pic>
      <p:pic>
        <p:nvPicPr>
          <p:cNvPr id="6" name="photo_04" descr="/tmp/claude-0/-home-claude/d5e34c45-44d6-5238-8d7b-e6c7b3c8d5c3/scratchpad/deck/slide_04.jpg">    </p:cNvPr>
          <p:cNvPicPr>
            <a:picLocks noChangeAspect="1"/>
          </p:cNvPicPr>
          <p:nvPr/>
        </p:nvPicPr>
        <p:blipFill>
          <a:blip r:embed="rId4"/>
          <a:stretch>
            <a:fillRect/>
          </a:stretch>
        </p:blipFill>
        <p:spPr>
          <a:xfrm>
            <a:off x="502920" y="649224"/>
            <a:ext cx="2935224" cy="3840480"/>
          </a:xfrm>
          <a:prstGeom prst="rect">
            <a:avLst/>
          </a:prstGeom>
        </p:spPr>
      </p:pic>
      <p:pic>
        <p:nvPicPr>
          <p:cNvPr id="7" name="photo_05" descr="/tmp/claude-0/-home-claude/d5e34c45-44d6-5238-8d7b-e6c7b3c8d5c3/scratchpad/deck/slide_05.jpg">    </p:cNvPr>
          <p:cNvPicPr>
            <a:picLocks noChangeAspect="1"/>
          </p:cNvPicPr>
          <p:nvPr/>
        </p:nvPicPr>
        <p:blipFill>
          <a:blip r:embed="rId5"/>
          <a:stretch>
            <a:fillRect/>
          </a:stretch>
        </p:blipFill>
        <p:spPr>
          <a:xfrm>
            <a:off x="502920" y="649224"/>
            <a:ext cx="2935224" cy="3840480"/>
          </a:xfrm>
          <a:prstGeom prst="rect">
            <a:avLst/>
          </a:prstGeom>
        </p:spPr>
      </p:pic>
      <p:pic>
        <p:nvPicPr>
          <p:cNvPr id="8" name="photo_06" descr="/tmp/claude-0/-home-claude/d5e34c45-44d6-5238-8d7b-e6c7b3c8d5c3/scratchpad/deck/slide_06.jpg">    </p:cNvPr>
          <p:cNvPicPr>
            <a:picLocks noChangeAspect="1"/>
          </p:cNvPicPr>
          <p:nvPr/>
        </p:nvPicPr>
        <p:blipFill>
          <a:blip r:embed="rId6"/>
          <a:stretch>
            <a:fillRect/>
          </a:stretch>
        </p:blipFill>
        <p:spPr>
          <a:xfrm>
            <a:off x="502920" y="649224"/>
            <a:ext cx="2935224" cy="3840480"/>
          </a:xfrm>
          <a:prstGeom prst="rect">
            <a:avLst/>
          </a:prstGeom>
        </p:spPr>
      </p:pic>
      <p:pic>
        <p:nvPicPr>
          <p:cNvPr id="9" name="photo_07" descr="/tmp/claude-0/-home-claude/d5e34c45-44d6-5238-8d7b-e6c7b3c8d5c3/scratchpad/deck/slide_07.jpg">    </p:cNvPr>
          <p:cNvPicPr>
            <a:picLocks noChangeAspect="1"/>
          </p:cNvPicPr>
          <p:nvPr/>
        </p:nvPicPr>
        <p:blipFill>
          <a:blip r:embed="rId7"/>
          <a:stretch>
            <a:fillRect/>
          </a:stretch>
        </p:blipFill>
        <p:spPr>
          <a:xfrm>
            <a:off x="502920" y="649224"/>
            <a:ext cx="2935224" cy="3840480"/>
          </a:xfrm>
          <a:prstGeom prst="rect">
            <a:avLst/>
          </a:prstGeom>
        </p:spPr>
      </p:pic>
      <p:pic>
        <p:nvPicPr>
          <p:cNvPr id="10" name="photo_08" descr="/tmp/claude-0/-home-claude/d5e34c45-44d6-5238-8d7b-e6c7b3c8d5c3/scratchpad/deck/slide_08.jpg">    </p:cNvPr>
          <p:cNvPicPr>
            <a:picLocks noChangeAspect="1"/>
          </p:cNvPicPr>
          <p:nvPr/>
        </p:nvPicPr>
        <p:blipFill>
          <a:blip r:embed="rId8"/>
          <a:stretch>
            <a:fillRect/>
          </a:stretch>
        </p:blipFill>
        <p:spPr>
          <a:xfrm>
            <a:off x="502920" y="649224"/>
            <a:ext cx="2935224" cy="3840480"/>
          </a:xfrm>
          <a:prstGeom prst="rect">
            <a:avLst/>
          </a:prstGeom>
        </p:spPr>
      </p:pic>
      <p:pic>
        <p:nvPicPr>
          <p:cNvPr id="11" name="photo_09" descr="/tmp/claude-0/-home-claude/d5e34c45-44d6-5238-8d7b-e6c7b3c8d5c3/scratchpad/deck/slide_09.jpg">    </p:cNvPr>
          <p:cNvPicPr>
            <a:picLocks noChangeAspect="1"/>
          </p:cNvPicPr>
          <p:nvPr/>
        </p:nvPicPr>
        <p:blipFill>
          <a:blip r:embed="rId9"/>
          <a:stretch>
            <a:fillRect/>
          </a:stretch>
        </p:blipFill>
        <p:spPr>
          <a:xfrm>
            <a:off x="502920" y="649224"/>
            <a:ext cx="2935224" cy="3840480"/>
          </a:xfrm>
          <a:prstGeom prst="rect">
            <a:avLst/>
          </a:prstGeom>
        </p:spPr>
      </p:pic>
      <p:pic>
        <p:nvPicPr>
          <p:cNvPr id="12" name="photo_10" descr="/tmp/claude-0/-home-claude/d5e34c45-44d6-5238-8d7b-e6c7b3c8d5c3/scratchpad/deck/slide_10.jpg">    </p:cNvPr>
          <p:cNvPicPr>
            <a:picLocks noChangeAspect="1"/>
          </p:cNvPicPr>
          <p:nvPr/>
        </p:nvPicPr>
        <p:blipFill>
          <a:blip r:embed="rId10"/>
          <a:stretch>
            <a:fillRect/>
          </a:stretch>
        </p:blipFill>
        <p:spPr>
          <a:xfrm>
            <a:off x="502920" y="649224"/>
            <a:ext cx="2935224" cy="3840480"/>
          </a:xfrm>
          <a:prstGeom prst="rect">
            <a:avLst/>
          </a:prstGeom>
        </p:spPr>
      </p:pic>
      <p:pic>
        <p:nvPicPr>
          <p:cNvPr id="13" name="photo_11" descr="/tmp/claude-0/-home-claude/d5e34c45-44d6-5238-8d7b-e6c7b3c8d5c3/scratchpad/deck/slide_11.jpg">    </p:cNvPr>
          <p:cNvPicPr>
            <a:picLocks noChangeAspect="1"/>
          </p:cNvPicPr>
          <p:nvPr/>
        </p:nvPicPr>
        <p:blipFill>
          <a:blip r:embed="rId11"/>
          <a:stretch>
            <a:fillRect/>
          </a:stretch>
        </p:blipFill>
        <p:spPr>
          <a:xfrm>
            <a:off x="502920" y="649224"/>
            <a:ext cx="2935224" cy="3840480"/>
          </a:xfrm>
          <a:prstGeom prst="rect">
            <a:avLst/>
          </a:prstGeom>
        </p:spPr>
      </p:pic>
      <p:pic>
        <p:nvPicPr>
          <p:cNvPr id="14" name="photo_12" descr="/tmp/claude-0/-home-claude/d5e34c45-44d6-5238-8d7b-e6c7b3c8d5c3/scratchpad/deck/slide_12.jpg">    </p:cNvPr>
          <p:cNvPicPr>
            <a:picLocks noChangeAspect="1"/>
          </p:cNvPicPr>
          <p:nvPr/>
        </p:nvPicPr>
        <p:blipFill>
          <a:blip r:embed="rId12"/>
          <a:stretch>
            <a:fillRect/>
          </a:stretch>
        </p:blipFill>
        <p:spPr>
          <a:xfrm>
            <a:off x="502920" y="649224"/>
            <a:ext cx="2935224" cy="3840480"/>
          </a:xfrm>
          <a:prstGeom prst="rect">
            <a:avLst/>
          </a:prstGeom>
        </p:spPr>
      </p:pic>
      <p:sp>
        <p:nvSpPr>
          <p:cNvPr id="15" name="credits_scroll"/>
          <p:cNvSpPr txBox="1"/>
          <p:nvPr/>
        </p:nvSpPr>
        <p:spPr>
          <a:xfrm>
            <a:off x="3840480" y="5212080"/>
            <a:ext cx="4937760" cy="22073616"/>
          </a:xfrm>
          <a:prstGeom prst="rect">
            <a:avLst/>
          </a:prstGeom>
          <a:noFill/>
          <a:ln/>
        </p:spPr>
        <p:txBody>
          <a:bodyPr wrap="square" lIns="0" tIns="0" rIns="0" bIns="0" rtlCol="0" anchor="t"/>
          <a:lstStyle/>
          <a:p>
            <a:pPr algn="ctr" indent="0" marL="0">
              <a:spcAft>
                <a:spcPts val="400"/>
              </a:spcAft>
              <a:buNone/>
            </a:pPr>
            <a:r>
              <a:rPr lang="en-US" sz="1600" dirty="0">
                <a:solidFill>
                  <a:srgbClr val="8AB4F8"/>
                </a:solidFill>
                <a:latin typeface="Times New Roman" pitchFamily="34" charset="0"/>
                <a:ea typeface="Times New Roman" pitchFamily="34" charset="-122"/>
                <a:cs typeface="Times New Roman" pitchFamily="34" charset="-120"/>
              </a:rPr>
              <a:t>Building Motion with AI</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DevFest Kastamonu 2026</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Konuşmacı</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Eyüp Ece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Başrollerde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Gemini</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Nano Banana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Veo</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Topluluklar</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GDG Türkiye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GDG Cloud Konya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GDG MENAT</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Her zaman yanımda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Ailem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Hocalarım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Mentorlarım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Yol arkadaşlarım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Hilal</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Safa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Zülal</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Sena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Nazenin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Doruk</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Sıla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Talha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Beyza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Rabia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Emrah</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Saygın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Ozan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Mehmet</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Ece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Oğuzhan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Müge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Şafak</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Can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Ali</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Mert</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Deniz</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Melis</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Ahmet</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İrem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Kerem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Elif</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Cem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Onur</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Furkan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Esra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Zeynep</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Berk</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Kaan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Ayşe</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Mustafa</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Batuhan</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Burak</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Yusuf</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dirty="0">
                <a:solidFill>
                  <a:srgbClr val="9AA0A6"/>
                </a:solidFill>
                <a:latin typeface="Times New Roman" pitchFamily="34" charset="0"/>
                <a:ea typeface="Times New Roman" pitchFamily="34" charset="-122"/>
                <a:cs typeface="Times New Roman" pitchFamily="34" charset="-120"/>
              </a:rPr>
              <a:t>Teşekkürler</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Takım Arkadaşlarım</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Organizasyon Ekibi</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Konuşmacılar</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Tüm Katılımcılar</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İlham Veren Herkes</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Destek Olan Herkes</a:t>
            </a:r>
            <a:endParaRPr lang="en-US" sz="1600" dirty="0"/>
          </a:p>
          <a:p>
            <a:pPr algn="ctr" indent="0" marL="0">
              <a:spcAft>
                <a:spcPts val="400"/>
              </a:spcAft>
              <a:buNone/>
            </a:pPr>
            <a:r>
              <a:rPr lang="en-US" sz="1600" dirty="0">
                <a:solidFill>
                  <a:srgbClr val="FFFFFF"/>
                </a:solidFill>
                <a:latin typeface="Times New Roman" pitchFamily="34" charset="0"/>
                <a:ea typeface="Times New Roman" pitchFamily="34" charset="-122"/>
                <a:cs typeface="Times New Roman" pitchFamily="34" charset="-120"/>
              </a:rPr>
              <a:t> </a:t>
            </a:r>
            <a:endParaRPr lang="en-US" sz="1600" dirty="0"/>
          </a:p>
          <a:p>
            <a:pPr algn="ctr" indent="0" marL="0">
              <a:spcAft>
                <a:spcPts val="400"/>
              </a:spcAft>
              <a:buNone/>
            </a:pPr>
            <a:r>
              <a:rPr lang="en-US" sz="1600" i="1" dirty="0">
                <a:solidFill>
                  <a:srgbClr val="9AA0A6"/>
                </a:solidFill>
                <a:latin typeface="Times New Roman" pitchFamily="34" charset="0"/>
                <a:ea typeface="Times New Roman" pitchFamily="34" charset="-122"/>
                <a:cs typeface="Times New Roman" pitchFamily="34" charset="-120"/>
              </a:rPr>
              <a:t>ve daha niceleri...</a:t>
            </a:r>
            <a:endParaRPr lang="en-US" sz="1600" dirty="0"/>
          </a:p>
        </p:txBody>
      </p:sp>
      <p:pic>
        <p:nvPicPr>
          <p:cNvPr id="16" name="Image 12" descr="/tmp/claude-0/-home-claude/d5e34c45-44d6-5238-8d7b-e6c7b3c8d5c3/scratchpad/deck/fade_top_dark.png">    </p:cNvPr>
          <p:cNvPicPr>
            <a:picLocks noChangeAspect="1"/>
          </p:cNvPicPr>
          <p:nvPr/>
        </p:nvPicPr>
        <p:blipFill>
          <a:blip r:embed="rId13"/>
          <a:stretch>
            <a:fillRect/>
          </a:stretch>
        </p:blipFill>
        <p:spPr>
          <a:xfrm>
            <a:off x="3611880" y="0"/>
            <a:ext cx="5532120" cy="822960"/>
          </a:xfrm>
          <a:prstGeom prst="rect">
            <a:avLst/>
          </a:prstGeom>
        </p:spPr>
      </p:pic>
      <p:pic>
        <p:nvPicPr>
          <p:cNvPr id="17" name="Image 13" descr="/tmp/claude-0/-home-claude/d5e34c45-44d6-5238-8d7b-e6c7b3c8d5c3/scratchpad/deck/fade_bottom_dark.png">    </p:cNvPr>
          <p:cNvPicPr>
            <a:picLocks noChangeAspect="1"/>
          </p:cNvPicPr>
          <p:nvPr/>
        </p:nvPicPr>
        <p:blipFill>
          <a:blip r:embed="rId14"/>
          <a:stretch>
            <a:fillRect/>
          </a:stretch>
        </p:blipFill>
        <p:spPr>
          <a:xfrm>
            <a:off x="3611880" y="4343400"/>
            <a:ext cx="5532120" cy="800100"/>
          </a:xfrm>
          <a:prstGeom prst="rect">
            <a:avLst/>
          </a:prstGeom>
        </p:spPr>
      </p:pic>
      <p:pic>
        <p:nvPicPr>
          <p:cNvPr id="18" name="Image 14" descr="/tmp/claude-0/-home-claude/d5e34c45-44d6-5238-8d7b-e6c7b3c8d5c3/scratchpad/deck/logo_light.png">    </p:cNvPr>
          <p:cNvPicPr>
            <a:picLocks noChangeAspect="1"/>
          </p:cNvPicPr>
          <p:nvPr/>
        </p:nvPicPr>
        <p:blipFill>
          <a:blip r:embed="rId15"/>
          <a:stretch>
            <a:fillRect/>
          </a:stretch>
        </p:blipFill>
        <p:spPr>
          <a:xfrm>
            <a:off x="6812280" y="4732020"/>
            <a:ext cx="1920240" cy="137160"/>
          </a:xfrm>
          <a:prstGeom prst="rect">
            <a:avLst/>
          </a:prstGeom>
        </p:spPr>
      </p:pic>
      <p:sp>
        <p:nvSpPr>
          <p:cNvPr id="19" name="finale_title"/>
          <p:cNvSpPr txBox="1"/>
          <p:nvPr/>
        </p:nvSpPr>
        <p:spPr>
          <a:xfrm>
            <a:off x="3977640" y="1417320"/>
            <a:ext cx="4663440" cy="868680"/>
          </a:xfrm>
          <a:prstGeom prst="rect">
            <a:avLst/>
          </a:prstGeom>
          <a:noFill/>
          <a:ln/>
        </p:spPr>
        <p:txBody>
          <a:bodyPr wrap="square" lIns="0" tIns="0" rIns="0" bIns="0" rtlCol="0" anchor="ctr"/>
          <a:lstStyle/>
          <a:p>
            <a:pPr algn="ctr" indent="0" marL="0">
              <a:buNone/>
            </a:pPr>
            <a:r>
              <a:rPr lang="en-US" sz="5000" b="1" dirty="0">
                <a:solidFill>
                  <a:srgbClr val="FFFFFF"/>
                </a:solidFill>
                <a:latin typeface="Times New Roman" pitchFamily="34" charset="0"/>
                <a:ea typeface="Times New Roman" pitchFamily="34" charset="-122"/>
                <a:cs typeface="Times New Roman" pitchFamily="34" charset="-120"/>
              </a:rPr>
              <a:t>Thank you!</a:t>
            </a:r>
            <a:endParaRPr lang="en-US" sz="5000" dirty="0"/>
          </a:p>
        </p:txBody>
      </p:sp>
      <p:sp>
        <p:nvSpPr>
          <p:cNvPr id="20" name="finale_sub"/>
          <p:cNvSpPr txBox="1"/>
          <p:nvPr/>
        </p:nvSpPr>
        <p:spPr>
          <a:xfrm>
            <a:off x="3977640" y="2286000"/>
            <a:ext cx="4663440" cy="365760"/>
          </a:xfrm>
          <a:prstGeom prst="rect">
            <a:avLst/>
          </a:prstGeom>
          <a:noFill/>
          <a:ln/>
        </p:spPr>
        <p:txBody>
          <a:bodyPr wrap="square" lIns="0" tIns="0" rIns="0" bIns="0" rtlCol="0" anchor="ctr"/>
          <a:lstStyle/>
          <a:p>
            <a:pPr algn="ctr" indent="0" marL="0">
              <a:buNone/>
            </a:pPr>
            <a:r>
              <a:rPr lang="en-US" sz="1700" dirty="0">
                <a:solidFill>
                  <a:srgbClr val="9AA0A6"/>
                </a:solidFill>
                <a:latin typeface="Times New Roman" pitchFamily="34" charset="0"/>
                <a:ea typeface="Times New Roman" pitchFamily="34" charset="-122"/>
                <a:cs typeface="Times New Roman" pitchFamily="34" charset="-120"/>
              </a:rPr>
              <a:t>Bu yolculuk hiçbir zaman tek kişilik değildi.</a:t>
            </a:r>
            <a:endParaRPr lang="en-US" sz="1700" dirty="0"/>
          </a:p>
        </p:txBody>
      </p:sp>
      <p:sp>
        <p:nvSpPr>
          <p:cNvPr id="21" name="finale_you"/>
          <p:cNvSpPr txBox="1"/>
          <p:nvPr/>
        </p:nvSpPr>
        <p:spPr>
          <a:xfrm>
            <a:off x="3977640" y="2788920"/>
            <a:ext cx="4663440" cy="457200"/>
          </a:xfrm>
          <a:prstGeom prst="rect">
            <a:avLst/>
          </a:prstGeom>
          <a:noFill/>
          <a:ln/>
        </p:spPr>
        <p:txBody>
          <a:bodyPr wrap="square" lIns="0" tIns="0" rIns="0" bIns="0" rtlCol="0" anchor="ctr"/>
          <a:lstStyle/>
          <a:p>
            <a:pPr algn="ctr" indent="0" marL="0">
              <a:buNone/>
            </a:pPr>
            <a:r>
              <a:rPr lang="en-US" sz="2400" i="1" dirty="0">
                <a:solidFill>
                  <a:srgbClr val="8AB4F8"/>
                </a:solidFill>
                <a:latin typeface="Times New Roman" pitchFamily="34" charset="0"/>
                <a:ea typeface="Times New Roman" pitchFamily="34" charset="-122"/>
                <a:cs typeface="Times New Roman" pitchFamily="34" charset="-120"/>
              </a:rPr>
              <a:t>…ve siz.</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7" fill="hold">
                            <p:stCondLst>
                              <p:cond delay="0"/>
                            </p:stCondLst>
                            <p:childTnLst>
                              <p:par>
                                <p:cTn id="38" presetID="0" presetClass="path" presetSubtype="0" accel="0" decel="0" fill="hold" nodeType="afterEffect">
                                  <p:stCondLst>
                                    <p:cond delay="600"/>
                                  </p:stCondLst>
                                  <p:childTnLst>
                                    <p:animMotion origin="layout" path="M 0 0 L 0 -5.3227 E" pathEditMode="relative" ptsTypes="AA">
                                      <p:cBhvr>
                                        <p:cTn id="39" dur="50000" fill="hold"/>
                                        <p:tgtEl>
                                          <p:spTgt spid="15"/>
                                        </p:tgtEl>
                                        <p:attrNameLst>
                                          <p:attrName>ppt_x</p:attrName>
                                          <p:attrName>ppt_y</p:attrName>
                                        </p:attrNameLst>
                                      </p:cBhvr>
                                    </p:animMotion>
                                  </p:childTnLst>
                                </p:cTn>
                              </p:par>
                              <p:par>
                                <p:cTn id="4" presetID="10" presetClass="entr" presetSubtype="0" fill="hold" grpId="0" nodeType="withEffect">
                                  <p:stCondLst>
                                    <p:cond delay="4216"/>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1200"/>
                                        <p:tgtEl>
                                          <p:spTgt spid="4"/>
                                        </p:tgtEl>
                                      </p:cBhvr>
                                    </p:animEffect>
                                  </p:childTnLst>
                                </p:cTn>
                              </p:par>
                              <p:par>
                                <p:cTn id="7" presetID="10" presetClass="entr" presetSubtype="0" fill="hold" grpId="0" nodeType="withEffect">
                                  <p:stCondLst>
                                    <p:cond delay="8432"/>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200"/>
                                        <p:tgtEl>
                                          <p:spTgt spid="5"/>
                                        </p:tgtEl>
                                      </p:cBhvr>
                                    </p:animEffect>
                                  </p:childTnLst>
                                </p:cTn>
                              </p:par>
                              <p:par>
                                <p:cTn id="10" presetID="10" presetClass="entr" presetSubtype="0" fill="hold" grpId="0" nodeType="withEffect">
                                  <p:stCondLst>
                                    <p:cond delay="12648"/>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200"/>
                                        <p:tgtEl>
                                          <p:spTgt spid="6"/>
                                        </p:tgtEl>
                                      </p:cBhvr>
                                    </p:animEffect>
                                  </p:childTnLst>
                                </p:cTn>
                              </p:par>
                              <p:par>
                                <p:cTn id="13" presetID="10" presetClass="entr" presetSubtype="0" fill="hold" grpId="0" nodeType="withEffect">
                                  <p:stCondLst>
                                    <p:cond delay="16864"/>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1200"/>
                                        <p:tgtEl>
                                          <p:spTgt spid="7"/>
                                        </p:tgtEl>
                                      </p:cBhvr>
                                    </p:animEffect>
                                  </p:childTnLst>
                                </p:cTn>
                              </p:par>
                              <p:par>
                                <p:cTn id="16" presetID="10" presetClass="entr" presetSubtype="0" fill="hold" grpId="0" nodeType="withEffect">
                                  <p:stCondLst>
                                    <p:cond delay="2108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1200"/>
                                        <p:tgtEl>
                                          <p:spTgt spid="8"/>
                                        </p:tgtEl>
                                      </p:cBhvr>
                                    </p:animEffect>
                                  </p:childTnLst>
                                </p:cTn>
                              </p:par>
                              <p:par>
                                <p:cTn id="19" presetID="10" presetClass="entr" presetSubtype="0" fill="hold" grpId="0" nodeType="withEffect">
                                  <p:stCondLst>
                                    <p:cond delay="25296"/>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200"/>
                                        <p:tgtEl>
                                          <p:spTgt spid="9"/>
                                        </p:tgtEl>
                                      </p:cBhvr>
                                    </p:animEffect>
                                  </p:childTnLst>
                                </p:cTn>
                              </p:par>
                              <p:par>
                                <p:cTn id="22" presetID="10" presetClass="entr" presetSubtype="0" fill="hold" grpId="0" nodeType="withEffect">
                                  <p:stCondLst>
                                    <p:cond delay="29512"/>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1200"/>
                                        <p:tgtEl>
                                          <p:spTgt spid="10"/>
                                        </p:tgtEl>
                                      </p:cBhvr>
                                    </p:animEffect>
                                  </p:childTnLst>
                                </p:cTn>
                              </p:par>
                              <p:par>
                                <p:cTn id="25" presetID="10" presetClass="entr" presetSubtype="0" fill="hold" grpId="0" nodeType="withEffect">
                                  <p:stCondLst>
                                    <p:cond delay="33728"/>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200"/>
                                        <p:tgtEl>
                                          <p:spTgt spid="11"/>
                                        </p:tgtEl>
                                      </p:cBhvr>
                                    </p:animEffect>
                                  </p:childTnLst>
                                </p:cTn>
                              </p:par>
                              <p:par>
                                <p:cTn id="28" presetID="10" presetClass="entr" presetSubtype="0" fill="hold" grpId="0" nodeType="withEffect">
                                  <p:stCondLst>
                                    <p:cond delay="37944"/>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1200"/>
                                        <p:tgtEl>
                                          <p:spTgt spid="12"/>
                                        </p:tgtEl>
                                      </p:cBhvr>
                                    </p:animEffect>
                                  </p:childTnLst>
                                </p:cTn>
                              </p:par>
                              <p:par>
                                <p:cTn id="31" presetID="10" presetClass="entr" presetSubtype="0" fill="hold" grpId="0" nodeType="withEffect">
                                  <p:stCondLst>
                                    <p:cond delay="4216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1200"/>
                                        <p:tgtEl>
                                          <p:spTgt spid="13"/>
                                        </p:tgtEl>
                                      </p:cBhvr>
                                    </p:animEffect>
                                  </p:childTnLst>
                                </p:cTn>
                              </p:par>
                              <p:par>
                                <p:cTn id="34" presetID="10" presetClass="entr" presetSubtype="0" fill="hold" grpId="0" nodeType="withEffect">
                                  <p:stCondLst>
                                    <p:cond delay="46376"/>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1200"/>
                                        <p:tgtEl>
                                          <p:spTgt spid="14"/>
                                        </p:tgtEl>
                                      </p:cBhvr>
                                    </p:animEffect>
                                  </p:childTnLst>
                                </p:cTn>
                              </p:par>
                            </p:childTnLst>
                          </p:cTn>
                        </p:par>
                        <p:par>
                          <p:cTn id="40" fill="hold">
                            <p:stCondLst>
                              <p:cond delay="50600"/>
                            </p:stCondLst>
                            <p:childTnLst>
                              <p:par>
                                <p:cTn id="41" presetID="10" presetClass="entr" presetSubtype="0" fill="hold" grpId="0" nodeType="after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1200"/>
                                        <p:tgtEl>
                                          <p:spTgt spid="19"/>
                                        </p:tgtEl>
                                      </p:cBhvr>
                                    </p:animEffect>
                                  </p:childTnLst>
                                </p:cTn>
                              </p:par>
                              <p:par>
                                <p:cTn id="44" presetID="10" presetClass="entr" presetSubtype="0" fill="hold" grpId="0" nodeType="withEffect">
                                  <p:stCondLst>
                                    <p:cond delay="5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1200"/>
                                        <p:tgtEl>
                                          <p:spTgt spid="20"/>
                                        </p:tgtEl>
                                      </p:cBhvr>
                                    </p:animEffect>
                                  </p:childTnLst>
                                </p:cTn>
                              </p:par>
                              <p:par>
                                <p:cTn id="47" presetID="10" presetClass="entr" presetSubtype="0" fill="hold" grpId="0" nodeType="withEffect">
                                  <p:stCondLst>
                                    <p:cond delay="160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12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Motion with AI</dc:title>
  <dc:subject>PptxGenJS Presentation</dc:subject>
  <dc:creator>PptxGenJS</dc:creator>
  <cp:lastModifiedBy>PptxGenJS</cp:lastModifiedBy>
  <cp:revision>1</cp:revision>
  <dcterms:created xsi:type="dcterms:W3CDTF">2026-09-26T21:45:36Z</dcterms:created>
  <dcterms:modified xsi:type="dcterms:W3CDTF">2026-09-26T21:45:36Z</dcterms:modified>
</cp:coreProperties>
</file>