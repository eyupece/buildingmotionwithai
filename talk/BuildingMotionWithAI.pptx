
<file path=[Content_Types].xml><?xml version="1.0" encoding="utf-8"?>
<Types xmlns="http://schemas.openxmlformats.org/package/2006/content-types">
  <Default Extension="gif" ContentType="image/gif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11450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gi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5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6.png"/><Relationship Id="rId4" Type="http://schemas.openxmlformats.org/officeDocument/2006/relationships/image" Target="../media/image30.png"/><Relationship Id="rId9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1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94360"/>
            <a:ext cx="2743200" cy="195943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051560"/>
            <a:ext cx="5212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Building Motion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 AI</a:t>
            </a:r>
            <a:endParaRPr lang="en-US" sz="40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26517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Bir hareketi anlayan, dönüştüren ve yeniden üreten multimodal AI pipeline’ı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2918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Eyüp Ece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Software Engineer @Architecht · GDG Cloud Konya Organizer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5989320" y="685800"/>
            <a:ext cx="2651760" cy="265176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8" name="Image 1" descr="/tmp/claude-0/-home-claude/d5e34c45-44d6-5238-8d7b-e6c7b3c8d5c3/scratchpad/deck/ref_image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548640"/>
            <a:ext cx="2651760" cy="265176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822960" y="4343400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dash"/>
          </a:ln>
        </p:spPr>
      </p:sp>
      <p:sp>
        <p:nvSpPr>
          <p:cNvPr id="10" name="Shape 5"/>
          <p:cNvSpPr/>
          <p:nvPr/>
        </p:nvSpPr>
        <p:spPr>
          <a:xfrm>
            <a:off x="548640" y="4069080"/>
            <a:ext cx="548640" cy="548640"/>
          </a:xfrm>
          <a:prstGeom prst="ellipse">
            <a:avLst/>
          </a:prstGeom>
          <a:solidFill>
            <a:srgbClr val="E8F0FE"/>
          </a:solidFill>
          <a:ln w="19050">
            <a:solidFill>
              <a:srgbClr val="4285F4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4197096"/>
            <a:ext cx="292608" cy="292608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2423160" y="4069080"/>
            <a:ext cx="548640" cy="548640"/>
          </a:xfrm>
          <a:prstGeom prst="ellipse">
            <a:avLst/>
          </a:prstGeom>
          <a:solidFill>
            <a:srgbClr val="F3E8FD"/>
          </a:solidFill>
          <a:ln w="19050">
            <a:solidFill>
              <a:srgbClr val="A142F4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1176" y="4197096"/>
            <a:ext cx="292608" cy="292608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4297680" y="4069080"/>
            <a:ext cx="548640" cy="548640"/>
          </a:xfrm>
          <a:prstGeom prst="ellipse">
            <a:avLst/>
          </a:prstGeom>
          <a:solidFill>
            <a:srgbClr val="FEF7E0"/>
          </a:solidFill>
          <a:ln w="19050">
            <a:solidFill>
              <a:srgbClr val="F9AB00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25696" y="4197096"/>
            <a:ext cx="292608" cy="292608"/>
          </a:xfrm>
          <a:prstGeom prst="rect">
            <a:avLst/>
          </a:prstGeom>
        </p:spPr>
      </p:pic>
      <p:sp>
        <p:nvSpPr>
          <p:cNvPr id="16" name="Shape 8"/>
          <p:cNvSpPr/>
          <p:nvPr/>
        </p:nvSpPr>
        <p:spPr>
          <a:xfrm>
            <a:off x="6172200" y="4069080"/>
            <a:ext cx="548640" cy="548640"/>
          </a:xfrm>
          <a:prstGeom prst="ellipse">
            <a:avLst/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0216" y="4197096"/>
            <a:ext cx="292608" cy="292608"/>
          </a:xfrm>
          <a:prstGeom prst="rect">
            <a:avLst/>
          </a:prstGeom>
        </p:spPr>
      </p:pic>
      <p:sp>
        <p:nvSpPr>
          <p:cNvPr id="18" name="Shape 9"/>
          <p:cNvSpPr/>
          <p:nvPr/>
        </p:nvSpPr>
        <p:spPr>
          <a:xfrm>
            <a:off x="8046720" y="4069080"/>
            <a:ext cx="548640" cy="548640"/>
          </a:xfrm>
          <a:prstGeom prst="ellipse">
            <a:avLst/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74736" y="4197096"/>
            <a:ext cx="292608" cy="29260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 proje ne yapıyor?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Kısa bir video → avatarımız, başka bir ortamda aynı hareketi yapıyor.</a:t>
            </a:r>
            <a:endParaRPr lang="en-US" sz="1400" dirty="0"/>
          </a:p>
        </p:txBody>
      </p:sp>
      <p:sp>
        <p:nvSpPr>
          <p:cNvPr id="6" name="Shape 2"/>
          <p:cNvSpPr/>
          <p:nvPr/>
        </p:nvSpPr>
        <p:spPr>
          <a:xfrm>
            <a:off x="457200" y="1371600"/>
            <a:ext cx="521208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7" name="Image 1" descr="/tmp/claude-0/-home-claude/d5e34c45-44d6-5238-8d7b-e6c7b3c8d5c3/scratchpad/deck/ref_image22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481328"/>
            <a:ext cx="4992624" cy="278892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5943600" y="1371600"/>
            <a:ext cx="2743200" cy="3063240"/>
          </a:xfrm>
          <a:prstGeom prst="roundRect">
            <a:avLst>
              <a:gd name="adj" fmla="val 3333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6172200" y="1600200"/>
            <a:ext cx="548640" cy="54864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2901" y="1720901"/>
            <a:ext cx="307238" cy="307238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6172200" y="22860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Siz olsanız nasıl yapardınız?</a:t>
            </a:r>
            <a:endParaRPr lang="en-US" sz="1800" dirty="0"/>
          </a:p>
        </p:txBody>
      </p:sp>
      <p:sp>
        <p:nvSpPr>
          <p:cNvPr id="12" name="Text 6"/>
          <p:cNvSpPr txBox="1"/>
          <p:nvPr/>
        </p:nvSpPr>
        <p:spPr>
          <a:xfrm>
            <a:off x="6172200" y="301752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“Bu videoyu analiz et, avatarını oluştur ve onu uzayda aynı hareketi yaparken canlandır.”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914400"/>
            <a:ext cx="2651760" cy="2651760"/>
          </a:xfrm>
          <a:prstGeom prst="ellipse">
            <a:avLst/>
          </a:prstGeom>
          <a:solidFill>
            <a:srgbClr val="E8F0FE"/>
          </a:solidFill>
          <a:ln w="25400">
            <a:solidFill>
              <a:srgbClr val="4285F4"/>
            </a:solidFill>
            <a:prstDash val="solid"/>
          </a:ln>
        </p:spPr>
      </p:sp>
      <p:pic>
        <p:nvPicPr>
          <p:cNvPr id="5" name="Image 1" descr="/tmp/claude-0/-home-claude/d5e34c45-44d6-5238-8d7b-e6c7b3c8d5c3/scratchpad/deck/ref_image2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005840"/>
            <a:ext cx="2468880" cy="2468880"/>
          </a:xfrm>
          <a:prstGeom prst="ellipse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749040" y="10515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Eyüp Ece</a:t>
            </a:r>
            <a:endParaRPr lang="en-US" sz="3000" dirty="0"/>
          </a:p>
        </p:txBody>
      </p:sp>
      <p:sp>
        <p:nvSpPr>
          <p:cNvPr id="8" name="Shape 3"/>
          <p:cNvSpPr/>
          <p:nvPr/>
        </p:nvSpPr>
        <p:spPr>
          <a:xfrm>
            <a:off x="3749040" y="1828800"/>
            <a:ext cx="3657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9" name="Image 2" descr="/tmp/claude-0/-home-claude/d5e34c45-44d6-5238-8d7b-e6c7b3c8d5c3/scratchpad/deck/ref_image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8768" y="1920240"/>
            <a:ext cx="457200" cy="457200"/>
          </a:xfrm>
          <a:prstGeom prst="ellipse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4434840" y="192024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Software Engineer · Architecht</a:t>
            </a:r>
            <a:endParaRPr lang="en-US" sz="1250" dirty="0"/>
          </a:p>
        </p:txBody>
      </p:sp>
      <p:sp>
        <p:nvSpPr>
          <p:cNvPr id="11" name="Text 5"/>
          <p:cNvSpPr txBox="1"/>
          <p:nvPr/>
        </p:nvSpPr>
        <p:spPr>
          <a:xfrm>
            <a:off x="4434840" y="216712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~2,5 yıl, mikroservis tabanlı projeler</a:t>
            </a:r>
            <a:endParaRPr lang="en-US" sz="950" dirty="0"/>
          </a:p>
        </p:txBody>
      </p:sp>
      <p:sp>
        <p:nvSpPr>
          <p:cNvPr id="12" name="Shape 6"/>
          <p:cNvSpPr/>
          <p:nvPr/>
        </p:nvSpPr>
        <p:spPr>
          <a:xfrm>
            <a:off x="3749040" y="2606040"/>
            <a:ext cx="3657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3" name="Image 3" descr="/tmp/claude-0/-home-claude/d5e34c45-44d6-5238-8d7b-e6c7b3c8d5c3/scratchpad/deck/ref_image3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8768" y="2697480"/>
            <a:ext cx="457200" cy="457200"/>
          </a:xfrm>
          <a:prstGeom prst="ellipse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434840" y="269748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GDG Cloud Konya Organizer</a:t>
            </a:r>
            <a:endParaRPr lang="en-US" sz="1250" dirty="0"/>
          </a:p>
        </p:txBody>
      </p:sp>
      <p:sp>
        <p:nvSpPr>
          <p:cNvPr id="15" name="Text 8"/>
          <p:cNvSpPr txBox="1"/>
          <p:nvPr/>
        </p:nvSpPr>
        <p:spPr>
          <a:xfrm>
            <a:off x="4434840" y="294436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GDG on Campus Türkiye Mentor &amp; Facilitator · DevFest Konya</a:t>
            </a:r>
            <a:endParaRPr lang="en-US" sz="950" dirty="0"/>
          </a:p>
        </p:txBody>
      </p:sp>
      <p:sp>
        <p:nvSpPr>
          <p:cNvPr id="16" name="Shape 9"/>
          <p:cNvSpPr/>
          <p:nvPr/>
        </p:nvSpPr>
        <p:spPr>
          <a:xfrm>
            <a:off x="3749040" y="3383280"/>
            <a:ext cx="3657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7" name="Image 4" descr="/tmp/claude-0/-home-claude/d5e34c45-44d6-5238-8d7b-e6c7b3c8d5c3/scratchpad/deck/ref_image1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58768" y="3474720"/>
            <a:ext cx="457200" cy="457200"/>
          </a:xfrm>
          <a:prstGeom prst="ellipse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4434840" y="347472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Selçuk Üniversitesi</a:t>
            </a:r>
            <a:endParaRPr lang="en-US" sz="1250" dirty="0"/>
          </a:p>
        </p:txBody>
      </p:sp>
      <p:sp>
        <p:nvSpPr>
          <p:cNvPr id="19" name="Text 11"/>
          <p:cNvSpPr txBox="1"/>
          <p:nvPr/>
        </p:nvSpPr>
        <p:spPr>
          <a:xfrm>
            <a:off x="4434840" y="372160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Bilgisayar Mühendisliği · 2026</a:t>
            </a:r>
            <a:endParaRPr lang="en-US" sz="950" dirty="0"/>
          </a:p>
        </p:txBody>
      </p:sp>
      <p:pic>
        <p:nvPicPr>
          <p:cNvPr id="20" name="Image 5" descr="/tmp/claude-0/-home-claude/d5e34c45-44d6-5238-8d7b-e6c7b3c8d5c3/scratchpad/deck/ref_image19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35240" y="3246120"/>
            <a:ext cx="1051560" cy="105156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7406640" y="431596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Bağlantı kuralım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109728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This is not just</a:t>
            </a:r>
            <a:endParaRPr lang="en-US" sz="5000" dirty="0"/>
          </a:p>
          <a:p>
            <a:pPr marL="0" indent="0" algn="ctr">
              <a:buNone/>
            </a:pPr>
            <a:r>
              <a:rPr lang="en-US" sz="50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an avatar demo.</a:t>
            </a:r>
            <a:endParaRPr lang="en-US" sz="50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3063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Tek bir model çağrısı değil; farklı modellerin birlikte çalıştığı uçtan uca bir sistem.</a:t>
            </a:r>
            <a:endParaRPr lang="en-US" sz="1700" dirty="0"/>
          </a:p>
        </p:txBody>
      </p:sp>
      <p:sp>
        <p:nvSpPr>
          <p:cNvPr id="6" name="Shape 2"/>
          <p:cNvSpPr/>
          <p:nvPr/>
        </p:nvSpPr>
        <p:spPr>
          <a:xfrm>
            <a:off x="3977640" y="3840480"/>
            <a:ext cx="128016" cy="128016"/>
          </a:xfrm>
          <a:prstGeom prst="ellipse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233672" y="3840480"/>
            <a:ext cx="128016" cy="128016"/>
          </a:xfrm>
          <a:prstGeom prst="ellipse">
            <a:avLst/>
          </a:prstGeom>
          <a:solidFill>
            <a:srgbClr val="A142F4"/>
          </a:solidFill>
          <a:ln w="12700">
            <a:solidFill>
              <a:srgbClr val="A142F4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4489704" y="3840480"/>
            <a:ext cx="128016" cy="128016"/>
          </a:xfrm>
          <a:prstGeom prst="ellipse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745736" y="3840480"/>
            <a:ext cx="128016" cy="128016"/>
          </a:xfrm>
          <a:prstGeom prst="ellipse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001768" y="3840480"/>
            <a:ext cx="128016" cy="128016"/>
          </a:xfrm>
          <a:prstGeom prst="ellipse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cl_title"/>
          <p:cNvSpPr txBox="1"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Classic AI Workflow</a:t>
            </a:r>
            <a:endParaRPr lang="en-US" sz="3200" dirty="0"/>
          </a:p>
        </p:txBody>
      </p:sp>
      <p:sp>
        <p:nvSpPr>
          <p:cNvPr id="5" name="!!cl_sub"/>
          <p:cNvSpPr txBox="1"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Chatbot tarzı uygulamalarda alıştığımız akış</a:t>
            </a:r>
            <a:endParaRPr lang="en-US" sz="1400" dirty="0"/>
          </a:p>
        </p:txBody>
      </p:sp>
      <p:sp>
        <p:nvSpPr>
          <p:cNvPr id="6" name="!!cl_box0"/>
          <p:cNvSpPr/>
          <p:nvPr/>
        </p:nvSpPr>
        <p:spPr>
          <a:xfrm>
            <a:off x="1051560" y="214884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!!cl_txt0"/>
          <p:cNvSpPr txBox="1"/>
          <p:nvPr/>
        </p:nvSpPr>
        <p:spPr>
          <a:xfrm>
            <a:off x="1051560" y="2148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User text</a:t>
            </a:r>
            <a:endParaRPr lang="en-US" sz="1600" dirty="0"/>
          </a:p>
        </p:txBody>
      </p:sp>
      <p:sp>
        <p:nvSpPr>
          <p:cNvPr id="8" name="!!cl_arr0"/>
          <p:cNvSpPr txBox="1"/>
          <p:nvPr/>
        </p:nvSpPr>
        <p:spPr>
          <a:xfrm>
            <a:off x="3063240" y="214884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!!cl_box1"/>
          <p:cNvSpPr/>
          <p:nvPr/>
        </p:nvSpPr>
        <p:spPr>
          <a:xfrm>
            <a:off x="3566160" y="214884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!!cl_txt1"/>
          <p:cNvSpPr txBox="1"/>
          <p:nvPr/>
        </p:nvSpPr>
        <p:spPr>
          <a:xfrm>
            <a:off x="3566160" y="2148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LLM</a:t>
            </a:r>
            <a:endParaRPr lang="en-US" sz="1600" dirty="0"/>
          </a:p>
        </p:txBody>
      </p:sp>
      <p:sp>
        <p:nvSpPr>
          <p:cNvPr id="11" name="!!cl_arr1"/>
          <p:cNvSpPr txBox="1"/>
          <p:nvPr/>
        </p:nvSpPr>
        <p:spPr>
          <a:xfrm>
            <a:off x="5577840" y="214884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!!cl_box2"/>
          <p:cNvSpPr/>
          <p:nvPr/>
        </p:nvSpPr>
        <p:spPr>
          <a:xfrm>
            <a:off x="6080760" y="214884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!!cl_txt2"/>
          <p:cNvSpPr txBox="1"/>
          <p:nvPr/>
        </p:nvSpPr>
        <p:spPr>
          <a:xfrm>
            <a:off x="6080760" y="2148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Text response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cl_title"/>
          <p:cNvSpPr txBox="1"/>
          <p:nvPr/>
        </p:nvSpPr>
        <p:spPr>
          <a:xfrm>
            <a:off x="45720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Classic AI Workflow</a:t>
            </a:r>
            <a:endParaRPr lang="en-US" sz="1300" dirty="0"/>
          </a:p>
        </p:txBody>
      </p:sp>
      <p:sp>
        <p:nvSpPr>
          <p:cNvPr id="5" name="!!cl_box0"/>
          <p:cNvSpPr/>
          <p:nvPr/>
        </p:nvSpPr>
        <p:spPr>
          <a:xfrm>
            <a:off x="1051560" y="73152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E8EAED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!!cl_txt0"/>
          <p:cNvSpPr txBox="1"/>
          <p:nvPr/>
        </p:nvSpPr>
        <p:spPr>
          <a:xfrm>
            <a:off x="1051560" y="7315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User text</a:t>
            </a:r>
            <a:endParaRPr lang="en-US" sz="1300" dirty="0"/>
          </a:p>
        </p:txBody>
      </p:sp>
      <p:sp>
        <p:nvSpPr>
          <p:cNvPr id="7" name="!!cl_arr0"/>
          <p:cNvSpPr txBox="1"/>
          <p:nvPr/>
        </p:nvSpPr>
        <p:spPr>
          <a:xfrm>
            <a:off x="3063240" y="73152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!!cl_box1"/>
          <p:cNvSpPr/>
          <p:nvPr/>
        </p:nvSpPr>
        <p:spPr>
          <a:xfrm>
            <a:off x="3566160" y="73152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E8EAED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9" name="!!cl_txt1"/>
          <p:cNvSpPr txBox="1"/>
          <p:nvPr/>
        </p:nvSpPr>
        <p:spPr>
          <a:xfrm>
            <a:off x="3566160" y="7315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LLM</a:t>
            </a:r>
            <a:endParaRPr lang="en-US" sz="1300" dirty="0"/>
          </a:p>
        </p:txBody>
      </p:sp>
      <p:sp>
        <p:nvSpPr>
          <p:cNvPr id="10" name="!!cl_arr1"/>
          <p:cNvSpPr txBox="1"/>
          <p:nvPr/>
        </p:nvSpPr>
        <p:spPr>
          <a:xfrm>
            <a:off x="5577840" y="73152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!!cl_box2"/>
          <p:cNvSpPr/>
          <p:nvPr/>
        </p:nvSpPr>
        <p:spPr>
          <a:xfrm>
            <a:off x="6080760" y="73152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E8EAED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2" name="!!cl_txt2"/>
          <p:cNvSpPr txBox="1"/>
          <p:nvPr/>
        </p:nvSpPr>
        <p:spPr>
          <a:xfrm>
            <a:off x="6080760" y="7315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Text response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Multimodal AI Workflow</a:t>
            </a:r>
            <a:endParaRPr lang="en-US" sz="2800" dirty="0"/>
          </a:p>
        </p:txBody>
      </p:sp>
      <p:sp>
        <p:nvSpPr>
          <p:cNvPr id="14" name="Shape 10"/>
          <p:cNvSpPr/>
          <p:nvPr/>
        </p:nvSpPr>
        <p:spPr>
          <a:xfrm>
            <a:off x="502920" y="2514600"/>
            <a:ext cx="13716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2651760"/>
            <a:ext cx="548640" cy="54864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5101" y="277246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02920" y="3246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1874520" y="28346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2194560" y="2514600"/>
            <a:ext cx="13716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2606040" y="2651760"/>
            <a:ext cx="548640" cy="548640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6741" y="277246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2194560" y="3246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Analysis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3566160" y="28346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18"/>
          <p:cNvSpPr/>
          <p:nvPr/>
        </p:nvSpPr>
        <p:spPr>
          <a:xfrm>
            <a:off x="3886200" y="2514600"/>
            <a:ext cx="13716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297680" y="2651760"/>
            <a:ext cx="548640" cy="548640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8381" y="2772461"/>
            <a:ext cx="307238" cy="30723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3886200" y="3246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Image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5257800" y="28346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2"/>
          <p:cNvSpPr/>
          <p:nvPr/>
        </p:nvSpPr>
        <p:spPr>
          <a:xfrm>
            <a:off x="5577840" y="2514600"/>
            <a:ext cx="13716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5989320" y="2651760"/>
            <a:ext cx="548640" cy="548640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10021" y="2772461"/>
            <a:ext cx="307238" cy="30723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577840" y="3246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6949440" y="28346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Shape 26"/>
          <p:cNvSpPr/>
          <p:nvPr/>
        </p:nvSpPr>
        <p:spPr>
          <a:xfrm>
            <a:off x="7269480" y="2514600"/>
            <a:ext cx="13716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7680960" y="2651760"/>
            <a:ext cx="548640" cy="548640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01661" y="2772461"/>
            <a:ext cx="307238" cy="307238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7269480" y="3246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Shareable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experience</a:t>
            </a:r>
            <a:endParaRPr lang="en-US" sz="1200" dirty="0"/>
          </a:p>
        </p:txBody>
      </p:sp>
      <p:sp>
        <p:nvSpPr>
          <p:cNvPr id="38" name="Text 29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chaining: bir modelin çıktısı, zincirdeki bir sonraki modelin girdisi.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64008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Let’s put a real video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into the pipeline</a:t>
            </a:r>
            <a:endParaRPr lang="en-US" sz="32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19659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Bir gönüllüye ihtiyacım var.</a:t>
            </a:r>
            <a:endParaRPr lang="en-US" sz="1600" dirty="0"/>
          </a:p>
        </p:txBody>
      </p:sp>
      <p:sp>
        <p:nvSpPr>
          <p:cNvPr id="6" name="Shape 2"/>
          <p:cNvSpPr/>
          <p:nvPr/>
        </p:nvSpPr>
        <p:spPr>
          <a:xfrm>
            <a:off x="548640" y="2514600"/>
            <a:ext cx="438912" cy="438912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201" y="2611161"/>
            <a:ext cx="245791" cy="245791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143000" y="2514600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Yaklaşık 5 saniyelik net bir hareket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548640" y="3136392"/>
            <a:ext cx="438912" cy="438912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201" y="3232953"/>
            <a:ext cx="245791" cy="245791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143000" y="3136392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 Cloud Storage’da tutulur, 14 gün sonra silinir</a:t>
            </a:r>
            <a:endParaRPr lang="en-US" sz="1300" dirty="0"/>
          </a:p>
        </p:txBody>
      </p:sp>
      <p:sp>
        <p:nvSpPr>
          <p:cNvPr id="12" name="Shape 6"/>
          <p:cNvSpPr/>
          <p:nvPr/>
        </p:nvSpPr>
        <p:spPr>
          <a:xfrm>
            <a:off x="548640" y="3758184"/>
            <a:ext cx="438912" cy="438912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201" y="3854745"/>
            <a:ext cx="245791" cy="245791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143000" y="3758184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Modellerin kendi safety filtreleri var</a:t>
            </a:r>
            <a:endParaRPr lang="en-US" sz="1300" dirty="0"/>
          </a:p>
        </p:txBody>
      </p:sp>
      <p:sp>
        <p:nvSpPr>
          <p:cNvPr id="15" name="Shape 8"/>
          <p:cNvSpPr/>
          <p:nvPr/>
        </p:nvSpPr>
        <p:spPr>
          <a:xfrm>
            <a:off x="5943600" y="914400"/>
            <a:ext cx="2743200" cy="2743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1600200"/>
            <a:ext cx="1371600" cy="1371600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7589520" y="960120"/>
            <a:ext cx="1005840" cy="384048"/>
          </a:xfrm>
          <a:prstGeom prst="roundRect">
            <a:avLst>
              <a:gd name="adj" fmla="val 47619"/>
            </a:avLst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8" name="Text 10"/>
          <p:cNvSpPr txBox="1"/>
          <p:nvPr/>
        </p:nvSpPr>
        <p:spPr>
          <a:xfrm>
            <a:off x="7589520" y="96012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● REC 5s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9144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557784" y="118872"/>
            <a:ext cx="530352" cy="530352"/>
          </a:xfrm>
          <a:prstGeom prst="ellipse">
            <a:avLst/>
          </a:prstGeom>
          <a:solidFill>
            <a:srgbClr val="F8FAFD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Simple for the user, multi-stage behind the scenes</a:t>
            </a:r>
            <a:endParaRPr 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Kullanıcı tek bir işlem başlatıyor; arkada beş aşama çalışıyor.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457200" y="2011680"/>
            <a:ext cx="1481328" cy="2286000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30352" y="2084832"/>
            <a:ext cx="1335024" cy="91440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" y="2286000"/>
            <a:ext cx="502920" cy="5029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566928" y="315468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566928" y="35204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sn WebM → Cloud Storage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2121408" y="2011680"/>
            <a:ext cx="1481328" cy="2286000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2194560" y="2084832"/>
            <a:ext cx="1335024" cy="914400"/>
          </a:xfrm>
          <a:prstGeom prst="roundRect">
            <a:avLst>
              <a:gd name="adj" fmla="val 8000"/>
            </a:avLst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0612" y="2286000"/>
            <a:ext cx="502920" cy="50292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2231136" y="315468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2231136" y="35204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Structured JSON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3785616" y="2011680"/>
            <a:ext cx="1481328" cy="2286000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3858768" y="2084832"/>
            <a:ext cx="1335024" cy="91440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4820" y="2286000"/>
            <a:ext cx="502920" cy="50292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3895344" y="315468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3895344" y="35204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1024×1024 avatar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5449824" y="2011680"/>
            <a:ext cx="1481328" cy="2286000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5522976" y="2084832"/>
            <a:ext cx="1335024" cy="91440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9028" y="2286000"/>
            <a:ext cx="502920" cy="50292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5559552" y="315468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1400" dirty="0"/>
          </a:p>
        </p:txBody>
      </p:sp>
      <p:sp>
        <p:nvSpPr>
          <p:cNvPr id="38" name="Text 30"/>
          <p:cNvSpPr txBox="1"/>
          <p:nvPr/>
        </p:nvSpPr>
        <p:spPr>
          <a:xfrm>
            <a:off x="5559552" y="35204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 sn AI video</a:t>
            </a:r>
            <a:endParaRPr lang="en-US" sz="1100" dirty="0"/>
          </a:p>
        </p:txBody>
      </p:sp>
      <p:sp>
        <p:nvSpPr>
          <p:cNvPr id="39" name="Shape 31"/>
          <p:cNvSpPr/>
          <p:nvPr/>
        </p:nvSpPr>
        <p:spPr>
          <a:xfrm>
            <a:off x="7114032" y="2011680"/>
            <a:ext cx="1481328" cy="2286000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0" name="Shape 32"/>
          <p:cNvSpPr/>
          <p:nvPr/>
        </p:nvSpPr>
        <p:spPr>
          <a:xfrm>
            <a:off x="7187184" y="2084832"/>
            <a:ext cx="1335024" cy="91440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03236" y="2286000"/>
            <a:ext cx="502920" cy="50292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223760" y="315468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1400" dirty="0"/>
          </a:p>
        </p:txBody>
      </p:sp>
      <p:sp>
        <p:nvSpPr>
          <p:cNvPr id="43" name="Text 34"/>
          <p:cNvSpPr txBox="1"/>
          <p:nvPr/>
        </p:nvSpPr>
        <p:spPr>
          <a:xfrm>
            <a:off x="7223760" y="35204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sn video + QR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9144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557784" y="118872"/>
            <a:ext cx="530352" cy="530352"/>
          </a:xfrm>
          <a:prstGeom prst="ellipse">
            <a:avLst/>
          </a:prstGeom>
          <a:solidFill>
            <a:srgbClr val="E8F0FE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640080" y="201168"/>
            <a:ext cx="365760" cy="365760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 Upload &amp; Storage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İlk iş: videoyu ortak bir storage katmanına almak.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6596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594360" y="2103120"/>
            <a:ext cx="457200" cy="457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2203704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143000" y="2148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Browser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594360" y="26974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~5 sn WebM kayıt</a:t>
            </a:r>
            <a:endParaRPr lang="en-US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2286000" y="2377440"/>
            <a:ext cx="338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0"/>
          <p:cNvSpPr/>
          <p:nvPr/>
        </p:nvSpPr>
        <p:spPr>
          <a:xfrm>
            <a:off x="2624328" y="196596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2761488" y="2103120"/>
            <a:ext cx="457200" cy="457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2072" y="220370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3310128" y="2148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FastAPI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2761488" y="26974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POST /api/upload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video_id üretir</a:t>
            </a:r>
            <a:endParaRPr lang="en-US" sz="950" dirty="0"/>
          </a:p>
        </p:txBody>
      </p:sp>
      <p:sp>
        <p:nvSpPr>
          <p:cNvPr id="31" name="Text 24"/>
          <p:cNvSpPr txBox="1"/>
          <p:nvPr/>
        </p:nvSpPr>
        <p:spPr>
          <a:xfrm>
            <a:off x="4453128" y="2377440"/>
            <a:ext cx="338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Shape 25"/>
          <p:cNvSpPr/>
          <p:nvPr/>
        </p:nvSpPr>
        <p:spPr>
          <a:xfrm>
            <a:off x="4791456" y="196596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4928616" y="2103120"/>
            <a:ext cx="457200" cy="457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0" y="2203704"/>
            <a:ext cx="256032" cy="25603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477256" y="2148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Storage</a:t>
            </a:r>
            <a:endParaRPr lang="en-US" sz="1300" dirty="0"/>
          </a:p>
        </p:txBody>
      </p:sp>
      <p:sp>
        <p:nvSpPr>
          <p:cNvPr id="36" name="Text 28"/>
          <p:cNvSpPr txBox="1"/>
          <p:nvPr/>
        </p:nvSpPr>
        <p:spPr>
          <a:xfrm>
            <a:off x="4928616" y="26974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uploads/{video_id}.webm</a:t>
            </a:r>
            <a:endParaRPr lang="en-US" sz="950" dirty="0"/>
          </a:p>
        </p:txBody>
      </p:sp>
      <p:sp>
        <p:nvSpPr>
          <p:cNvPr id="37" name="Text 29"/>
          <p:cNvSpPr txBox="1"/>
          <p:nvPr/>
        </p:nvSpPr>
        <p:spPr>
          <a:xfrm>
            <a:off x="6620256" y="2377440"/>
            <a:ext cx="338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38" name="Shape 30"/>
          <p:cNvSpPr/>
          <p:nvPr/>
        </p:nvSpPr>
        <p:spPr>
          <a:xfrm>
            <a:off x="6958584" y="196596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9" name="Shape 31"/>
          <p:cNvSpPr/>
          <p:nvPr/>
        </p:nvSpPr>
        <p:spPr>
          <a:xfrm>
            <a:off x="7095744" y="2103120"/>
            <a:ext cx="457200" cy="457200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96328" y="2203704"/>
            <a:ext cx="256032" cy="256032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7644384" y="2148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1300" dirty="0"/>
          </a:p>
        </p:txBody>
      </p:sp>
      <p:sp>
        <p:nvSpPr>
          <p:cNvPr id="42" name="Text 33"/>
          <p:cNvSpPr txBox="1"/>
          <p:nvPr/>
        </p:nvSpPr>
        <p:spPr>
          <a:xfrm>
            <a:off x="7095744" y="26974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GCS URI ile okur</a:t>
            </a:r>
            <a:endParaRPr lang="en-US" sz="950" dirty="0"/>
          </a:p>
        </p:txBody>
      </p:sp>
      <p:sp>
        <p:nvSpPr>
          <p:cNvPr id="43" name="Shape 34"/>
          <p:cNvSpPr/>
          <p:nvPr/>
        </p:nvSpPr>
        <p:spPr>
          <a:xfrm>
            <a:off x="457200" y="361188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94360" y="36850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285F4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uploads/</a:t>
            </a:r>
            <a:endParaRPr lang="en-US" sz="1200" dirty="0"/>
          </a:p>
        </p:txBody>
      </p:sp>
      <p:sp>
        <p:nvSpPr>
          <p:cNvPr id="45" name="Text 36"/>
          <p:cNvSpPr txBox="1"/>
          <p:nvPr/>
        </p:nvSpPr>
        <p:spPr>
          <a:xfrm>
            <a:off x="594360" y="39959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Ham videolar</a:t>
            </a:r>
            <a:endParaRPr lang="en-US" sz="1050" dirty="0"/>
          </a:p>
        </p:txBody>
      </p:sp>
      <p:sp>
        <p:nvSpPr>
          <p:cNvPr id="46" name="Shape 37"/>
          <p:cNvSpPr/>
          <p:nvPr/>
        </p:nvSpPr>
        <p:spPr>
          <a:xfrm>
            <a:off x="2624328" y="361188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2761488" y="36850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142F4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frames/</a:t>
            </a:r>
            <a:endParaRPr lang="en-US" sz="1200" dirty="0"/>
          </a:p>
        </p:txBody>
      </p:sp>
      <p:sp>
        <p:nvSpPr>
          <p:cNvPr id="48" name="Text 39"/>
          <p:cNvSpPr txBox="1"/>
          <p:nvPr/>
        </p:nvSpPr>
        <p:spPr>
          <a:xfrm>
            <a:off x="2761488" y="39959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Seçilen kareler</a:t>
            </a:r>
            <a:endParaRPr lang="en-US" sz="1050" dirty="0"/>
          </a:p>
        </p:txBody>
      </p:sp>
      <p:sp>
        <p:nvSpPr>
          <p:cNvPr id="49" name="Shape 40"/>
          <p:cNvSpPr/>
          <p:nvPr/>
        </p:nvSpPr>
        <p:spPr>
          <a:xfrm>
            <a:off x="4791456" y="361188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4928616" y="36850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9AB0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avatars/</a:t>
            </a:r>
            <a:endParaRPr lang="en-US" sz="1200" dirty="0"/>
          </a:p>
        </p:txBody>
      </p:sp>
      <p:sp>
        <p:nvSpPr>
          <p:cNvPr id="51" name="Text 42"/>
          <p:cNvSpPr txBox="1"/>
          <p:nvPr/>
        </p:nvSpPr>
        <p:spPr>
          <a:xfrm>
            <a:off x="4928616" y="39959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Avatarlar</a:t>
            </a:r>
            <a:endParaRPr lang="en-US" sz="1050" dirty="0"/>
          </a:p>
        </p:txBody>
      </p:sp>
      <p:sp>
        <p:nvSpPr>
          <p:cNvPr id="52" name="Shape 43"/>
          <p:cNvSpPr/>
          <p:nvPr/>
        </p:nvSpPr>
        <p:spPr>
          <a:xfrm>
            <a:off x="6958584" y="361188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7095744" y="36850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A85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output/</a:t>
            </a:r>
            <a:endParaRPr lang="en-US" sz="1200" dirty="0"/>
          </a:p>
        </p:txBody>
      </p:sp>
      <p:sp>
        <p:nvSpPr>
          <p:cNvPr id="54" name="Text 45"/>
          <p:cNvSpPr txBox="1"/>
          <p:nvPr/>
        </p:nvSpPr>
        <p:spPr>
          <a:xfrm>
            <a:off x="7095744" y="39959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Üretilen videolar</a:t>
            </a:r>
            <a:endParaRPr lang="en-US" sz="1050" dirty="0"/>
          </a:p>
        </p:txBody>
      </p:sp>
      <p:sp>
        <p:nvSpPr>
          <p:cNvPr id="55" name="Text 46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Medya storage’da yaşar, uygulama belleğinde değil.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187452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2432304" y="118872"/>
            <a:ext cx="530352" cy="530352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14600" y="201168"/>
            <a:ext cx="365760" cy="365760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142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689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Gemini: Video → Structured JSON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Hareketi, pipeline’ın kullanabileceği veriye dönüştürüyoruz.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20240"/>
            <a:ext cx="4572000" cy="2514600"/>
          </a:xfrm>
          <a:prstGeom prst="roundRect">
            <a:avLst>
              <a:gd name="adj" fmla="val 3636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685800" y="2103120"/>
            <a:ext cx="42062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{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8AB4F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"movement_summary"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"Kollar yukarı...",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8AB4F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"body_parts"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["arms","torso"],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8AB4F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"phases"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[ ... ],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DD66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"best_frame_timestamp"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"0:02",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DD66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"person_description"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"Beyaz tişört...",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81C99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"veo_prompt"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"Arms rise..."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}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303520" y="1920240"/>
            <a:ext cx="3383280" cy="740664"/>
          </a:xfrm>
          <a:prstGeom prst="roundRect">
            <a:avLst>
              <a:gd name="adj" fmla="val 123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468112" y="2048256"/>
            <a:ext cx="493776" cy="493776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6743" y="2156887"/>
            <a:ext cx="276515" cy="27651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126480" y="20299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Hareketi anla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126480" y="232257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Özet, vücut bölgeleri, fazlar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5303520" y="2807208"/>
            <a:ext cx="3383280" cy="740664"/>
          </a:xfrm>
          <a:prstGeom prst="roundRect">
            <a:avLst>
              <a:gd name="adj" fmla="val 123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5468112" y="2935224"/>
            <a:ext cx="493776" cy="493776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6743" y="3043855"/>
            <a:ext cx="276515" cy="27651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126480" y="29169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 için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6126480" y="320954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 iyi kare + kişi tarifi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5303520" y="3694176"/>
            <a:ext cx="3383280" cy="740664"/>
          </a:xfrm>
          <a:prstGeom prst="roundRect">
            <a:avLst>
              <a:gd name="adj" fmla="val 123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5468112" y="3822192"/>
            <a:ext cx="493776" cy="493776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76743" y="3930823"/>
            <a:ext cx="276515" cy="276515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6126480" y="38039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için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6126480" y="40965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Hareketin üretim talimatı</a:t>
            </a:r>
            <a:endParaRPr lang="en-US" sz="1100" dirty="0"/>
          </a:p>
        </p:txBody>
      </p:sp>
      <p:sp>
        <p:nvSpPr>
          <p:cNvPr id="37" name="Text 29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çıktısı final cevap değil; pipeline’ın ara verisi.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187452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2432304" y="118872"/>
            <a:ext cx="530352" cy="530352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14600" y="201168"/>
            <a:ext cx="365760" cy="365760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142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689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 Input → JSON Output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Structured output’u çağrı seviyesinde nasıl istiyoruz?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20240"/>
            <a:ext cx="5120640" cy="2514600"/>
          </a:xfrm>
          <a:prstGeom prst="roundRect">
            <a:avLst>
              <a:gd name="adj" fmla="val 3636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640080" y="205740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response = client.models.generate_content(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C58AF9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model="gemini-3-flash-preview",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contents=[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8AB4F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  Part.from_uri(file_uri=gcs_uri,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8AB4F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                mime_type="video/webm"),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FDD66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  MOTION_ANALYSIS_PROMPT,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],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config=GenerateContentConfig(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81C99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  response_mime_type="application/json",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  thinking_config=ThinkingConfig(thinking_budget=1024))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F28B82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analysis = json.loads(response.text)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5852160" y="1920240"/>
            <a:ext cx="28346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961888" y="2011680"/>
            <a:ext cx="347472" cy="347472"/>
          </a:xfrm>
          <a:prstGeom prst="ellipse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961888" y="20116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446520" y="20116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 from GCS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5852160" y="2569464"/>
            <a:ext cx="28346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5961888" y="2660904"/>
            <a:ext cx="347472" cy="347472"/>
          </a:xfrm>
          <a:prstGeom prst="ellipse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961888" y="2660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6446520" y="266090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Prompt template</a:t>
            </a:r>
            <a:endParaRPr lang="en-US" sz="1300" dirty="0"/>
          </a:p>
        </p:txBody>
      </p:sp>
      <p:sp>
        <p:nvSpPr>
          <p:cNvPr id="30" name="Shape 25"/>
          <p:cNvSpPr/>
          <p:nvPr/>
        </p:nvSpPr>
        <p:spPr>
          <a:xfrm>
            <a:off x="5852160" y="3218688"/>
            <a:ext cx="28346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5961888" y="3310128"/>
            <a:ext cx="347472" cy="347472"/>
          </a:xfrm>
          <a:prstGeom prst="ellipse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5961888" y="33101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6446520" y="3310128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JSON response</a:t>
            </a:r>
            <a:endParaRPr lang="en-US" sz="1300" dirty="0"/>
          </a:p>
        </p:txBody>
      </p:sp>
      <p:sp>
        <p:nvSpPr>
          <p:cNvPr id="34" name="Shape 29"/>
          <p:cNvSpPr/>
          <p:nvPr/>
        </p:nvSpPr>
        <p:spPr>
          <a:xfrm>
            <a:off x="5852160" y="3867912"/>
            <a:ext cx="28346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30"/>
          <p:cNvSpPr/>
          <p:nvPr/>
        </p:nvSpPr>
        <p:spPr>
          <a:xfrm>
            <a:off x="5961888" y="3959352"/>
            <a:ext cx="347472" cy="347472"/>
          </a:xfrm>
          <a:prstGeom prst="ellipse">
            <a:avLst/>
          </a:prstGeom>
          <a:solidFill>
            <a:srgbClr val="A142F4"/>
          </a:solidFill>
          <a:ln w="12700">
            <a:solidFill>
              <a:srgbClr val="A142F4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5961888" y="39593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2"/>
          <p:cNvSpPr txBox="1"/>
          <p:nvPr/>
        </p:nvSpPr>
        <p:spPr>
          <a:xfrm>
            <a:off x="6446520" y="39593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Parse and continue</a:t>
            </a:r>
            <a:endParaRPr lang="en-US" sz="1300" dirty="0"/>
          </a:p>
        </p:txBody>
      </p:sp>
      <p:sp>
        <p:nvSpPr>
          <p:cNvPr id="38" name="Text 33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Structured output, multimodal pipeline’ı güvenilir ve birleştirilebilir yapıyor.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374904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4306824" y="118872"/>
            <a:ext cx="530352" cy="530352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389120" y="201168"/>
            <a:ext cx="365760" cy="365760"/>
          </a:xfrm>
          <a:prstGeom prst="ellipse">
            <a:avLst/>
          </a:prstGeom>
          <a:solidFill>
            <a:srgbClr val="F9AB00"/>
          </a:solidFill>
          <a:ln w="19050">
            <a:solidFill>
              <a:srgbClr val="F9AB0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9AB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41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 Generation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 iyi kare, Veo için bir referans görsele dönüşüyor.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65960"/>
            <a:ext cx="2331720" cy="237744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0080" y="2148840"/>
            <a:ext cx="548640" cy="54864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781" y="2269541"/>
            <a:ext cx="307238" cy="30723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0080" y="28346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Best frame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640080" y="320040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best_frame_timestamp anı ffmpeg ile videodan kesiliyor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278892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3154680" y="1965960"/>
            <a:ext cx="2331720" cy="237744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3337560" y="2148840"/>
            <a:ext cx="548640" cy="548640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8261" y="2269541"/>
            <a:ext cx="307238" cy="30723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3337560" y="28346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3337560" y="320040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Kare + style prompt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gemini-3.1-flash-image-preview</a:t>
            </a:r>
            <a:endParaRPr lang="en-US" sz="1100" dirty="0"/>
          </a:p>
        </p:txBody>
      </p:sp>
      <p:sp>
        <p:nvSpPr>
          <p:cNvPr id="31" name="Text 24"/>
          <p:cNvSpPr txBox="1"/>
          <p:nvPr/>
        </p:nvSpPr>
        <p:spPr>
          <a:xfrm>
            <a:off x="548640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Shape 25"/>
          <p:cNvSpPr/>
          <p:nvPr/>
        </p:nvSpPr>
        <p:spPr>
          <a:xfrm>
            <a:off x="5852160" y="1965960"/>
            <a:ext cx="2834640" cy="2377440"/>
          </a:xfrm>
          <a:prstGeom prst="roundRect">
            <a:avLst>
              <a:gd name="adj" fmla="val 3846"/>
            </a:avLst>
          </a:prstGeom>
          <a:solidFill>
            <a:srgbClr val="FEF7E0"/>
          </a:solidFill>
          <a:ln w="19050">
            <a:solidFill>
              <a:srgbClr val="F9AB00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33" name="Image 4" descr="/tmp/claude-0/-home-claude/d5e34c45-44d6-5238-8d7b-e6c7b3c8d5c3/scratchpad/deck/ref_image3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9320" y="2011680"/>
            <a:ext cx="1463040" cy="14630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452360" y="22860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1024×1024 PNG</a:t>
            </a:r>
            <a:endParaRPr lang="en-US" sz="1200" dirty="0"/>
          </a:p>
        </p:txBody>
      </p:sp>
      <p:sp>
        <p:nvSpPr>
          <p:cNvPr id="35" name="Text 27"/>
          <p:cNvSpPr txBox="1"/>
          <p:nvPr/>
        </p:nvSpPr>
        <p:spPr>
          <a:xfrm>
            <a:off x="7452360" y="27889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avatars/ altında saklanıyor</a:t>
            </a:r>
            <a:endParaRPr lang="en-US" sz="1000" dirty="0"/>
          </a:p>
        </p:txBody>
      </p:sp>
      <p:sp>
        <p:nvSpPr>
          <p:cNvPr id="36" name="Text 28"/>
          <p:cNvSpPr txBox="1"/>
          <p:nvPr/>
        </p:nvSpPr>
        <p:spPr>
          <a:xfrm>
            <a:off x="6035040" y="361188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Final çıktı değil, Veo için reference asset.</a:t>
            </a:r>
            <a:endParaRPr lang="en-US" sz="1200" dirty="0"/>
          </a:p>
        </p:txBody>
      </p:sp>
      <p:sp>
        <p:nvSpPr>
          <p:cNvPr id="37" name="Text 29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 aşama karakterin görsel kimliğini hazırlıyor.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562356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6181344" y="118872"/>
            <a:ext cx="530352" cy="530352"/>
          </a:xfrm>
          <a:prstGeom prst="ellipse">
            <a:avLst/>
          </a:prstGeom>
          <a:solidFill>
            <a:srgbClr val="E6F4EA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9AB00"/>
          </a:solidFill>
          <a:ln w="19050">
            <a:solidFill>
              <a:srgbClr val="F9AB0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263640" y="201168"/>
            <a:ext cx="365760" cy="365760"/>
          </a:xfrm>
          <a:prstGeom prst="ellipse">
            <a:avLst/>
          </a:prstGeom>
          <a:solidFill>
            <a:srgbClr val="34A853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3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Video Generation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Hareket context’i + görsel kimlik → yeni bir video.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65960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21792" y="2221992"/>
            <a:ext cx="530352" cy="530352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469" y="2338669"/>
            <a:ext cx="296997" cy="29699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280160" y="21945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veo_prompt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1280160" y="2514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Hareketin tarifi (Gemini)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57200" y="3200400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621792" y="3456432"/>
            <a:ext cx="530352" cy="530352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469" y="3573109"/>
            <a:ext cx="296997" cy="296997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280160" y="34290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1280160" y="3749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Görsel kimlik (Nano Banana)</a:t>
            </a:r>
            <a:endParaRPr lang="en-US" sz="1050" dirty="0"/>
          </a:p>
        </p:txBody>
      </p:sp>
      <p:sp>
        <p:nvSpPr>
          <p:cNvPr id="30" name="Text 23"/>
          <p:cNvSpPr txBox="1"/>
          <p:nvPr/>
        </p:nvSpPr>
        <p:spPr>
          <a:xfrm>
            <a:off x="315468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2200" dirty="0"/>
          </a:p>
        </p:txBody>
      </p:sp>
      <p:sp>
        <p:nvSpPr>
          <p:cNvPr id="31" name="Shape 24"/>
          <p:cNvSpPr/>
          <p:nvPr/>
        </p:nvSpPr>
        <p:spPr>
          <a:xfrm>
            <a:off x="3657600" y="196596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2194560"/>
            <a:ext cx="640080" cy="64008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749040" y="2926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3.1 Fast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3749040" y="32918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 sn · 16:9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 GCS output/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126480" y="1965960"/>
            <a:ext cx="25603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309360" y="2148840"/>
            <a:ext cx="457200" cy="457200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9944" y="2249424"/>
            <a:ext cx="256032" cy="256032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309360" y="27432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 ilk kare değil</a:t>
            </a:r>
            <a:endParaRPr lang="en-US" sz="1400" dirty="0"/>
          </a:p>
        </p:txBody>
      </p:sp>
      <p:sp>
        <p:nvSpPr>
          <p:cNvPr id="39" name="Text 30"/>
          <p:cNvSpPr txBox="1"/>
          <p:nvPr/>
        </p:nvSpPr>
        <p:spPr>
          <a:xfrm>
            <a:off x="6309360" y="3108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Referans görsel olarak veriliyor: “videodaki karakter böyle görünsün.”</a:t>
            </a:r>
            <a:endParaRPr lang="en-US" sz="1100" dirty="0"/>
          </a:p>
        </p:txBody>
      </p:sp>
      <p:sp>
        <p:nvSpPr>
          <p:cNvPr id="40" name="Text 31"/>
          <p:cNvSpPr txBox="1"/>
          <p:nvPr/>
        </p:nvSpPr>
        <p:spPr>
          <a:xfrm>
            <a:off x="6309360" y="3840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A433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reference_type = ASSET</a:t>
            </a:r>
            <a:endParaRPr lang="en-US" sz="1000" dirty="0"/>
          </a:p>
        </p:txBody>
      </p:sp>
      <p:sp>
        <p:nvSpPr>
          <p:cNvPr id="41" name="Text 32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bağımsız çalışmıyor; önceki aşamaların çıktılarıyla besleniyor.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562356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6181344" y="118872"/>
            <a:ext cx="530352" cy="530352"/>
          </a:xfrm>
          <a:prstGeom prst="ellipse">
            <a:avLst/>
          </a:prstGeom>
          <a:solidFill>
            <a:srgbClr val="E6F4EA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9AB00"/>
          </a:solidFill>
          <a:ln w="19050">
            <a:solidFill>
              <a:srgbClr val="F9AB0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263640" y="201168"/>
            <a:ext cx="365760" cy="365760"/>
          </a:xfrm>
          <a:prstGeom prst="ellipse">
            <a:avLst/>
          </a:prstGeom>
          <a:solidFill>
            <a:srgbClr val="34A853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3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Async, Status &amp; Concurrency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Bir AI işlemi saniyelerde bitmiyorsa uygulama bunu nasıl yönetir?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20240"/>
            <a:ext cx="484632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640080" y="20116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Aşama süreleri (yaklaşık)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640080" y="24231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Analyzing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1691640" y="2478024"/>
            <a:ext cx="228600" cy="182880"/>
          </a:xfrm>
          <a:prstGeom prst="roundRect">
            <a:avLst>
              <a:gd name="adj" fmla="val 25000"/>
            </a:avLst>
          </a:prstGeom>
          <a:solidFill>
            <a:srgbClr val="A142F4"/>
          </a:solidFill>
          <a:ln w="12700">
            <a:solidFill>
              <a:srgbClr val="A142F4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2011680" y="24231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5–10 sn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640080" y="28803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1691640" y="2935224"/>
            <a:ext cx="274320" cy="182880"/>
          </a:xfrm>
          <a:prstGeom prst="roundRect">
            <a:avLst>
              <a:gd name="adj" fmla="val 25000"/>
            </a:avLst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2057400" y="28803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8–12 sn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640080" y="33375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1691640" y="3392424"/>
            <a:ext cx="2743200" cy="182880"/>
          </a:xfrm>
          <a:prstGeom prst="roundRect">
            <a:avLst>
              <a:gd name="adj" fmla="val 25000"/>
            </a:avLst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526280" y="33375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60–120 sn</a:t>
            </a:r>
            <a:endParaRPr lang="en-US" sz="1000" dirty="0"/>
          </a:p>
        </p:txBody>
      </p:sp>
      <p:sp>
        <p:nvSpPr>
          <p:cNvPr id="31" name="Text 26"/>
          <p:cNvSpPr txBox="1"/>
          <p:nvPr/>
        </p:nvSpPr>
        <p:spPr>
          <a:xfrm>
            <a:off x="640080" y="37947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Composing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1691640" y="3849624"/>
            <a:ext cx="228600" cy="182880"/>
          </a:xfrm>
          <a:prstGeom prst="roundRect">
            <a:avLst>
              <a:gd name="adj" fmla="val 25000"/>
            </a:avLst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2011680" y="37947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5–10 sn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5577840" y="1920240"/>
            <a:ext cx="31089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Text 30"/>
          <p:cNvSpPr txBox="1"/>
          <p:nvPr/>
        </p:nvSpPr>
        <p:spPr>
          <a:xfrm>
            <a:off x="5760720" y="20116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3600" dirty="0"/>
          </a:p>
        </p:txBody>
      </p:sp>
      <p:sp>
        <p:nvSpPr>
          <p:cNvPr id="36" name="Text 31"/>
          <p:cNvSpPr txBox="1"/>
          <p:nvPr/>
        </p:nvSpPr>
        <p:spPr>
          <a:xfrm>
            <a:off x="6949440" y="21031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aktif video işi (max)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5577840" y="3200400"/>
            <a:ext cx="31089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8" name="Text 33"/>
          <p:cNvSpPr txBox="1"/>
          <p:nvPr/>
        </p:nvSpPr>
        <p:spPr>
          <a:xfrm>
            <a:off x="5760720" y="32918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sn</a:t>
            </a:r>
            <a:endParaRPr lang="en-US" sz="3600" dirty="0"/>
          </a:p>
        </p:txBody>
      </p:sp>
      <p:sp>
        <p:nvSpPr>
          <p:cNvPr id="39" name="Text 34"/>
          <p:cNvSpPr txBox="1"/>
          <p:nvPr/>
        </p:nvSpPr>
        <p:spPr>
          <a:xfrm>
            <a:off x="6949440" y="33832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operation poll aralığı</a:t>
            </a:r>
            <a:endParaRPr lang="en-US" sz="1100" dirty="0"/>
          </a:p>
        </p:txBody>
      </p:sp>
      <p:sp>
        <p:nvSpPr>
          <p:cNvPr id="40" name="Text 35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İki katmanlı polling: backend Veo’yu, frontend backend’i yokluyor.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!!tl_prog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!!tl_halo"/>
          <p:cNvSpPr/>
          <p:nvPr/>
        </p:nvSpPr>
        <p:spPr>
          <a:xfrm>
            <a:off x="8055864" y="118872"/>
            <a:ext cx="530352" cy="530352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8FAF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9AB00"/>
          </a:solidFill>
          <a:ln w="19050">
            <a:solidFill>
              <a:srgbClr val="F9AB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34A853"/>
          </a:solidFill>
          <a:ln w="19050">
            <a:solidFill>
              <a:srgbClr val="34A85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138160" y="201168"/>
            <a:ext cx="365760" cy="365760"/>
          </a:xfrm>
          <a:prstGeom prst="ellipse">
            <a:avLst/>
          </a:prstGeom>
          <a:solidFill>
            <a:srgbClr val="EA4335"/>
          </a:solidFill>
          <a:ln w="19050">
            <a:solidFill>
              <a:srgbClr val="EA433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45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From model output to experience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Kullanıcının görmek istediği ham model çıktısı değil.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713232" y="2414016"/>
            <a:ext cx="0" cy="164592"/>
          </a:xfrm>
          <a:prstGeom prst="line">
            <a:avLst/>
          </a:prstGeom>
          <a:noFill/>
          <a:ln w="19050">
            <a:solidFill>
              <a:srgbClr val="DADC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457200" y="1920240"/>
            <a:ext cx="493776" cy="493776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831" y="2028871"/>
            <a:ext cx="276515" cy="276515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97280" y="19385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çıktısı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1097280" y="219456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 saniye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713232" y="3072384"/>
            <a:ext cx="0" cy="164592"/>
          </a:xfrm>
          <a:prstGeom prst="line">
            <a:avLst/>
          </a:prstGeom>
          <a:noFill/>
          <a:ln w="19050">
            <a:solidFill>
              <a:srgbClr val="DADC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0"/>
          <p:cNvSpPr/>
          <p:nvPr/>
        </p:nvSpPr>
        <p:spPr>
          <a:xfrm>
            <a:off x="457200" y="2578608"/>
            <a:ext cx="493776" cy="493776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5831" y="2687239"/>
            <a:ext cx="276515" cy="27651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097280" y="25968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Trim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1097280" y="285292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ffmpeg ile ilk 5 saniye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713232" y="3730752"/>
            <a:ext cx="0" cy="164592"/>
          </a:xfrm>
          <a:prstGeom prst="line">
            <a:avLst/>
          </a:prstGeom>
          <a:noFill/>
          <a:ln w="19050">
            <a:solidFill>
              <a:srgbClr val="DADC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4"/>
          <p:cNvSpPr/>
          <p:nvPr/>
        </p:nvSpPr>
        <p:spPr>
          <a:xfrm>
            <a:off x="457200" y="3236976"/>
            <a:ext cx="493776" cy="493776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5831" y="3345607"/>
            <a:ext cx="276515" cy="276515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1097280" y="32552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Dikey paylaşım videosu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1097280" y="351129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 büyük, kayıt köşede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457200" y="3895344"/>
            <a:ext cx="493776" cy="493776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5831" y="4003975"/>
            <a:ext cx="276515" cy="276515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097280" y="39136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QR + paylaşım</a:t>
            </a:r>
            <a:endParaRPr lang="en-US" sz="1400" dirty="0"/>
          </a:p>
        </p:txBody>
      </p:sp>
      <p:sp>
        <p:nvSpPr>
          <p:cNvPr id="38" name="Text 29"/>
          <p:cNvSpPr txBox="1"/>
          <p:nvPr/>
        </p:nvSpPr>
        <p:spPr>
          <a:xfrm>
            <a:off x="1097280" y="416966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Paylaş + indir · 24 saatlik link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6598539" y="877824"/>
            <a:ext cx="2079117" cy="3639312"/>
          </a:xfrm>
          <a:prstGeom prst="roundRect">
            <a:avLst>
              <a:gd name="adj" fmla="val 3810"/>
            </a:avLst>
          </a:prstGeom>
          <a:solidFill>
            <a:srgbClr val="E8F0FE"/>
          </a:solidFill>
          <a:ln w="19050">
            <a:solidFill>
              <a:srgbClr val="4285F4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share_video" descr="kas-A-bulani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35115" y="914400"/>
            <a:ext cx="2005965" cy="35661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Motion Lab Architecture</a:t>
            </a:r>
            <a:endParaRPr lang="en-US" sz="2800" dirty="0"/>
          </a:p>
        </p:txBody>
      </p:sp>
      <p:sp>
        <p:nvSpPr>
          <p:cNvPr id="5" name="Shape 1"/>
          <p:cNvSpPr/>
          <p:nvPr/>
        </p:nvSpPr>
        <p:spPr>
          <a:xfrm>
            <a:off x="457200" y="1143000"/>
            <a:ext cx="21945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2"/>
          <p:cNvSpPr/>
          <p:nvPr/>
        </p:nvSpPr>
        <p:spPr>
          <a:xfrm>
            <a:off x="640080" y="1325880"/>
            <a:ext cx="502920" cy="50292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1436522"/>
            <a:ext cx="281635" cy="28163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40080" y="1920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Frontend</a:t>
            </a:r>
            <a:endParaRPr lang="en-US" sz="1500" dirty="0"/>
          </a:p>
        </p:txBody>
      </p:sp>
      <p:sp>
        <p:nvSpPr>
          <p:cNvPr id="9" name="Text 4"/>
          <p:cNvSpPr txBox="1"/>
          <p:nvPr/>
        </p:nvSpPr>
        <p:spPr>
          <a:xfrm>
            <a:off x="640080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React + Vite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265176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⇄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3108960" y="1143000"/>
            <a:ext cx="5577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3291840" y="1325880"/>
            <a:ext cx="502920" cy="502920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02482" y="1436522"/>
            <a:ext cx="281635" cy="28163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931920" y="1325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Backend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3931920" y="16002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FastAPI · Cloud Run · 2 GiB (ffmpeg) · min-instances 1</a:t>
            </a:r>
            <a:endParaRPr lang="en-US" sz="1050" dirty="0"/>
          </a:p>
        </p:txBody>
      </p:sp>
      <p:sp>
        <p:nvSpPr>
          <p:cNvPr id="16" name="Shape 10"/>
          <p:cNvSpPr/>
          <p:nvPr/>
        </p:nvSpPr>
        <p:spPr>
          <a:xfrm>
            <a:off x="3291840" y="201168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3291840" y="20116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5074920" y="201168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5074920" y="20116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A142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6858000" y="201168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0" y="20116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9AB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3291840" y="24231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3291840" y="24231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074920" y="24231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074920" y="24231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Trim+Compose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858000" y="24231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858000" y="24231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QR / Share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3108960" y="3291840"/>
            <a:ext cx="27432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3273552" y="3456432"/>
            <a:ext cx="457200" cy="457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4136" y="3557016"/>
            <a:ext cx="256032" cy="25603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3840480" y="3456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Storage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3273552" y="3977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uploads/ · frames/ · avatars/ · output/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5943600" y="3291840"/>
            <a:ext cx="27432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6108192" y="3456432"/>
            <a:ext cx="457200" cy="457200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8776" y="3557016"/>
            <a:ext cx="256032" cy="25603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6675120" y="3456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6108192" y="3977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· Nano Banana · Veo</a:t>
            </a:r>
            <a:endParaRPr lang="en-US" sz="950" dirty="0"/>
          </a:p>
        </p:txBody>
      </p:sp>
      <p:sp>
        <p:nvSpPr>
          <p:cNvPr id="38" name="Text 30"/>
          <p:cNvSpPr txBox="1"/>
          <p:nvPr/>
        </p:nvSpPr>
        <p:spPr>
          <a:xfrm>
            <a:off x="457200" y="329184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Frontend deneyimi, backend orkestrasyonu, storage medyayı, modeller kendi uzmanlıklarını üstleniyor.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Lessons</a:t>
            </a:r>
            <a:endParaRPr lang="en-US" sz="2800" dirty="0"/>
          </a:p>
        </p:txBody>
      </p:sp>
      <p:sp>
        <p:nvSpPr>
          <p:cNvPr id="5" name="Shape 1"/>
          <p:cNvSpPr/>
          <p:nvPr/>
        </p:nvSpPr>
        <p:spPr>
          <a:xfrm>
            <a:off x="457200" y="1097280"/>
            <a:ext cx="283464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2"/>
          <p:cNvSpPr/>
          <p:nvPr/>
        </p:nvSpPr>
        <p:spPr>
          <a:xfrm>
            <a:off x="621792" y="1280160"/>
            <a:ext cx="457200" cy="457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1380744"/>
            <a:ext cx="256032" cy="25603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234440" y="1234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Latency is UX</a:t>
            </a:r>
            <a:endParaRPr lang="en-US" sz="1250" dirty="0"/>
          </a:p>
        </p:txBody>
      </p:sp>
      <p:sp>
        <p:nvSpPr>
          <p:cNvPr id="9" name="Text 4"/>
          <p:cNvSpPr txBox="1"/>
          <p:nvPr/>
        </p:nvSpPr>
        <p:spPr>
          <a:xfrm>
            <a:off x="1234440" y="182880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Beklerken ne gösterdiğiniz de ürünün parçası.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3474720" y="1097280"/>
            <a:ext cx="283464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3639312" y="1280160"/>
            <a:ext cx="457200" cy="457200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9896" y="1380744"/>
            <a:ext cx="256032" cy="25603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251960" y="1234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Async jobs need orchestration</a:t>
            </a:r>
            <a:endParaRPr lang="en-US" sz="1250" dirty="0"/>
          </a:p>
        </p:txBody>
      </p:sp>
      <p:sp>
        <p:nvSpPr>
          <p:cNvPr id="14" name="Text 8"/>
          <p:cNvSpPr txBox="1"/>
          <p:nvPr/>
        </p:nvSpPr>
        <p:spPr>
          <a:xfrm>
            <a:off x="4251960" y="182880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Status, concurrency, retry AI ile kaybolmuyor.</a:t>
            </a:r>
            <a:endParaRPr lang="en-US" sz="1000" dirty="0"/>
          </a:p>
        </p:txBody>
      </p:sp>
      <p:sp>
        <p:nvSpPr>
          <p:cNvPr id="15" name="Shape 9"/>
          <p:cNvSpPr/>
          <p:nvPr/>
        </p:nvSpPr>
        <p:spPr>
          <a:xfrm>
            <a:off x="457200" y="2514600"/>
            <a:ext cx="283464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621792" y="2697480"/>
            <a:ext cx="457200" cy="457200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279806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234440" y="2651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Failures need fallbacks</a:t>
            </a:r>
            <a:endParaRPr lang="en-US" sz="1250" dirty="0"/>
          </a:p>
        </p:txBody>
      </p:sp>
      <p:sp>
        <p:nvSpPr>
          <p:cNvPr id="19" name="Text 12"/>
          <p:cNvSpPr txBox="1"/>
          <p:nvPr/>
        </p:nvSpPr>
        <p:spPr>
          <a:xfrm>
            <a:off x="1234440" y="324612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Safety filtreleri, kota, beklenmeyen çıktılar.</a:t>
            </a:r>
            <a:endParaRPr lang="en-US" sz="1000" dirty="0"/>
          </a:p>
        </p:txBody>
      </p:sp>
      <p:sp>
        <p:nvSpPr>
          <p:cNvPr id="20" name="Shape 13"/>
          <p:cNvSpPr/>
          <p:nvPr/>
        </p:nvSpPr>
        <p:spPr>
          <a:xfrm>
            <a:off x="3474720" y="2514600"/>
            <a:ext cx="283464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4"/>
          <p:cNvSpPr/>
          <p:nvPr/>
        </p:nvSpPr>
        <p:spPr>
          <a:xfrm>
            <a:off x="3639312" y="2697480"/>
            <a:ext cx="457200" cy="457200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9896" y="2798064"/>
            <a:ext cx="256032" cy="25603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4251960" y="2651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Media needs lifecycle &amp; privacy</a:t>
            </a:r>
            <a:endParaRPr lang="en-US" sz="1250" dirty="0"/>
          </a:p>
        </p:txBody>
      </p:sp>
      <p:sp>
        <p:nvSpPr>
          <p:cNvPr id="24" name="Text 16"/>
          <p:cNvSpPr txBox="1"/>
          <p:nvPr/>
        </p:nvSpPr>
        <p:spPr>
          <a:xfrm>
            <a:off x="4251960" y="324612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Neyi, ne kadar, kime açık tutuyoruz?</a:t>
            </a:r>
            <a:endParaRPr lang="en-US" sz="1000" dirty="0"/>
          </a:p>
        </p:txBody>
      </p:sp>
      <p:sp>
        <p:nvSpPr>
          <p:cNvPr id="25" name="Shape 17"/>
          <p:cNvSpPr/>
          <p:nvPr/>
        </p:nvSpPr>
        <p:spPr>
          <a:xfrm>
            <a:off x="6675120" y="1097280"/>
            <a:ext cx="2011680" cy="1261872"/>
          </a:xfrm>
          <a:prstGeom prst="roundRect">
            <a:avLst>
              <a:gd name="adj" fmla="val 4545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" name="Shape qr2"/>
          <p:cNvSpPr/>
          <p:nvPr/>
        </p:nvSpPr>
        <p:spPr>
          <a:xfrm>
            <a:off x="6675120" y="2514600"/>
            <a:ext cx="2011680" cy="1261872"/>
          </a:xfrm>
          <a:prstGeom prst="roundRect">
            <a:avLst>
              <a:gd name="adj" fmla="val 4545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Text 19"/>
          <p:cNvSpPr txBox="1"/>
          <p:nvPr/>
        </p:nvSpPr>
        <p:spPr>
          <a:xfrm>
            <a:off x="6766560" y="34838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Demoyu dene</a:t>
            </a:r>
            <a:endParaRPr lang="en-US" sz="1000" dirty="0"/>
          </a:p>
        </p:txBody>
      </p:sp>
      <p:sp>
        <p:nvSpPr>
          <p:cNvPr id="26" name="Text 19"/>
          <p:cNvSpPr txBox="1"/>
          <p:nvPr/>
        </p:nvSpPr>
        <p:spPr>
          <a:xfrm>
            <a:off x="6766560" y="2066543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GitHub</a:t>
            </a:r>
            <a:endParaRPr lang="en-US" sz="1000" dirty="0"/>
          </a:p>
        </p:txBody>
      </p:sp>
      <p:sp>
        <p:nvSpPr>
          <p:cNvPr id="29" name="Text 20"/>
          <p:cNvSpPr txBox="1"/>
          <p:nvPr/>
        </p:nvSpPr>
        <p:spPr>
          <a:xfrm>
            <a:off x="457200" y="40690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 modeli uygulamanın tamamı değil. Modeli çevreleyen sistem en az model kadar önemli.</a:t>
            </a:r>
            <a:endParaRPr lang="en-US" sz="1400" dirty="0"/>
          </a:p>
        </p:txBody>
      </p:sp>
      <p:pic>
        <p:nvPicPr>
          <p:cNvPr id="30" name="Picture 29" descr="qr_githu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23760" y="1170432"/>
            <a:ext cx="914400" cy="914400"/>
          </a:xfrm>
          <a:prstGeom prst="rect">
            <a:avLst/>
          </a:prstGeom>
        </p:spPr>
      </p:pic>
      <p:pic>
        <p:nvPicPr>
          <p:cNvPr id="31" name="Picture 30" descr="qr_dem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23760" y="2587752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tmp/claude-0/-home-claude/d5e34c45-44d6-5238-8d7b-e6c7b3c8d5c3/scratchpad/deck/devfest_fo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02124">
              <a:alpha val="78000"/>
            </a:srgbClr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" name="Text 1"/>
          <p:cNvSpPr txBox="1"/>
          <p:nvPr/>
        </p:nvSpPr>
        <p:spPr>
          <a:xfrm>
            <a:off x="320040" y="201168"/>
            <a:ext cx="579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Hilal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1082650" y="201168"/>
            <a:ext cx="5234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Safa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1788932" y="201168"/>
            <a:ext cx="579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Zülal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2551542" y="201168"/>
            <a:ext cx="7434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Ailem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3477829" y="201168"/>
            <a:ext cx="49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Sena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151925" y="201168"/>
            <a:ext cx="8130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Nazenin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5147889" y="201168"/>
            <a:ext cx="579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Doruk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5910499" y="201168"/>
            <a:ext cx="12284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Hocalarım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7321784" y="201168"/>
            <a:ext cx="49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Sıla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7995879" y="201168"/>
            <a:ext cx="6601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Talha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557784"/>
            <a:ext cx="6199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Beyza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1461211" y="557784"/>
            <a:ext cx="147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Mentorlarım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3114995" y="557784"/>
            <a:ext cx="6199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Rabia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3917838" y="557784"/>
            <a:ext cx="579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Emrah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4680448" y="557784"/>
            <a:ext cx="764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Saygın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5628132" y="557784"/>
            <a:ext cx="2319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Takım Arkadaşlarım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8130662" y="557784"/>
            <a:ext cx="5234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Ozan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448056" y="914400"/>
            <a:ext cx="716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Mehmet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1347460" y="914400"/>
            <a:ext cx="4027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Ece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1933042" y="914400"/>
            <a:ext cx="15921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Arkadaşlarım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3708075" y="914400"/>
            <a:ext cx="7567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Oğuzhan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4647712" y="914400"/>
            <a:ext cx="5234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Müge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53995" y="914400"/>
            <a:ext cx="579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Şafak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6116604" y="914400"/>
            <a:ext cx="147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Topluluklar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7770388" y="914400"/>
            <a:ext cx="4027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Can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8355970" y="914400"/>
            <a:ext cx="450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Ali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786384" y="1271016"/>
            <a:ext cx="5234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Mert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1492667" y="1271016"/>
            <a:ext cx="147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GDG Türkiye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3146450" y="1271016"/>
            <a:ext cx="6199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Deniz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3949294" y="1271016"/>
            <a:ext cx="579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Melis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4711903" y="1271016"/>
            <a:ext cx="6601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Ahmet</a:t>
            </a:r>
            <a:endParaRPr lang="en-US" sz="1300" dirty="0"/>
          </a:p>
        </p:txBody>
      </p:sp>
      <p:sp>
        <p:nvSpPr>
          <p:cNvPr id="36" name="Text 32"/>
          <p:cNvSpPr txBox="1"/>
          <p:nvPr/>
        </p:nvSpPr>
        <p:spPr>
          <a:xfrm>
            <a:off x="5554980" y="1271016"/>
            <a:ext cx="19559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GDG Cloud Konya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7693762" y="1271016"/>
            <a:ext cx="5234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İrem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576072" y="1627632"/>
            <a:ext cx="6199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Kerem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1378915" y="1627632"/>
            <a:ext cx="49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Elif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6995160" y="1627632"/>
            <a:ext cx="12284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GDG MENAT</a:t>
            </a:r>
            <a:endParaRPr lang="en-US" sz="1300" dirty="0"/>
          </a:p>
        </p:txBody>
      </p:sp>
      <p:sp>
        <p:nvSpPr>
          <p:cNvPr id="41" name="Text 37"/>
          <p:cNvSpPr txBox="1"/>
          <p:nvPr/>
        </p:nvSpPr>
        <p:spPr>
          <a:xfrm>
            <a:off x="8406445" y="1627632"/>
            <a:ext cx="4027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Cem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365760" y="1984248"/>
            <a:ext cx="49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Onur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1039856" y="1984248"/>
            <a:ext cx="716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Furkan</a:t>
            </a:r>
            <a:endParaRPr lang="en-US" sz="1200" dirty="0"/>
          </a:p>
        </p:txBody>
      </p:sp>
      <p:sp>
        <p:nvSpPr>
          <p:cNvPr id="44" name="Text 40"/>
          <p:cNvSpPr txBox="1"/>
          <p:nvPr/>
        </p:nvSpPr>
        <p:spPr>
          <a:xfrm>
            <a:off x="621792" y="3410712"/>
            <a:ext cx="2319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Organizasyon Ekibi</a:t>
            </a:r>
            <a:endParaRPr lang="en-US" sz="1300" dirty="0"/>
          </a:p>
        </p:txBody>
      </p:sp>
      <p:sp>
        <p:nvSpPr>
          <p:cNvPr id="45" name="Text 41"/>
          <p:cNvSpPr txBox="1"/>
          <p:nvPr/>
        </p:nvSpPr>
        <p:spPr>
          <a:xfrm>
            <a:off x="3124322" y="3410712"/>
            <a:ext cx="5234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Esra</a:t>
            </a:r>
            <a:endParaRPr lang="en-US" sz="1200" dirty="0"/>
          </a:p>
        </p:txBody>
      </p:sp>
      <p:sp>
        <p:nvSpPr>
          <p:cNvPr id="46" name="Text 42"/>
          <p:cNvSpPr txBox="1"/>
          <p:nvPr/>
        </p:nvSpPr>
        <p:spPr>
          <a:xfrm>
            <a:off x="3830604" y="3410712"/>
            <a:ext cx="6682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Zeynep</a:t>
            </a:r>
            <a:endParaRPr lang="en-US" sz="1100" dirty="0"/>
          </a:p>
        </p:txBody>
      </p:sp>
      <p:sp>
        <p:nvSpPr>
          <p:cNvPr id="47" name="Text 43"/>
          <p:cNvSpPr txBox="1"/>
          <p:nvPr/>
        </p:nvSpPr>
        <p:spPr>
          <a:xfrm>
            <a:off x="4681728" y="3410712"/>
            <a:ext cx="5555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Berk</a:t>
            </a:r>
            <a:endParaRPr lang="en-US" sz="1300" dirty="0"/>
          </a:p>
        </p:txBody>
      </p:sp>
      <p:sp>
        <p:nvSpPr>
          <p:cNvPr id="48" name="Text 44"/>
          <p:cNvSpPr txBox="1"/>
          <p:nvPr/>
        </p:nvSpPr>
        <p:spPr>
          <a:xfrm>
            <a:off x="5420197" y="3410712"/>
            <a:ext cx="15921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Konuşmacılar</a:t>
            </a:r>
            <a:endParaRPr lang="en-US" sz="1300" dirty="0"/>
          </a:p>
        </p:txBody>
      </p:sp>
      <p:sp>
        <p:nvSpPr>
          <p:cNvPr id="49" name="Text 45"/>
          <p:cNvSpPr txBox="1"/>
          <p:nvPr/>
        </p:nvSpPr>
        <p:spPr>
          <a:xfrm>
            <a:off x="7195231" y="3410712"/>
            <a:ext cx="5234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Kaan</a:t>
            </a:r>
            <a:endParaRPr lang="en-US" sz="1200" dirty="0"/>
          </a:p>
        </p:txBody>
      </p:sp>
      <p:sp>
        <p:nvSpPr>
          <p:cNvPr id="50" name="Text 46"/>
          <p:cNvSpPr txBox="1"/>
          <p:nvPr/>
        </p:nvSpPr>
        <p:spPr>
          <a:xfrm>
            <a:off x="7901513" y="3410712"/>
            <a:ext cx="49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Ayşe</a:t>
            </a:r>
            <a:endParaRPr lang="en-US" sz="1100" dirty="0"/>
          </a:p>
        </p:txBody>
      </p:sp>
      <p:sp>
        <p:nvSpPr>
          <p:cNvPr id="51" name="Text 47"/>
          <p:cNvSpPr txBox="1"/>
          <p:nvPr/>
        </p:nvSpPr>
        <p:spPr>
          <a:xfrm>
            <a:off x="411480" y="3767328"/>
            <a:ext cx="7567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Mustafa</a:t>
            </a:r>
            <a:endParaRPr lang="en-US" sz="1100" dirty="0"/>
          </a:p>
        </p:txBody>
      </p:sp>
      <p:sp>
        <p:nvSpPr>
          <p:cNvPr id="52" name="Text 48"/>
          <p:cNvSpPr txBox="1"/>
          <p:nvPr/>
        </p:nvSpPr>
        <p:spPr>
          <a:xfrm>
            <a:off x="1351117" y="3767328"/>
            <a:ext cx="20771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Tüm Katılımcılar</a:t>
            </a:r>
            <a:endParaRPr lang="en-US" sz="1300" dirty="0"/>
          </a:p>
        </p:txBody>
      </p:sp>
      <p:sp>
        <p:nvSpPr>
          <p:cNvPr id="53" name="Text 49"/>
          <p:cNvSpPr txBox="1"/>
          <p:nvPr/>
        </p:nvSpPr>
        <p:spPr>
          <a:xfrm>
            <a:off x="3611148" y="3767328"/>
            <a:ext cx="7567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Batuhan</a:t>
            </a:r>
            <a:endParaRPr lang="en-US" sz="1100" dirty="0"/>
          </a:p>
        </p:txBody>
      </p:sp>
      <p:sp>
        <p:nvSpPr>
          <p:cNvPr id="54" name="Text 50"/>
          <p:cNvSpPr txBox="1"/>
          <p:nvPr/>
        </p:nvSpPr>
        <p:spPr>
          <a:xfrm>
            <a:off x="4550786" y="3767328"/>
            <a:ext cx="6199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Burak</a:t>
            </a:r>
            <a:endParaRPr lang="en-US" sz="1200" dirty="0"/>
          </a:p>
        </p:txBody>
      </p:sp>
      <p:sp>
        <p:nvSpPr>
          <p:cNvPr id="55" name="Text 51"/>
          <p:cNvSpPr txBox="1"/>
          <p:nvPr/>
        </p:nvSpPr>
        <p:spPr>
          <a:xfrm>
            <a:off x="5353629" y="3767328"/>
            <a:ext cx="579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Yusuf</a:t>
            </a:r>
            <a:endParaRPr lang="en-US" sz="1100" dirty="0"/>
          </a:p>
        </p:txBody>
      </p:sp>
      <p:sp>
        <p:nvSpPr>
          <p:cNvPr id="56" name="Text 52"/>
          <p:cNvSpPr txBox="1"/>
          <p:nvPr/>
        </p:nvSpPr>
        <p:spPr>
          <a:xfrm>
            <a:off x="6116239" y="3767328"/>
            <a:ext cx="2319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İlham Veren Herkes</a:t>
            </a:r>
            <a:endParaRPr lang="en-US" sz="1300" dirty="0"/>
          </a:p>
        </p:txBody>
      </p:sp>
      <p:sp>
        <p:nvSpPr>
          <p:cNvPr id="57" name="Text 53"/>
          <p:cNvSpPr txBox="1"/>
          <p:nvPr/>
        </p:nvSpPr>
        <p:spPr>
          <a:xfrm>
            <a:off x="749808" y="4123944"/>
            <a:ext cx="2319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Destek Olan Herkes</a:t>
            </a:r>
            <a:endParaRPr lang="en-US" sz="1300" dirty="0"/>
          </a:p>
        </p:txBody>
      </p:sp>
      <p:sp>
        <p:nvSpPr>
          <p:cNvPr id="58" name="Text 54"/>
          <p:cNvSpPr txBox="1"/>
          <p:nvPr/>
        </p:nvSpPr>
        <p:spPr>
          <a:xfrm>
            <a:off x="3252338" y="4123944"/>
            <a:ext cx="24408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 Daha Niceleri...</a:t>
            </a:r>
            <a:endParaRPr lang="en-US" sz="1300" dirty="0"/>
          </a:p>
        </p:txBody>
      </p:sp>
      <p:sp>
        <p:nvSpPr>
          <p:cNvPr id="59" name="Text 55"/>
          <p:cNvSpPr txBox="1"/>
          <p:nvPr/>
        </p:nvSpPr>
        <p:spPr>
          <a:xfrm>
            <a:off x="2103120" y="1691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Thank you!</a:t>
            </a:r>
            <a:endParaRPr lang="en-US" sz="5400" dirty="0"/>
          </a:p>
        </p:txBody>
      </p:sp>
      <p:sp>
        <p:nvSpPr>
          <p:cNvPr id="60" name="Shape 56"/>
          <p:cNvSpPr/>
          <p:nvPr/>
        </p:nvSpPr>
        <p:spPr>
          <a:xfrm>
            <a:off x="3291840" y="2651760"/>
            <a:ext cx="2560320" cy="0"/>
          </a:xfrm>
          <a:prstGeom prst="line">
            <a:avLst/>
          </a:prstGeom>
          <a:noFill/>
          <a:ln w="50800">
            <a:solidFill>
              <a:srgbClr val="F9AB00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2103120" y="2788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 yolculuk hiçbir zaman tek kişilik değildi.</a:t>
            </a:r>
            <a:endParaRPr lang="en-US" sz="1600" dirty="0"/>
          </a:p>
        </p:txBody>
      </p:sp>
      <p:pic>
        <p:nvPicPr>
          <p:cNvPr id="62" name="Image 1" descr="/tmp/claude-0/-home-claude/d5e34c45-44d6-5238-8d7b-e6c7b3c8d5c3/scratchpad/deck/logo_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2593</TotalTime>
  <Words>4314</Words>
  <Application>Microsoft Office PowerPoint</Application>
  <PresentationFormat>On-screen Show (16:9)</PresentationFormat>
  <Paragraphs>460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Google Sans</vt:lpstr>
      <vt:lpstr>Roboto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Motion with AI</dc:title>
  <dc:subject>PptxGenJS Presentation</dc:subject>
  <dc:creator>PptxGenJS</dc:creator>
  <cp:lastModifiedBy>Eyup Ece</cp:lastModifiedBy>
  <cp:revision>2</cp:revision>
  <dcterms:created xsi:type="dcterms:W3CDTF">2026-09-26T21:07:24Z</dcterms:created>
  <dcterms:modified xsi:type="dcterms:W3CDTF">2026-10-07T17:37:06Z</dcterms:modified>
</cp:coreProperties>
</file>