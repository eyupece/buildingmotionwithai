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jpg" ContentType="image/jpg"/>
  <Override PartName="/ppt/media/image13.jpg" ContentType="image/jpg"/>
  <Override PartName="/ppt/media/image16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145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microsoft.com/office/2007/relationships/media" Target="../media/media2.mp4"/><Relationship Id="rId5" Type="http://schemas.openxmlformats.org/officeDocument/2006/relationships/image" Target="../media/image9.png"/><Relationship Id="rId6" Type="http://schemas.microsoft.com/office/2007/relationships/media" Target="../media/media3.mp4"/><Relationship Id="rId8" Type="http://schemas.microsoft.com/office/2007/relationships/media" Target="../media/media1.mp4"/><Relationship Id="rId9" Type="http://schemas.openxmlformats.org/officeDocument/2006/relationships/video" Target="../media/media1.mp4"/><Relationship Id="rId10" Type="http://schemas.openxmlformats.org/officeDocument/2006/relationships/image" Target="../media/image46.jpg"/><Relationship Id="rId11" Type="http://schemas.openxmlformats.org/officeDocument/2006/relationships/video" Target="../media/media2.mp4"/><Relationship Id="rId12" Type="http://schemas.openxmlformats.org/officeDocument/2006/relationships/image" Target="../media/image8.jpg"/><Relationship Id="rId13" Type="http://schemas.openxmlformats.org/officeDocument/2006/relationships/video" Target="../media/media3.mp4"/><Relationship Id="rId14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6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7.png"/><Relationship Id="rId10" Type="http://schemas.microsoft.com/office/2007/relationships/media" Target="../media/media4.mp4"/><Relationship Id="rId11" Type="http://schemas.openxmlformats.org/officeDocument/2006/relationships/video" Target="../media/media4.mp4"/><Relationship Id="rId1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23.png"/><Relationship Id="rId7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4360"/>
            <a:ext cx="2743200" cy="195943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10515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Building Motion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with AI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Bir hareketi anlayan, dönüştüren ve yeniden üreten multimodal AI pipeline’ı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91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Eyüp Ece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Software Engineer @Architecht · GDG Cloud Konya Organizer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989320" y="685800"/>
            <a:ext cx="2651760" cy="265176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8" name="Image 1" descr="/tmp/claude-0/-home-claude/d5e34c45-44d6-5238-8d7b-e6c7b3c8d5c3/scratchpad/deck/ref_image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548640"/>
            <a:ext cx="2651760" cy="26517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22960" y="4343400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dash"/>
          </a:ln>
        </p:spPr>
      </p:sp>
      <p:sp>
        <p:nvSpPr>
          <p:cNvPr id="10" name="Shape 5"/>
          <p:cNvSpPr/>
          <p:nvPr/>
        </p:nvSpPr>
        <p:spPr>
          <a:xfrm>
            <a:off x="548640" y="4069080"/>
            <a:ext cx="548640" cy="548640"/>
          </a:xfrm>
          <a:prstGeom prst="ellipse">
            <a:avLst/>
          </a:prstGeom>
          <a:solidFill>
            <a:srgbClr val="E8F0FE"/>
          </a:solidFill>
          <a:ln w="19050">
            <a:solidFill>
              <a:srgbClr val="4285F4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197096"/>
            <a:ext cx="292608" cy="29260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2423160" y="4069080"/>
            <a:ext cx="548640" cy="548640"/>
          </a:xfrm>
          <a:prstGeom prst="ellipse">
            <a:avLst/>
          </a:prstGeom>
          <a:solidFill>
            <a:srgbClr val="F3E8FD"/>
          </a:solidFill>
          <a:ln w="19050">
            <a:solidFill>
              <a:srgbClr val="A142F4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76" y="4197096"/>
            <a:ext cx="292608" cy="292608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297680" y="4069080"/>
            <a:ext cx="548640" cy="548640"/>
          </a:xfrm>
          <a:prstGeom prst="ellipse">
            <a:avLst/>
          </a:prstGeom>
          <a:solidFill>
            <a:srgbClr val="FEF7E0"/>
          </a:solidFill>
          <a:ln w="19050">
            <a:solidFill>
              <a:srgbClr val="F9AB00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696" y="4197096"/>
            <a:ext cx="292608" cy="29260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172200" y="4069080"/>
            <a:ext cx="548640" cy="548640"/>
          </a:xfrm>
          <a:prstGeom prst="ellipse">
            <a:avLst/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4197096"/>
            <a:ext cx="292608" cy="292608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8046720" y="4069080"/>
            <a:ext cx="548640" cy="548640"/>
          </a:xfrm>
          <a:prstGeom prst="ellipse">
            <a:avLst/>
          </a:prstGeom>
          <a:solidFill>
            <a:srgbClr val="FCE8E6"/>
          </a:solidFill>
          <a:ln w="19050">
            <a:solidFill>
              <a:srgbClr val="EA4335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4736" y="4197096"/>
            <a:ext cx="292608" cy="2926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Bu proje ne yapıyor?</a:t>
            </a:r>
            <a:endParaRPr lang="en-US" sz="28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Kısa bir video → avatarımız, başka bir ortamda aynı hareketi yapıyor.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1417320"/>
            <a:ext cx="5486400" cy="286207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kayit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48640" y="1508760"/>
            <a:ext cx="1507046" cy="267919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126480" y="1417320"/>
            <a:ext cx="2560320" cy="2862072"/>
          </a:xfrm>
          <a:prstGeom prst="roundRect">
            <a:avLst>
              <a:gd name="adj" fmla="val 333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1719072"/>
            <a:ext cx="310896" cy="31089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355080" y="22860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Siz olsanız nasıl yapardınız?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6355080" y="30175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“Bu videoyu analiz et, avatarını oluştur ve onu uzayda aynı hareketi yaparken canlandır.”</a:t>
            </a:r>
            <a:endParaRPr lang="en-US" sz="1200" dirty="0"/>
          </a:p>
        </p:txBody>
      </p:sp>
      <p:pic>
        <p:nvPicPr>
          <p:cNvPr id="17" name="afis.mp4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128838" y="1508760"/>
            <a:ext cx="2144425" cy="2679192"/>
          </a:xfrm>
          <a:prstGeom prst="rect">
            <a:avLst/>
          </a:prstGeom>
        </p:spPr>
      </p:pic>
      <p:pic>
        <p:nvPicPr>
          <p:cNvPr id="18" name="paylasim.mp4">
            <a:hlinkClick r:id="" action="ppaction://media"/>
          </p:cNvPr>
          <p:cNvPicPr>
            <a:picLocks noChangeAspect="1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4346415" y="1508760"/>
            <a:ext cx="1507046" cy="267919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005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05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 mute="1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40080" y="914400"/>
            <a:ext cx="2651760" cy="2651760"/>
          </a:xfrm>
          <a:prstGeom prst="ellipse">
            <a:avLst/>
          </a:prstGeom>
          <a:solidFill>
            <a:srgbClr val="E8F0FE"/>
          </a:solidFill>
          <a:ln w="25400">
            <a:solidFill>
              <a:srgbClr val="4285F4"/>
            </a:solidFill>
            <a:prstDash val="solid"/>
          </a:ln>
        </p:spPr>
      </p:sp>
      <p:pic>
        <p:nvPicPr>
          <p:cNvPr id="5" name="Image 1" descr="/tmp/claude-0/-home-claude/d5e34c45-44d6-5238-8d7b-e6c7b3c8d5c3/scratchpad/deck/ref_image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05840"/>
            <a:ext cx="2468880" cy="2468880"/>
          </a:xfrm>
          <a:prstGeom prst="ellipse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749040" y="1051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Eyüp Ece</a:t>
            </a:r>
            <a:endParaRPr lang="en-US" sz="3000" dirty="0"/>
          </a:p>
        </p:txBody>
      </p:sp>
      <p:sp>
        <p:nvSpPr>
          <p:cNvPr id="8" name="Shape 3"/>
          <p:cNvSpPr/>
          <p:nvPr/>
        </p:nvSpPr>
        <p:spPr>
          <a:xfrm>
            <a:off x="3749040" y="18288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2" descr="/tmp/claude-0/-home-claude/d5e34c45-44d6-5238-8d7b-e6c7b3c8d5c3/scratchpad/deck/ref_image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768" y="1920240"/>
            <a:ext cx="457200" cy="457200"/>
          </a:xfrm>
          <a:prstGeom prst="ellipse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434840" y="192024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Software Engineer · Architecht</a:t>
            </a:r>
            <a:endParaRPr lang="en-US" sz="1250" dirty="0"/>
          </a:p>
        </p:txBody>
      </p:sp>
      <p:sp>
        <p:nvSpPr>
          <p:cNvPr id="11" name="Text 5"/>
          <p:cNvSpPr txBox="1"/>
          <p:nvPr/>
        </p:nvSpPr>
        <p:spPr>
          <a:xfrm>
            <a:off x="4434840" y="216712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~2,5 yıl, mikroservis tabanlı projeler</a:t>
            </a:r>
            <a:endParaRPr lang="en-US" sz="950" dirty="0"/>
          </a:p>
        </p:txBody>
      </p:sp>
      <p:sp>
        <p:nvSpPr>
          <p:cNvPr id="12" name="Shape 6"/>
          <p:cNvSpPr/>
          <p:nvPr/>
        </p:nvSpPr>
        <p:spPr>
          <a:xfrm>
            <a:off x="3749040" y="260604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3" descr="/tmp/claude-0/-home-claude/d5e34c45-44d6-5238-8d7b-e6c7b3c8d5c3/scratchpad/deck/ref_image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2697480"/>
            <a:ext cx="457200" cy="457200"/>
          </a:xfrm>
          <a:prstGeom prst="ellipse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434840" y="269748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GDG Cloud Konya Organizer</a:t>
            </a:r>
            <a:endParaRPr lang="en-US" sz="1250" dirty="0"/>
          </a:p>
        </p:txBody>
      </p:sp>
      <p:sp>
        <p:nvSpPr>
          <p:cNvPr id="15" name="Text 8"/>
          <p:cNvSpPr txBox="1"/>
          <p:nvPr/>
        </p:nvSpPr>
        <p:spPr>
          <a:xfrm>
            <a:off x="4434840" y="294436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GDG on Campus Türkiye Mentor &amp; Facilitator · DevFest Konya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3749040" y="33832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4" descr="/tmp/claude-0/-home-claude/d5e34c45-44d6-5238-8d7b-e6c7b3c8d5c3/scratchpad/deck/ref_image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8768" y="3474720"/>
            <a:ext cx="457200" cy="457200"/>
          </a:xfrm>
          <a:prstGeom prst="ellipse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434840" y="3474720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Selçuk Üniversitesi</a:t>
            </a:r>
            <a:endParaRPr lang="en-US" sz="1250" dirty="0"/>
          </a:p>
        </p:txBody>
      </p:sp>
      <p:sp>
        <p:nvSpPr>
          <p:cNvPr id="19" name="Text 11"/>
          <p:cNvSpPr txBox="1"/>
          <p:nvPr/>
        </p:nvSpPr>
        <p:spPr>
          <a:xfrm>
            <a:off x="4434840" y="37216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Bilgisayar Mühendisliği · 2026</a:t>
            </a:r>
            <a:endParaRPr lang="en-US" sz="950" dirty="0"/>
          </a:p>
        </p:txBody>
      </p:sp>
      <p:pic>
        <p:nvPicPr>
          <p:cNvPr id="20" name="Image 5" descr="/tmp/claude-0/-home-claude/d5e34c45-44d6-5238-8d7b-e6c7b3c8d5c3/scratchpad/deck/ref_image1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3246120"/>
            <a:ext cx="1051560" cy="105156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406640" y="431596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Bağlantı kuralım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This is not just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 avatar demo.</a:t>
            </a:r>
            <a:endParaRPr lang="en-US" sz="5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Tek bir model çağrısı değil; farklı modellerin birlikte çalıştığı uçtan uca bir sistem.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3977640" y="3840480"/>
            <a:ext cx="128016" cy="128016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233672" y="3840480"/>
            <a:ext cx="128016" cy="128016"/>
          </a:xfrm>
          <a:prstGeom prst="ellipse">
            <a:avLst/>
          </a:prstGeom>
          <a:solidFill>
            <a:srgbClr val="A142F4"/>
          </a:solidFill>
          <a:ln w="12700">
            <a:solidFill>
              <a:srgbClr val="A142F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489704" y="3840480"/>
            <a:ext cx="128016" cy="128016"/>
          </a:xfrm>
          <a:prstGeom prst="ellipse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45736" y="3840480"/>
            <a:ext cx="128016" cy="128016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01768" y="3840480"/>
            <a:ext cx="128016" cy="128016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cl_title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Classic AI Workflow</a:t>
            </a:r>
            <a:endParaRPr lang="en-US" sz="3200" dirty="0"/>
          </a:p>
        </p:txBody>
      </p:sp>
      <p:sp>
        <p:nvSpPr>
          <p:cNvPr id="5" name="!!cl_sub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Chatbot tarzı uygulamalarda alıştığımız akış</a:t>
            </a:r>
            <a:endParaRPr lang="en-US" sz="1400" dirty="0"/>
          </a:p>
        </p:txBody>
      </p:sp>
      <p:sp>
        <p:nvSpPr>
          <p:cNvPr id="6" name="!!cl_box0"/>
          <p:cNvSpPr/>
          <p:nvPr/>
        </p:nvSpPr>
        <p:spPr>
          <a:xfrm>
            <a:off x="1051560" y="21488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!!cl_txt0"/>
          <p:cNvSpPr txBox="1"/>
          <p:nvPr/>
        </p:nvSpPr>
        <p:spPr>
          <a:xfrm>
            <a:off x="105156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User text</a:t>
            </a:r>
            <a:endParaRPr lang="en-US" sz="1600" dirty="0"/>
          </a:p>
        </p:txBody>
      </p:sp>
      <p:sp>
        <p:nvSpPr>
          <p:cNvPr id="8" name="!!cl_arr0"/>
          <p:cNvSpPr txBox="1"/>
          <p:nvPr/>
        </p:nvSpPr>
        <p:spPr>
          <a:xfrm>
            <a:off x="3063240" y="21488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!!cl_box1"/>
          <p:cNvSpPr/>
          <p:nvPr/>
        </p:nvSpPr>
        <p:spPr>
          <a:xfrm>
            <a:off x="3566160" y="21488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!!cl_txt1"/>
          <p:cNvSpPr txBox="1"/>
          <p:nvPr/>
        </p:nvSpPr>
        <p:spPr>
          <a:xfrm>
            <a:off x="356616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LLM</a:t>
            </a:r>
            <a:endParaRPr lang="en-US" sz="1600" dirty="0"/>
          </a:p>
        </p:txBody>
      </p:sp>
      <p:sp>
        <p:nvSpPr>
          <p:cNvPr id="11" name="!!cl_arr1"/>
          <p:cNvSpPr txBox="1"/>
          <p:nvPr/>
        </p:nvSpPr>
        <p:spPr>
          <a:xfrm>
            <a:off x="5577840" y="21488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!!cl_box2"/>
          <p:cNvSpPr/>
          <p:nvPr/>
        </p:nvSpPr>
        <p:spPr>
          <a:xfrm>
            <a:off x="6080760" y="21488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!!cl_txt2"/>
          <p:cNvSpPr txBox="1"/>
          <p:nvPr/>
        </p:nvSpPr>
        <p:spPr>
          <a:xfrm>
            <a:off x="6080760" y="2148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Text response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cl_title"/>
          <p:cNvSpPr txBox="1"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Classic AI Workflow</a:t>
            </a:r>
            <a:endParaRPr lang="en-US" sz="1300" dirty="0"/>
          </a:p>
        </p:txBody>
      </p:sp>
      <p:sp>
        <p:nvSpPr>
          <p:cNvPr id="5" name="!!cl_box0"/>
          <p:cNvSpPr/>
          <p:nvPr/>
        </p:nvSpPr>
        <p:spPr>
          <a:xfrm>
            <a:off x="1051560" y="73152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6" name="!!cl_txt0"/>
          <p:cNvSpPr txBox="1"/>
          <p:nvPr/>
        </p:nvSpPr>
        <p:spPr>
          <a:xfrm>
            <a:off x="1051560" y="731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User text</a:t>
            </a:r>
            <a:endParaRPr lang="en-US" sz="1300" dirty="0"/>
          </a:p>
        </p:txBody>
      </p:sp>
      <p:sp>
        <p:nvSpPr>
          <p:cNvPr id="7" name="!!cl_arr0"/>
          <p:cNvSpPr txBox="1"/>
          <p:nvPr/>
        </p:nvSpPr>
        <p:spPr>
          <a:xfrm>
            <a:off x="3063240" y="7315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!!cl_box1"/>
          <p:cNvSpPr/>
          <p:nvPr/>
        </p:nvSpPr>
        <p:spPr>
          <a:xfrm>
            <a:off x="3566160" y="73152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9" name="!!cl_txt1"/>
          <p:cNvSpPr txBox="1"/>
          <p:nvPr/>
        </p:nvSpPr>
        <p:spPr>
          <a:xfrm>
            <a:off x="3566160" y="731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LLM</a:t>
            </a:r>
            <a:endParaRPr lang="en-US" sz="1300" dirty="0"/>
          </a:p>
        </p:txBody>
      </p:sp>
      <p:sp>
        <p:nvSpPr>
          <p:cNvPr id="10" name="!!cl_arr1"/>
          <p:cNvSpPr txBox="1"/>
          <p:nvPr/>
        </p:nvSpPr>
        <p:spPr>
          <a:xfrm>
            <a:off x="5577840" y="7315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!!cl_box2"/>
          <p:cNvSpPr/>
          <p:nvPr/>
        </p:nvSpPr>
        <p:spPr>
          <a:xfrm>
            <a:off x="6080760" y="73152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E8EAED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!!cl_txt2"/>
          <p:cNvSpPr txBox="1"/>
          <p:nvPr/>
        </p:nvSpPr>
        <p:spPr>
          <a:xfrm>
            <a:off x="6080760" y="7315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Text response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Multimodal AI Workflow</a:t>
            </a:r>
            <a:endParaRPr lang="en-US" sz="2800" dirty="0"/>
          </a:p>
        </p:txBody>
      </p:sp>
      <p:sp>
        <p:nvSpPr>
          <p:cNvPr id="14" name="Shape 10"/>
          <p:cNvSpPr/>
          <p:nvPr/>
        </p:nvSpPr>
        <p:spPr>
          <a:xfrm>
            <a:off x="502920" y="2514600"/>
            <a:ext cx="1371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27724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292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Video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87452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2194560" y="2514600"/>
            <a:ext cx="1371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606040" y="2651760"/>
            <a:ext cx="548640" cy="548640"/>
          </a:xfrm>
          <a:prstGeom prst="ellipse">
            <a:avLst/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741" y="277246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19456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356616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3886200" y="2514600"/>
            <a:ext cx="1371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8381" y="277246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88620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Image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25780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5577840" y="2514600"/>
            <a:ext cx="1371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989320" y="2651760"/>
            <a:ext cx="548640" cy="548640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0021" y="277246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7784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Video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949440" y="2834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7269480" y="2514600"/>
            <a:ext cx="13716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680960" y="2651760"/>
            <a:ext cx="548640" cy="548640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1661" y="2772461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269480" y="32461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chaining: bir modelin çıktısı, zincirdeki bir sonraki modelin girdisi.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Let’s put a real video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into the pipeline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Bir gönüllüye ihtiyacım var.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48640" y="2514600"/>
            <a:ext cx="438912" cy="438912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2611161"/>
            <a:ext cx="245791" cy="245791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43000" y="251460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Yaklaşık 5 saniyelik net bir hareket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548640" y="3136392"/>
            <a:ext cx="438912" cy="438912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1" y="3232953"/>
            <a:ext cx="245791" cy="245791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143000" y="313639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Video Cloud Storage’da tutulur, 14 gün sonra silinir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548640" y="3758184"/>
            <a:ext cx="438912" cy="438912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01" y="3854745"/>
            <a:ext cx="245791" cy="245791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375818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Modellerin kendi safety filtreleri var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5943600" y="914400"/>
            <a:ext cx="2743200" cy="27432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600200"/>
            <a:ext cx="1371600" cy="13716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589520" y="960120"/>
            <a:ext cx="1005840" cy="384048"/>
          </a:xfrm>
          <a:prstGeom prst="roundRect">
            <a:avLst>
              <a:gd name="adj" fmla="val 47619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7589520" y="960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● REC 5s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tl_track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</p:sp>
      <p:sp>
        <p:nvSpPr>
          <p:cNvPr id="5" name="!!tl_prog"/>
          <p:cNvSpPr/>
          <p:nvPr/>
        </p:nvSpPr>
        <p:spPr>
          <a:xfrm>
            <a:off x="822960" y="384048"/>
            <a:ext cx="9144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6" name="!!tl_halo"/>
          <p:cNvSpPr/>
          <p:nvPr/>
        </p:nvSpPr>
        <p:spPr>
          <a:xfrm>
            <a:off x="557784" y="118872"/>
            <a:ext cx="530352" cy="530352"/>
          </a:xfrm>
          <a:prstGeom prst="ellipse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7" name="!!tl_node0"/>
          <p:cNvSpPr/>
          <p:nvPr/>
        </p:nvSpPr>
        <p:spPr>
          <a:xfrm>
            <a:off x="70408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8" name="!!tl_lbl0"/>
          <p:cNvSpPr txBox="1"/>
          <p:nvPr/>
        </p:nvSpPr>
        <p:spPr>
          <a:xfrm>
            <a:off x="914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!!tl_node1"/>
          <p:cNvSpPr/>
          <p:nvPr/>
        </p:nvSpPr>
        <p:spPr>
          <a:xfrm>
            <a:off x="257860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0" name="!!tl_lbl1"/>
          <p:cNvSpPr txBox="1"/>
          <p:nvPr/>
        </p:nvSpPr>
        <p:spPr>
          <a:xfrm>
            <a:off x="1965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11" name="!!tl_node2"/>
          <p:cNvSpPr/>
          <p:nvPr/>
        </p:nvSpPr>
        <p:spPr>
          <a:xfrm>
            <a:off x="445312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2" name="!!tl_lbl2"/>
          <p:cNvSpPr txBox="1"/>
          <p:nvPr/>
        </p:nvSpPr>
        <p:spPr>
          <a:xfrm>
            <a:off x="3840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13" name="!!tl_node3"/>
          <p:cNvSpPr/>
          <p:nvPr/>
        </p:nvSpPr>
        <p:spPr>
          <a:xfrm>
            <a:off x="632764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4" name="!!tl_lbl3"/>
          <p:cNvSpPr txBox="1"/>
          <p:nvPr/>
        </p:nvSpPr>
        <p:spPr>
          <a:xfrm>
            <a:off x="57150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900" dirty="0"/>
          </a:p>
        </p:txBody>
      </p:sp>
      <p:sp>
        <p:nvSpPr>
          <p:cNvPr id="15" name="!!tl_node4"/>
          <p:cNvSpPr/>
          <p:nvPr/>
        </p:nvSpPr>
        <p:spPr>
          <a:xfrm>
            <a:off x="820216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6" name="!!tl_lbl4"/>
          <p:cNvSpPr txBox="1"/>
          <p:nvPr/>
        </p:nvSpPr>
        <p:spPr>
          <a:xfrm>
            <a:off x="758952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Simple for the user, multi-stage behind the scenes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Kullanıcı tek bir işlem başlatıyor; arkada beş aşama çalışıyor.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2011680"/>
            <a:ext cx="1481328" cy="22860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0352" y="2084832"/>
            <a:ext cx="1335024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22860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66928" y="31546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566928" y="35204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 sn WebM → Cloud Storage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121408" y="2011680"/>
            <a:ext cx="1481328" cy="22860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194560" y="2084832"/>
            <a:ext cx="1335024" cy="914400"/>
          </a:xfrm>
          <a:prstGeom prst="roundRect">
            <a:avLst>
              <a:gd name="adj" fmla="val 8000"/>
            </a:avLst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0612" y="228600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231136" y="31546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2231136" y="35204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Structured JSON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785616" y="2011680"/>
            <a:ext cx="1481328" cy="22860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858768" y="2084832"/>
            <a:ext cx="1335024" cy="914400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820" y="228600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895344" y="31546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3895344" y="35204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1024×1024 avatar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49824" y="2011680"/>
            <a:ext cx="1481328" cy="22860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522976" y="2084832"/>
            <a:ext cx="1335024" cy="9144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028" y="228600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5559552" y="31546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5559552" y="35204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 sn AI video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7114032" y="2011680"/>
            <a:ext cx="1481328" cy="228600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187184" y="2084832"/>
            <a:ext cx="1335024" cy="9144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3236" y="2286000"/>
            <a:ext cx="502920" cy="50292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223760" y="31546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7223760" y="3520440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 sn video + QR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tl_track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</p:sp>
      <p:sp>
        <p:nvSpPr>
          <p:cNvPr id="5" name="!!tl_prog"/>
          <p:cNvSpPr/>
          <p:nvPr/>
        </p:nvSpPr>
        <p:spPr>
          <a:xfrm>
            <a:off x="822960" y="384048"/>
            <a:ext cx="9144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6" name="!!tl_halo"/>
          <p:cNvSpPr/>
          <p:nvPr/>
        </p:nvSpPr>
        <p:spPr>
          <a:xfrm>
            <a:off x="557784" y="118872"/>
            <a:ext cx="530352" cy="530352"/>
          </a:xfrm>
          <a:prstGeom prst="ellipse">
            <a:avLst/>
          </a:prstGeom>
          <a:solidFill>
            <a:srgbClr val="E8F0FE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7" name="!!tl_node0"/>
          <p:cNvSpPr/>
          <p:nvPr/>
        </p:nvSpPr>
        <p:spPr>
          <a:xfrm>
            <a:off x="640080" y="201168"/>
            <a:ext cx="365760" cy="365760"/>
          </a:xfrm>
          <a:prstGeom prst="ellipse">
            <a:avLst/>
          </a:prstGeom>
          <a:solidFill>
            <a:srgbClr val="4285F4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8" name="!!tl_lbl0"/>
          <p:cNvSpPr txBox="1"/>
          <p:nvPr/>
        </p:nvSpPr>
        <p:spPr>
          <a:xfrm>
            <a:off x="914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!!tl_node1"/>
          <p:cNvSpPr/>
          <p:nvPr/>
        </p:nvSpPr>
        <p:spPr>
          <a:xfrm>
            <a:off x="257860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0" name="!!tl_lbl1"/>
          <p:cNvSpPr txBox="1"/>
          <p:nvPr/>
        </p:nvSpPr>
        <p:spPr>
          <a:xfrm>
            <a:off x="1965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11" name="!!tl_node2"/>
          <p:cNvSpPr/>
          <p:nvPr/>
        </p:nvSpPr>
        <p:spPr>
          <a:xfrm>
            <a:off x="445312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2" name="!!tl_lbl2"/>
          <p:cNvSpPr txBox="1"/>
          <p:nvPr/>
        </p:nvSpPr>
        <p:spPr>
          <a:xfrm>
            <a:off x="3840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13" name="!!tl_node3"/>
          <p:cNvSpPr/>
          <p:nvPr/>
        </p:nvSpPr>
        <p:spPr>
          <a:xfrm>
            <a:off x="632764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4" name="!!tl_lbl3"/>
          <p:cNvSpPr txBox="1"/>
          <p:nvPr/>
        </p:nvSpPr>
        <p:spPr>
          <a:xfrm>
            <a:off x="57150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900" dirty="0"/>
          </a:p>
        </p:txBody>
      </p:sp>
      <p:sp>
        <p:nvSpPr>
          <p:cNvPr id="15" name="!!tl_node4"/>
          <p:cNvSpPr/>
          <p:nvPr/>
        </p:nvSpPr>
        <p:spPr>
          <a:xfrm>
            <a:off x="820216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6" name="!!tl_lbl4"/>
          <p:cNvSpPr txBox="1"/>
          <p:nvPr/>
        </p:nvSpPr>
        <p:spPr>
          <a:xfrm>
            <a:off x="758952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900" dirty="0"/>
          </a:p>
        </p:txBody>
      </p:sp>
      <p:pic>
        <p:nvPicPr>
          <p:cNvPr id="17" name="!!tl_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834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Video Upload &amp; Storage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İlk iş: videoyu ortak bir storage katmanına almak.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4360" y="2103120"/>
            <a:ext cx="457200" cy="4572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20370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43000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Browser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9436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~5 sn WebM kayıt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2286000" y="23774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2624328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761488" y="2103120"/>
            <a:ext cx="457200" cy="4572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20370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310128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FastAPI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2761488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 /api/upload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video_id üretir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4453128" y="23774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5"/>
          <p:cNvSpPr/>
          <p:nvPr/>
        </p:nvSpPr>
        <p:spPr>
          <a:xfrm>
            <a:off x="4791456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928616" y="2103120"/>
            <a:ext cx="457200" cy="4572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203704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477256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4928616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uploads/{video_id}.webm</a:t>
            </a:r>
            <a:endParaRPr lang="en-US" sz="950" dirty="0"/>
          </a:p>
        </p:txBody>
      </p:sp>
      <p:sp>
        <p:nvSpPr>
          <p:cNvPr id="37" name="Text 29"/>
          <p:cNvSpPr txBox="1"/>
          <p:nvPr/>
        </p:nvSpPr>
        <p:spPr>
          <a:xfrm>
            <a:off x="6620256" y="237744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0"/>
          <p:cNvSpPr/>
          <p:nvPr/>
        </p:nvSpPr>
        <p:spPr>
          <a:xfrm>
            <a:off x="6958584" y="196596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7095744" y="2103120"/>
            <a:ext cx="457200" cy="457200"/>
          </a:xfrm>
          <a:prstGeom prst="ellipse">
            <a:avLst/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328" y="2203704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644384" y="2148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7095744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GCS URI ile okur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457200" y="36118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94360" y="3685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85F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uploads/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594360" y="3995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Ham videolar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2624328" y="36118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2761488" y="3685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142F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frames/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2761488" y="3995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Seçilen kareler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4791456" y="36118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4928616" y="3685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AB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avatars/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4928616" y="3995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Avatarlar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6958584" y="36118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7095744" y="36850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A85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output/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7095744" y="39959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Üretilen videolar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457200" y="47365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Medya storage’da yaşar, uygulama belleğinde değil.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tl_track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</p:sp>
      <p:sp>
        <p:nvSpPr>
          <p:cNvPr id="5" name="!!tl_prog"/>
          <p:cNvSpPr/>
          <p:nvPr/>
        </p:nvSpPr>
        <p:spPr>
          <a:xfrm>
            <a:off x="822960" y="384048"/>
            <a:ext cx="1874520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6" name="!!tl_halo"/>
          <p:cNvSpPr/>
          <p:nvPr/>
        </p:nvSpPr>
        <p:spPr>
          <a:xfrm>
            <a:off x="2432304" y="118872"/>
            <a:ext cx="530352" cy="530352"/>
          </a:xfrm>
          <a:prstGeom prst="ellipse">
            <a:avLst/>
          </a:prstGeom>
          <a:solidFill>
            <a:srgbClr val="F3E8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7" name="!!tl_node0"/>
          <p:cNvSpPr/>
          <p:nvPr/>
        </p:nvSpPr>
        <p:spPr>
          <a:xfrm>
            <a:off x="704088" y="265176"/>
            <a:ext cx="237744" cy="237744"/>
          </a:xfrm>
          <a:prstGeom prst="ellipse">
            <a:avLst/>
          </a:prstGeom>
          <a:solidFill>
            <a:srgbClr val="4285F4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8" name="!!tl_lbl0"/>
          <p:cNvSpPr txBox="1"/>
          <p:nvPr/>
        </p:nvSpPr>
        <p:spPr>
          <a:xfrm>
            <a:off x="914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!!tl_node1"/>
          <p:cNvSpPr/>
          <p:nvPr/>
        </p:nvSpPr>
        <p:spPr>
          <a:xfrm>
            <a:off x="2514600" y="201168"/>
            <a:ext cx="365760" cy="365760"/>
          </a:xfrm>
          <a:prstGeom prst="ellipse">
            <a:avLst/>
          </a:prstGeom>
          <a:solidFill>
            <a:srgbClr val="A142F4"/>
          </a:solidFill>
          <a:ln w="19050">
            <a:solidFill>
              <a:srgbClr val="A142F4"/>
            </a:solidFill>
            <a:prstDash val="solid"/>
          </a:ln>
        </p:spPr>
      </p:sp>
      <p:sp>
        <p:nvSpPr>
          <p:cNvPr id="10" name="!!tl_lbl1"/>
          <p:cNvSpPr txBox="1"/>
          <p:nvPr/>
        </p:nvSpPr>
        <p:spPr>
          <a:xfrm>
            <a:off x="1965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142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11" name="!!tl_node2"/>
          <p:cNvSpPr/>
          <p:nvPr/>
        </p:nvSpPr>
        <p:spPr>
          <a:xfrm>
            <a:off x="445312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2" name="!!tl_lbl2"/>
          <p:cNvSpPr txBox="1"/>
          <p:nvPr/>
        </p:nvSpPr>
        <p:spPr>
          <a:xfrm>
            <a:off x="3840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13" name="!!tl_node3"/>
          <p:cNvSpPr/>
          <p:nvPr/>
        </p:nvSpPr>
        <p:spPr>
          <a:xfrm>
            <a:off x="632764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4" name="!!tl_lbl3"/>
          <p:cNvSpPr txBox="1"/>
          <p:nvPr/>
        </p:nvSpPr>
        <p:spPr>
          <a:xfrm>
            <a:off x="57150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900" dirty="0"/>
          </a:p>
        </p:txBody>
      </p:sp>
      <p:sp>
        <p:nvSpPr>
          <p:cNvPr id="15" name="!!tl_node4"/>
          <p:cNvSpPr/>
          <p:nvPr/>
        </p:nvSpPr>
        <p:spPr>
          <a:xfrm>
            <a:off x="820216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6" name="!!tl_lbl4"/>
          <p:cNvSpPr txBox="1"/>
          <p:nvPr/>
        </p:nvSpPr>
        <p:spPr>
          <a:xfrm>
            <a:off x="758952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900" dirty="0"/>
          </a:p>
        </p:txBody>
      </p:sp>
      <p:pic>
        <p:nvPicPr>
          <p:cNvPr id="17" name="!!tl_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2834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Gemini: Video → Structured JSON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Hareketi, pipeline’ın kullanabileceği veriye dönüştürüyoruz.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1920240"/>
            <a:ext cx="4572000" cy="2514600"/>
          </a:xfrm>
          <a:prstGeom prst="roundRect">
            <a:avLst>
              <a:gd name="adj" fmla="val 3636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85800" y="2103120"/>
            <a:ext cx="4206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AB4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"movement_summary"</a:t>
            </a:r>
            <a:r>
              <a:rPr lang="en-US" sz="120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"Kollar yukarı...",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AB4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"body_parts"</a:t>
            </a:r>
            <a:r>
              <a:rPr lang="en-US" sz="120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["arms","torso"],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AB4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"phases"</a:t>
            </a:r>
            <a:r>
              <a:rPr lang="en-US" sz="120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 ... ],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DD66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"best_frame_timestamp"</a:t>
            </a:r>
            <a:r>
              <a:rPr lang="en-US" sz="120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"0:02",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DD66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"person_description"</a:t>
            </a:r>
            <a:r>
              <a:rPr lang="en-US" sz="120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"Beyaz tişört...",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1C99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"veo_prompt"</a:t>
            </a:r>
            <a:r>
              <a:rPr lang="en-US" sz="120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"Arms rise..."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303520" y="1920240"/>
            <a:ext cx="338328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68112" y="2048256"/>
            <a:ext cx="493776" cy="493776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743" y="2156887"/>
            <a:ext cx="276515" cy="27651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12648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Hareketi anla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126480" y="2322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Özet, vücut bölgeleri, fazlar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303520" y="2807208"/>
            <a:ext cx="338328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5468112" y="2935224"/>
            <a:ext cx="493776" cy="493776"/>
          </a:xfrm>
          <a:prstGeom prst="ellipse">
            <a:avLst/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743" y="3043855"/>
            <a:ext cx="276515" cy="27651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126480" y="2916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Avatar için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6126480" y="32095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 iyi kare + kişi tarifi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303520" y="3694176"/>
            <a:ext cx="3383280" cy="740664"/>
          </a:xfrm>
          <a:prstGeom prst="roundRect">
            <a:avLst>
              <a:gd name="adj" fmla="val 1234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468112" y="3822192"/>
            <a:ext cx="493776" cy="493776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6743" y="3930823"/>
            <a:ext cx="276515" cy="27651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126480" y="3803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 için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6126480" y="40965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Hareketin üretim talimatı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" y="47365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çıktısı final cevap değil; pipeline’ın ara verisi.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tl_track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</p:sp>
      <p:sp>
        <p:nvSpPr>
          <p:cNvPr id="5" name="!!tl_prog"/>
          <p:cNvSpPr/>
          <p:nvPr/>
        </p:nvSpPr>
        <p:spPr>
          <a:xfrm>
            <a:off x="822960" y="384048"/>
            <a:ext cx="1874520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6" name="!!tl_halo"/>
          <p:cNvSpPr/>
          <p:nvPr/>
        </p:nvSpPr>
        <p:spPr>
          <a:xfrm>
            <a:off x="2432304" y="118872"/>
            <a:ext cx="530352" cy="530352"/>
          </a:xfrm>
          <a:prstGeom prst="ellipse">
            <a:avLst/>
          </a:prstGeom>
          <a:solidFill>
            <a:srgbClr val="F3E8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7" name="!!tl_node0"/>
          <p:cNvSpPr/>
          <p:nvPr/>
        </p:nvSpPr>
        <p:spPr>
          <a:xfrm>
            <a:off x="704088" y="265176"/>
            <a:ext cx="237744" cy="237744"/>
          </a:xfrm>
          <a:prstGeom prst="ellipse">
            <a:avLst/>
          </a:prstGeom>
          <a:solidFill>
            <a:srgbClr val="4285F4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8" name="!!tl_lbl0"/>
          <p:cNvSpPr txBox="1"/>
          <p:nvPr/>
        </p:nvSpPr>
        <p:spPr>
          <a:xfrm>
            <a:off x="914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!!tl_node1"/>
          <p:cNvSpPr/>
          <p:nvPr/>
        </p:nvSpPr>
        <p:spPr>
          <a:xfrm>
            <a:off x="2514600" y="201168"/>
            <a:ext cx="365760" cy="365760"/>
          </a:xfrm>
          <a:prstGeom prst="ellipse">
            <a:avLst/>
          </a:prstGeom>
          <a:solidFill>
            <a:srgbClr val="A142F4"/>
          </a:solidFill>
          <a:ln w="19050">
            <a:solidFill>
              <a:srgbClr val="A142F4"/>
            </a:solidFill>
            <a:prstDash val="solid"/>
          </a:ln>
        </p:spPr>
      </p:sp>
      <p:sp>
        <p:nvSpPr>
          <p:cNvPr id="10" name="!!tl_lbl1"/>
          <p:cNvSpPr txBox="1"/>
          <p:nvPr/>
        </p:nvSpPr>
        <p:spPr>
          <a:xfrm>
            <a:off x="1965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142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11" name="!!tl_node2"/>
          <p:cNvSpPr/>
          <p:nvPr/>
        </p:nvSpPr>
        <p:spPr>
          <a:xfrm>
            <a:off x="445312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2" name="!!tl_lbl2"/>
          <p:cNvSpPr txBox="1"/>
          <p:nvPr/>
        </p:nvSpPr>
        <p:spPr>
          <a:xfrm>
            <a:off x="3840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13" name="!!tl_node3"/>
          <p:cNvSpPr/>
          <p:nvPr/>
        </p:nvSpPr>
        <p:spPr>
          <a:xfrm>
            <a:off x="632764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4" name="!!tl_lbl3"/>
          <p:cNvSpPr txBox="1"/>
          <p:nvPr/>
        </p:nvSpPr>
        <p:spPr>
          <a:xfrm>
            <a:off x="57150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900" dirty="0"/>
          </a:p>
        </p:txBody>
      </p:sp>
      <p:sp>
        <p:nvSpPr>
          <p:cNvPr id="15" name="!!tl_node4"/>
          <p:cNvSpPr/>
          <p:nvPr/>
        </p:nvSpPr>
        <p:spPr>
          <a:xfrm>
            <a:off x="820216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6" name="!!tl_lbl4"/>
          <p:cNvSpPr txBox="1"/>
          <p:nvPr/>
        </p:nvSpPr>
        <p:spPr>
          <a:xfrm>
            <a:off x="758952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900" dirty="0"/>
          </a:p>
        </p:txBody>
      </p:sp>
      <p:pic>
        <p:nvPicPr>
          <p:cNvPr id="17" name="!!tl_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2834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Video Input → JSON Output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Structured output’u çağrı seviyesinde nasıl istiyoruz?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1920240"/>
            <a:ext cx="5120640" cy="2514600"/>
          </a:xfrm>
          <a:prstGeom prst="roundRect">
            <a:avLst>
              <a:gd name="adj" fmla="val 3636"/>
            </a:avLst>
          </a:prstGeom>
          <a:solidFill>
            <a:srgbClr val="202124"/>
          </a:solidFill>
          <a:ln w="12700">
            <a:solidFill>
              <a:srgbClr val="202124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40080" y="20574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response = client.models.generate_content(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C58AF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model="gemini-3-flash-preview",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contents=[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8AB4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Part.from_uri(file_uri=gcs_uri,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8AB4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    mime_type="video/webm"),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FDD66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MOTION_ANALYSIS_PROMPT,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],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config=GenerateContentConfig(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81C99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response_mime_type="application/json",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thinking_config=ThinkingConfig(thinking_budget=1024))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8EA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F28B8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analysis = json.loads(response.text)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852160" y="1920240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61888" y="2011680"/>
            <a:ext cx="347472" cy="347472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961888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446520" y="20116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Video from GCS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852160" y="2569464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961888" y="2660904"/>
            <a:ext cx="347472" cy="347472"/>
          </a:xfrm>
          <a:prstGeom prst="ellipse">
            <a:avLst/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961888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446520" y="26609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Prompt template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852160" y="3218688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961888" y="3310128"/>
            <a:ext cx="347472" cy="34747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961888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6446520" y="33101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JSON response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5852160" y="3867912"/>
            <a:ext cx="28346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961888" y="3959352"/>
            <a:ext cx="347472" cy="347472"/>
          </a:xfrm>
          <a:prstGeom prst="ellipse">
            <a:avLst/>
          </a:prstGeom>
          <a:solidFill>
            <a:srgbClr val="A142F4"/>
          </a:solidFill>
          <a:ln w="12700">
            <a:solidFill>
              <a:srgbClr val="A142F4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5961888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6446520" y="39593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Parse and continue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457200" y="47365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Structured output, multimodal pipeline’ı güvenilir ve birleştirilebilir yapıyor.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tl_track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</p:sp>
      <p:sp>
        <p:nvSpPr>
          <p:cNvPr id="5" name="!!tl_prog"/>
          <p:cNvSpPr/>
          <p:nvPr/>
        </p:nvSpPr>
        <p:spPr>
          <a:xfrm>
            <a:off x="822960" y="384048"/>
            <a:ext cx="3749040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6" name="!!tl_halo"/>
          <p:cNvSpPr/>
          <p:nvPr/>
        </p:nvSpPr>
        <p:spPr>
          <a:xfrm>
            <a:off x="4306824" y="118872"/>
            <a:ext cx="530352" cy="530352"/>
          </a:xfrm>
          <a:prstGeom prst="ellipse">
            <a:avLst/>
          </a:prstGeom>
          <a:solidFill>
            <a:srgbClr val="FEF7E0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7" name="!!tl_node0"/>
          <p:cNvSpPr/>
          <p:nvPr/>
        </p:nvSpPr>
        <p:spPr>
          <a:xfrm>
            <a:off x="704088" y="265176"/>
            <a:ext cx="237744" cy="237744"/>
          </a:xfrm>
          <a:prstGeom prst="ellipse">
            <a:avLst/>
          </a:prstGeom>
          <a:solidFill>
            <a:srgbClr val="4285F4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8" name="!!tl_lbl0"/>
          <p:cNvSpPr txBox="1"/>
          <p:nvPr/>
        </p:nvSpPr>
        <p:spPr>
          <a:xfrm>
            <a:off x="914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!!tl_node1"/>
          <p:cNvSpPr/>
          <p:nvPr/>
        </p:nvSpPr>
        <p:spPr>
          <a:xfrm>
            <a:off x="2578608" y="265176"/>
            <a:ext cx="237744" cy="237744"/>
          </a:xfrm>
          <a:prstGeom prst="ellipse">
            <a:avLst/>
          </a:prstGeom>
          <a:solidFill>
            <a:srgbClr val="A142F4"/>
          </a:solidFill>
          <a:ln w="19050">
            <a:solidFill>
              <a:srgbClr val="A142F4"/>
            </a:solidFill>
            <a:prstDash val="solid"/>
          </a:ln>
        </p:spPr>
      </p:sp>
      <p:sp>
        <p:nvSpPr>
          <p:cNvPr id="10" name="!!tl_lbl1"/>
          <p:cNvSpPr txBox="1"/>
          <p:nvPr/>
        </p:nvSpPr>
        <p:spPr>
          <a:xfrm>
            <a:off x="1965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11" name="!!tl_node2"/>
          <p:cNvSpPr/>
          <p:nvPr/>
        </p:nvSpPr>
        <p:spPr>
          <a:xfrm>
            <a:off x="4389120" y="201168"/>
            <a:ext cx="365760" cy="365760"/>
          </a:xfrm>
          <a:prstGeom prst="ellipse">
            <a:avLst/>
          </a:prstGeom>
          <a:solidFill>
            <a:srgbClr val="F9AB00"/>
          </a:solidFill>
          <a:ln w="19050">
            <a:solidFill>
              <a:srgbClr val="F9AB00"/>
            </a:solidFill>
            <a:prstDash val="solid"/>
          </a:ln>
        </p:spPr>
      </p:sp>
      <p:sp>
        <p:nvSpPr>
          <p:cNvPr id="12" name="!!tl_lbl2"/>
          <p:cNvSpPr txBox="1"/>
          <p:nvPr/>
        </p:nvSpPr>
        <p:spPr>
          <a:xfrm>
            <a:off x="3840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AB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13" name="!!tl_node3"/>
          <p:cNvSpPr/>
          <p:nvPr/>
        </p:nvSpPr>
        <p:spPr>
          <a:xfrm>
            <a:off x="632764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4" name="!!tl_lbl3"/>
          <p:cNvSpPr txBox="1"/>
          <p:nvPr/>
        </p:nvSpPr>
        <p:spPr>
          <a:xfrm>
            <a:off x="57150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900" dirty="0"/>
          </a:p>
        </p:txBody>
      </p:sp>
      <p:sp>
        <p:nvSpPr>
          <p:cNvPr id="15" name="!!tl_node4"/>
          <p:cNvSpPr/>
          <p:nvPr/>
        </p:nvSpPr>
        <p:spPr>
          <a:xfrm>
            <a:off x="820216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6" name="!!tl_lbl4"/>
          <p:cNvSpPr txBox="1"/>
          <p:nvPr/>
        </p:nvSpPr>
        <p:spPr>
          <a:xfrm>
            <a:off x="758952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900" dirty="0"/>
          </a:p>
        </p:txBody>
      </p:sp>
      <p:pic>
        <p:nvPicPr>
          <p:cNvPr id="17" name="!!tl_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2834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Avatar Generation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 iyi kare, Veo için bir referans görsele dönüşüyor.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196596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1" y="226954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0080" y="2834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Best frame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320040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best_frame_timestamp anı ffmpeg ile videodan kesiliyor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278892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0"/>
          <p:cNvSpPr/>
          <p:nvPr/>
        </p:nvSpPr>
        <p:spPr>
          <a:xfrm>
            <a:off x="3154680" y="1965960"/>
            <a:ext cx="2331720" cy="237744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37560" y="2148840"/>
            <a:ext cx="548640" cy="548640"/>
          </a:xfrm>
          <a:prstGeom prst="ellipse">
            <a:avLst/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8261" y="226954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337560" y="2834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3337560" y="320040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Kare + style prompt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gemini-3.1-flash-image-preview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5852160" y="196596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FEF7E0"/>
          </a:solidFill>
          <a:ln w="19050">
            <a:solidFill>
              <a:srgbClr val="F9AB00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4" descr="/tmp/claude-0/-home-claude/d5e34c45-44d6-5238-8d7b-e6c7b3c8d5c3/scratchpad/deck/ref_image3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2011680"/>
            <a:ext cx="1463040" cy="14630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5236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1024×1024 PNG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7452360" y="27889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avatars/ altında saklanıyor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6035040" y="3611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Final çıktı değil, Veo için reference asset.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457200" y="47365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Bu aşama karakterin görsel kimliğini hazırlıyor.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tl_track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</p:sp>
      <p:sp>
        <p:nvSpPr>
          <p:cNvPr id="5" name="!!tl_prog"/>
          <p:cNvSpPr/>
          <p:nvPr/>
        </p:nvSpPr>
        <p:spPr>
          <a:xfrm>
            <a:off x="822960" y="384048"/>
            <a:ext cx="5623560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6" name="!!tl_halo"/>
          <p:cNvSpPr/>
          <p:nvPr/>
        </p:nvSpPr>
        <p:spPr>
          <a:xfrm>
            <a:off x="6181344" y="118872"/>
            <a:ext cx="530352" cy="530352"/>
          </a:xfrm>
          <a:prstGeom prst="ellipse">
            <a:avLst/>
          </a:prstGeom>
          <a:solidFill>
            <a:srgbClr val="E6F4EA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7" name="!!tl_node0"/>
          <p:cNvSpPr/>
          <p:nvPr/>
        </p:nvSpPr>
        <p:spPr>
          <a:xfrm>
            <a:off x="704088" y="265176"/>
            <a:ext cx="237744" cy="237744"/>
          </a:xfrm>
          <a:prstGeom prst="ellipse">
            <a:avLst/>
          </a:prstGeom>
          <a:solidFill>
            <a:srgbClr val="4285F4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8" name="!!tl_lbl0"/>
          <p:cNvSpPr txBox="1"/>
          <p:nvPr/>
        </p:nvSpPr>
        <p:spPr>
          <a:xfrm>
            <a:off x="914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!!tl_node1"/>
          <p:cNvSpPr/>
          <p:nvPr/>
        </p:nvSpPr>
        <p:spPr>
          <a:xfrm>
            <a:off x="2578608" y="265176"/>
            <a:ext cx="237744" cy="237744"/>
          </a:xfrm>
          <a:prstGeom prst="ellipse">
            <a:avLst/>
          </a:prstGeom>
          <a:solidFill>
            <a:srgbClr val="A142F4"/>
          </a:solidFill>
          <a:ln w="19050">
            <a:solidFill>
              <a:srgbClr val="A142F4"/>
            </a:solidFill>
            <a:prstDash val="solid"/>
          </a:ln>
        </p:spPr>
      </p:sp>
      <p:sp>
        <p:nvSpPr>
          <p:cNvPr id="10" name="!!tl_lbl1"/>
          <p:cNvSpPr txBox="1"/>
          <p:nvPr/>
        </p:nvSpPr>
        <p:spPr>
          <a:xfrm>
            <a:off x="1965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11" name="!!tl_node2"/>
          <p:cNvSpPr/>
          <p:nvPr/>
        </p:nvSpPr>
        <p:spPr>
          <a:xfrm>
            <a:off x="4453128" y="265176"/>
            <a:ext cx="237744" cy="237744"/>
          </a:xfrm>
          <a:prstGeom prst="ellipse">
            <a:avLst/>
          </a:prstGeom>
          <a:solidFill>
            <a:srgbClr val="F9AB00"/>
          </a:solidFill>
          <a:ln w="19050">
            <a:solidFill>
              <a:srgbClr val="F9AB00"/>
            </a:solidFill>
            <a:prstDash val="solid"/>
          </a:ln>
        </p:spPr>
      </p:sp>
      <p:sp>
        <p:nvSpPr>
          <p:cNvPr id="12" name="!!tl_lbl2"/>
          <p:cNvSpPr txBox="1"/>
          <p:nvPr/>
        </p:nvSpPr>
        <p:spPr>
          <a:xfrm>
            <a:off x="3840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13" name="!!tl_node3"/>
          <p:cNvSpPr/>
          <p:nvPr/>
        </p:nvSpPr>
        <p:spPr>
          <a:xfrm>
            <a:off x="6263640" y="201168"/>
            <a:ext cx="365760" cy="365760"/>
          </a:xfrm>
          <a:prstGeom prst="ellipse">
            <a:avLst/>
          </a:prstGeom>
          <a:solidFill>
            <a:srgbClr val="34A853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14" name="!!tl_lbl3"/>
          <p:cNvSpPr txBox="1"/>
          <p:nvPr/>
        </p:nvSpPr>
        <p:spPr>
          <a:xfrm>
            <a:off x="57150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900" dirty="0"/>
          </a:p>
        </p:txBody>
      </p:sp>
      <p:sp>
        <p:nvSpPr>
          <p:cNvPr id="15" name="!!tl_node4"/>
          <p:cNvSpPr/>
          <p:nvPr/>
        </p:nvSpPr>
        <p:spPr>
          <a:xfrm>
            <a:off x="820216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6" name="!!tl_lbl4"/>
          <p:cNvSpPr txBox="1"/>
          <p:nvPr/>
        </p:nvSpPr>
        <p:spPr>
          <a:xfrm>
            <a:off x="758952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900" dirty="0"/>
          </a:p>
        </p:txBody>
      </p:sp>
      <p:pic>
        <p:nvPicPr>
          <p:cNvPr id="17" name="!!tl_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834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 Video Generation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Hareket context’i + görsel kimlik → yeni bir video.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19659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21792" y="2221992"/>
            <a:ext cx="530352" cy="530352"/>
          </a:xfrm>
          <a:prstGeom prst="ellipse">
            <a:avLst/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69" y="2338669"/>
            <a:ext cx="296997" cy="29699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2194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veo_prompt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28016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Hareketin tarifi (Gemini)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32004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1792" y="3456432"/>
            <a:ext cx="530352" cy="530352"/>
          </a:xfrm>
          <a:prstGeom prst="ellipse">
            <a:avLst/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69" y="3573109"/>
            <a:ext cx="296997" cy="29699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80160" y="3429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Avatar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128016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Görsel kimlik (Nano Banana)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31546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4"/>
          <p:cNvSpPr/>
          <p:nvPr/>
        </p:nvSpPr>
        <p:spPr>
          <a:xfrm>
            <a:off x="3657600" y="196596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E6F4EA"/>
          </a:solidFill>
          <a:ln w="19050">
            <a:solidFill>
              <a:srgbClr val="34A85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2194560"/>
            <a:ext cx="640080" cy="64008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74904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 3.1 Fast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374904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 sn · 16:9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→ GCS output/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126480" y="196596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309360" y="2148840"/>
            <a:ext cx="457200" cy="457200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2249424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09360" y="2743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Avatar ilk kare değil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630936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Referans görsel olarak veriliyor: “videodaki karakter böyle görünsün.”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6309360" y="3840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433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reference_type = ASSET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457200" y="47365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 bağımsız çalışmıyor; önceki aşamaların çıktılarıyla besleniyor.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tl_track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</p:sp>
      <p:sp>
        <p:nvSpPr>
          <p:cNvPr id="5" name="!!tl_prog"/>
          <p:cNvSpPr/>
          <p:nvPr/>
        </p:nvSpPr>
        <p:spPr>
          <a:xfrm>
            <a:off x="822960" y="384048"/>
            <a:ext cx="5623560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</p:sp>
      <p:sp>
        <p:nvSpPr>
          <p:cNvPr id="6" name="!!tl_halo"/>
          <p:cNvSpPr/>
          <p:nvPr/>
        </p:nvSpPr>
        <p:spPr>
          <a:xfrm>
            <a:off x="6181344" y="118872"/>
            <a:ext cx="530352" cy="530352"/>
          </a:xfrm>
          <a:prstGeom prst="ellipse">
            <a:avLst/>
          </a:prstGeom>
          <a:solidFill>
            <a:srgbClr val="E6F4EA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7" name="!!tl_node0"/>
          <p:cNvSpPr/>
          <p:nvPr/>
        </p:nvSpPr>
        <p:spPr>
          <a:xfrm>
            <a:off x="704088" y="265176"/>
            <a:ext cx="237744" cy="237744"/>
          </a:xfrm>
          <a:prstGeom prst="ellipse">
            <a:avLst/>
          </a:prstGeom>
          <a:solidFill>
            <a:srgbClr val="4285F4"/>
          </a:solidFill>
          <a:ln w="19050">
            <a:solidFill>
              <a:srgbClr val="4285F4"/>
            </a:solidFill>
            <a:prstDash val="solid"/>
          </a:ln>
        </p:spPr>
      </p:sp>
      <p:sp>
        <p:nvSpPr>
          <p:cNvPr id="8" name="!!tl_lbl0"/>
          <p:cNvSpPr txBox="1"/>
          <p:nvPr/>
        </p:nvSpPr>
        <p:spPr>
          <a:xfrm>
            <a:off x="914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!!tl_node1"/>
          <p:cNvSpPr/>
          <p:nvPr/>
        </p:nvSpPr>
        <p:spPr>
          <a:xfrm>
            <a:off x="2578608" y="265176"/>
            <a:ext cx="237744" cy="237744"/>
          </a:xfrm>
          <a:prstGeom prst="ellipse">
            <a:avLst/>
          </a:prstGeom>
          <a:solidFill>
            <a:srgbClr val="A142F4"/>
          </a:solidFill>
          <a:ln w="19050">
            <a:solidFill>
              <a:srgbClr val="A142F4"/>
            </a:solidFill>
            <a:prstDash val="solid"/>
          </a:ln>
        </p:spPr>
      </p:sp>
      <p:sp>
        <p:nvSpPr>
          <p:cNvPr id="10" name="!!tl_lbl1"/>
          <p:cNvSpPr txBox="1"/>
          <p:nvPr/>
        </p:nvSpPr>
        <p:spPr>
          <a:xfrm>
            <a:off x="1965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11" name="!!tl_node2"/>
          <p:cNvSpPr/>
          <p:nvPr/>
        </p:nvSpPr>
        <p:spPr>
          <a:xfrm>
            <a:off x="4453128" y="265176"/>
            <a:ext cx="237744" cy="237744"/>
          </a:xfrm>
          <a:prstGeom prst="ellipse">
            <a:avLst/>
          </a:prstGeom>
          <a:solidFill>
            <a:srgbClr val="F9AB00"/>
          </a:solidFill>
          <a:ln w="19050">
            <a:solidFill>
              <a:srgbClr val="F9AB00"/>
            </a:solidFill>
            <a:prstDash val="solid"/>
          </a:ln>
        </p:spPr>
      </p:sp>
      <p:sp>
        <p:nvSpPr>
          <p:cNvPr id="12" name="!!tl_lbl2"/>
          <p:cNvSpPr txBox="1"/>
          <p:nvPr/>
        </p:nvSpPr>
        <p:spPr>
          <a:xfrm>
            <a:off x="3840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13" name="!!tl_node3"/>
          <p:cNvSpPr/>
          <p:nvPr/>
        </p:nvSpPr>
        <p:spPr>
          <a:xfrm>
            <a:off x="6263640" y="201168"/>
            <a:ext cx="365760" cy="365760"/>
          </a:xfrm>
          <a:prstGeom prst="ellipse">
            <a:avLst/>
          </a:prstGeom>
          <a:solidFill>
            <a:srgbClr val="34A853"/>
          </a:solidFill>
          <a:ln w="19050">
            <a:solidFill>
              <a:srgbClr val="34A853"/>
            </a:solidFill>
            <a:prstDash val="solid"/>
          </a:ln>
        </p:spPr>
      </p:sp>
      <p:sp>
        <p:nvSpPr>
          <p:cNvPr id="14" name="!!tl_lbl3"/>
          <p:cNvSpPr txBox="1"/>
          <p:nvPr/>
        </p:nvSpPr>
        <p:spPr>
          <a:xfrm>
            <a:off x="57150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900" dirty="0"/>
          </a:p>
        </p:txBody>
      </p:sp>
      <p:sp>
        <p:nvSpPr>
          <p:cNvPr id="15" name="!!tl_node4"/>
          <p:cNvSpPr/>
          <p:nvPr/>
        </p:nvSpPr>
        <p:spPr>
          <a:xfrm>
            <a:off x="8202168" y="265176"/>
            <a:ext cx="237744" cy="23774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ADCE0"/>
            </a:solidFill>
            <a:prstDash val="solid"/>
          </a:ln>
        </p:spPr>
      </p:sp>
      <p:sp>
        <p:nvSpPr>
          <p:cNvPr id="16" name="!!tl_lbl4"/>
          <p:cNvSpPr txBox="1"/>
          <p:nvPr/>
        </p:nvSpPr>
        <p:spPr>
          <a:xfrm>
            <a:off x="758952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900" dirty="0"/>
          </a:p>
        </p:txBody>
      </p:sp>
      <p:pic>
        <p:nvPicPr>
          <p:cNvPr id="17" name="!!tl_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834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Async, Status &amp; Concurrency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Bir AI işlemi saniyelerde bitmiyorsa uygulama bunu nasıl yönetir?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7200" y="1920240"/>
            <a:ext cx="484632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4008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Aşama süreleri (yaklaşık)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2423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Analyzing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691640" y="2478024"/>
            <a:ext cx="228600" cy="182880"/>
          </a:xfrm>
          <a:prstGeom prst="roundRect">
            <a:avLst>
              <a:gd name="adj" fmla="val 25000"/>
            </a:avLst>
          </a:prstGeom>
          <a:solidFill>
            <a:srgbClr val="A142F4"/>
          </a:solidFill>
          <a:ln w="12700">
            <a:solidFill>
              <a:srgbClr val="A142F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2011680" y="2423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5–10 sn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2880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Avatar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691640" y="2935224"/>
            <a:ext cx="274320" cy="182880"/>
          </a:xfrm>
          <a:prstGeom prst="roundRect">
            <a:avLst>
              <a:gd name="adj" fmla="val 25000"/>
            </a:avLst>
          </a:prstGeom>
          <a:solidFill>
            <a:srgbClr val="F9AB00"/>
          </a:solidFill>
          <a:ln w="12700">
            <a:solidFill>
              <a:srgbClr val="F9AB0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057400" y="2880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8–12 sn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" y="3337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Video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691640" y="3392424"/>
            <a:ext cx="2743200" cy="182880"/>
          </a:xfrm>
          <a:prstGeom prst="roundRect">
            <a:avLst>
              <a:gd name="adj" fmla="val 25000"/>
            </a:avLst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526280" y="33375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60–120 sn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" y="3794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Composing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1691640" y="3849624"/>
            <a:ext cx="228600" cy="182880"/>
          </a:xfrm>
          <a:prstGeom prst="roundRect">
            <a:avLst>
              <a:gd name="adj" fmla="val 25000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011680" y="37947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5–10 sn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5577840" y="192024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576072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3600" dirty="0"/>
          </a:p>
        </p:txBody>
      </p:sp>
      <p:sp>
        <p:nvSpPr>
          <p:cNvPr id="36" name="Text 31"/>
          <p:cNvSpPr txBox="1"/>
          <p:nvPr/>
        </p:nvSpPr>
        <p:spPr>
          <a:xfrm>
            <a:off x="6949440" y="2103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aktif video işi (max)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577840" y="3200400"/>
            <a:ext cx="31089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3"/>
          <p:cNvSpPr txBox="1"/>
          <p:nvPr/>
        </p:nvSpPr>
        <p:spPr>
          <a:xfrm>
            <a:off x="5760720" y="3291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 sn</a:t>
            </a:r>
            <a:endParaRPr lang="en-US" sz="3600" dirty="0"/>
          </a:p>
        </p:txBody>
      </p:sp>
      <p:sp>
        <p:nvSpPr>
          <p:cNvPr id="39" name="Text 34"/>
          <p:cNvSpPr txBox="1"/>
          <p:nvPr/>
        </p:nvSpPr>
        <p:spPr>
          <a:xfrm>
            <a:off x="694944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 operation poll aralığı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457200" y="47365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İki katmanlı polling: backend Veo’yu, frontend backend’i yokluyor.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!!tl_track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25400">
            <a:solidFill>
              <a:srgbClr val="DA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!!tl_prog"/>
          <p:cNvSpPr/>
          <p:nvPr/>
        </p:nvSpPr>
        <p:spPr>
          <a:xfrm>
            <a:off x="822960" y="384048"/>
            <a:ext cx="7498080" cy="0"/>
          </a:xfrm>
          <a:prstGeom prst="line">
            <a:avLst/>
          </a:prstGeom>
          <a:noFill/>
          <a:ln w="38100">
            <a:solidFill>
              <a:srgbClr val="4285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!!tl_halo"/>
          <p:cNvSpPr/>
          <p:nvPr/>
        </p:nvSpPr>
        <p:spPr>
          <a:xfrm>
            <a:off x="8055864" y="118872"/>
            <a:ext cx="530352" cy="530352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8FAF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!!tl_node0"/>
          <p:cNvSpPr/>
          <p:nvPr/>
        </p:nvSpPr>
        <p:spPr>
          <a:xfrm>
            <a:off x="704088" y="265176"/>
            <a:ext cx="237744" cy="237744"/>
          </a:xfrm>
          <a:prstGeom prst="ellipse">
            <a:avLst/>
          </a:prstGeom>
          <a:solidFill>
            <a:srgbClr val="4285F4"/>
          </a:solidFill>
          <a:ln w="19050">
            <a:solidFill>
              <a:srgbClr val="4285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!!tl_lbl0"/>
          <p:cNvSpPr txBox="1"/>
          <p:nvPr/>
        </p:nvSpPr>
        <p:spPr>
          <a:xfrm>
            <a:off x="9144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900" dirty="0"/>
          </a:p>
        </p:txBody>
      </p:sp>
      <p:sp>
        <p:nvSpPr>
          <p:cNvPr id="9" name="!!tl_node1"/>
          <p:cNvSpPr/>
          <p:nvPr/>
        </p:nvSpPr>
        <p:spPr>
          <a:xfrm>
            <a:off x="2578608" y="265176"/>
            <a:ext cx="237744" cy="237744"/>
          </a:xfrm>
          <a:prstGeom prst="ellipse">
            <a:avLst/>
          </a:prstGeom>
          <a:solidFill>
            <a:srgbClr val="A142F4"/>
          </a:solidFill>
          <a:ln w="19050">
            <a:solidFill>
              <a:srgbClr val="A142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!!tl_lbl1"/>
          <p:cNvSpPr txBox="1"/>
          <p:nvPr/>
        </p:nvSpPr>
        <p:spPr>
          <a:xfrm>
            <a:off x="196596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900" dirty="0"/>
          </a:p>
        </p:txBody>
      </p:sp>
      <p:sp>
        <p:nvSpPr>
          <p:cNvPr id="11" name="!!tl_node2"/>
          <p:cNvSpPr/>
          <p:nvPr/>
        </p:nvSpPr>
        <p:spPr>
          <a:xfrm>
            <a:off x="4453128" y="265176"/>
            <a:ext cx="237744" cy="237744"/>
          </a:xfrm>
          <a:prstGeom prst="ellipse">
            <a:avLst/>
          </a:prstGeom>
          <a:solidFill>
            <a:srgbClr val="F9AB00"/>
          </a:solidFill>
          <a:ln w="19050">
            <a:solidFill>
              <a:srgbClr val="F9AB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!!tl_lbl2"/>
          <p:cNvSpPr txBox="1"/>
          <p:nvPr/>
        </p:nvSpPr>
        <p:spPr>
          <a:xfrm>
            <a:off x="384048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Nano Banana</a:t>
            </a:r>
            <a:endParaRPr lang="en-US" sz="900" dirty="0"/>
          </a:p>
        </p:txBody>
      </p:sp>
      <p:sp>
        <p:nvSpPr>
          <p:cNvPr id="13" name="!!tl_node3"/>
          <p:cNvSpPr/>
          <p:nvPr/>
        </p:nvSpPr>
        <p:spPr>
          <a:xfrm>
            <a:off x="6327648" y="265176"/>
            <a:ext cx="237744" cy="237744"/>
          </a:xfrm>
          <a:prstGeom prst="ellipse">
            <a:avLst/>
          </a:prstGeom>
          <a:solidFill>
            <a:srgbClr val="34A853"/>
          </a:solidFill>
          <a:ln w="19050">
            <a:solidFill>
              <a:srgbClr val="34A85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!!tl_lbl3"/>
          <p:cNvSpPr txBox="1"/>
          <p:nvPr/>
        </p:nvSpPr>
        <p:spPr>
          <a:xfrm>
            <a:off x="571500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900" dirty="0"/>
          </a:p>
        </p:txBody>
      </p:sp>
      <p:sp>
        <p:nvSpPr>
          <p:cNvPr id="15" name="!!tl_node4"/>
          <p:cNvSpPr/>
          <p:nvPr/>
        </p:nvSpPr>
        <p:spPr>
          <a:xfrm>
            <a:off x="8138160" y="201168"/>
            <a:ext cx="365760" cy="365760"/>
          </a:xfrm>
          <a:prstGeom prst="ellipse">
            <a:avLst/>
          </a:prstGeom>
          <a:solidFill>
            <a:srgbClr val="EA4335"/>
          </a:solidFill>
          <a:ln w="19050">
            <a:solidFill>
              <a:srgbClr val="EA43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!!tl_lbl4"/>
          <p:cNvSpPr txBox="1"/>
          <p:nvPr/>
        </p:nvSpPr>
        <p:spPr>
          <a:xfrm>
            <a:off x="7589520" y="6035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</a:t>
            </a:r>
            <a:endParaRPr lang="en-US" sz="900" dirty="0"/>
          </a:p>
        </p:txBody>
      </p:sp>
      <p:pic>
        <p:nvPicPr>
          <p:cNvPr id="17" name="!!tl_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28346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From model output to experience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Kullanıcının görmek istediği ham model çıktısı değil.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13232" y="2414016"/>
            <a:ext cx="0" cy="164592"/>
          </a:xfrm>
          <a:prstGeom prst="line">
            <a:avLst/>
          </a:prstGeom>
          <a:noFill/>
          <a:ln w="19050">
            <a:solidFill>
              <a:srgbClr val="DA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57200" y="1920240"/>
            <a:ext cx="493776" cy="493776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831" y="2028871"/>
            <a:ext cx="276515" cy="27651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97280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 çıktısı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097280" y="21945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8 saniye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13232" y="3072384"/>
            <a:ext cx="0" cy="164592"/>
          </a:xfrm>
          <a:prstGeom prst="line">
            <a:avLst/>
          </a:prstGeom>
          <a:noFill/>
          <a:ln w="19050">
            <a:solidFill>
              <a:srgbClr val="DA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57200" y="2578608"/>
            <a:ext cx="493776" cy="493776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831" y="2687239"/>
            <a:ext cx="276515" cy="27651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97280" y="25968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Trim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1097280" y="28529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ffmpeg ile ilk 5 saniye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13232" y="3730752"/>
            <a:ext cx="0" cy="164592"/>
          </a:xfrm>
          <a:prstGeom prst="line">
            <a:avLst/>
          </a:prstGeom>
          <a:noFill/>
          <a:ln w="19050">
            <a:solidFill>
              <a:srgbClr val="DADC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4"/>
          <p:cNvSpPr/>
          <p:nvPr/>
        </p:nvSpPr>
        <p:spPr>
          <a:xfrm>
            <a:off x="457200" y="3236976"/>
            <a:ext cx="493776" cy="493776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31" y="3345607"/>
            <a:ext cx="276515" cy="27651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97280" y="3255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Dikey paylaşım videosu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1097280" y="3511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AI büyük, kayıt köşede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457200" y="3895344"/>
            <a:ext cx="493776" cy="493776"/>
          </a:xfrm>
          <a:prstGeom prst="ellipse">
            <a:avLst/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831" y="4003975"/>
            <a:ext cx="276515" cy="27651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97280" y="39136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QR + paylaşım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1097280" y="41696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Paylaş + indir · 14 gün açık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6598539" y="877824"/>
            <a:ext cx="2079117" cy="3639312"/>
          </a:xfrm>
          <a:prstGeom prst="roundRect">
            <a:avLst>
              <a:gd name="adj" fmla="val 3810"/>
            </a:avLst>
          </a:prstGeom>
          <a:solidFill>
            <a:srgbClr val="E8F0FE"/>
          </a:solidFill>
          <a:ln w="19050">
            <a:solidFill>
              <a:srgbClr val="4285F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2" name="slayt15.mp4">
            <a:hlinkClick r:id="" action="ppaction://media"/>
          </p:cNvPr>
          <p:cNvPicPr>
            <a:picLocks noChangeAspect="1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635115" y="914400"/>
            <a:ext cx="2005965" cy="3566160"/>
          </a:xfrm>
          <a:prstGeom prst="round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Motion Lab Architecture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457200" y="114300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1436522"/>
            <a:ext cx="281635" cy="28163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React + Vite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Run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2651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⇄</a:t>
            </a:r>
            <a:endParaRPr lang="en-US" sz="2000" dirty="0"/>
          </a:p>
        </p:txBody>
      </p:sp>
      <p:sp>
        <p:nvSpPr>
          <p:cNvPr id="11" name="Shape 6"/>
          <p:cNvSpPr/>
          <p:nvPr/>
        </p:nvSpPr>
        <p:spPr>
          <a:xfrm>
            <a:off x="3108960" y="11430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3291840" y="1325880"/>
            <a:ext cx="502920" cy="502920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482" y="1436522"/>
            <a:ext cx="281635" cy="28163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9319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3931920" y="1600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FastAPI · Cloud Run · 2 GiB (ffmpeg) · min-instances 1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291840" y="20116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3291840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074920" y="20116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074920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142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858000" y="201168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0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AB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Avatar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91840" y="24231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291840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A85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Veo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74920" y="24231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074920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Trim+Compose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858000" y="24231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0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433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QR / Share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108960" y="3291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73552" y="3456432"/>
            <a:ext cx="457200" cy="4572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136" y="3557016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840480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Storage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3273552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uploads/ · frames/ · avatars/ · output/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5943600" y="32918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108192" y="3456432"/>
            <a:ext cx="457200" cy="457200"/>
          </a:xfrm>
          <a:prstGeom prst="ellipse">
            <a:avLst/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3557016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675120" y="3456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Vertex AI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6108192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· Nano Banana · Veo</a:t>
            </a:r>
            <a:endParaRPr lang="en-US" sz="950" dirty="0"/>
          </a:p>
        </p:txBody>
      </p:sp>
      <p:sp>
        <p:nvSpPr>
          <p:cNvPr id="38" name="Text 30"/>
          <p:cNvSpPr txBox="1"/>
          <p:nvPr/>
        </p:nvSpPr>
        <p:spPr>
          <a:xfrm>
            <a:off x="45720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Frontend deneyimi, backend orkestrasyonu, storage medyayı, modeller kendi uzmanlıklarını üstleniyor.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/tmp/claude-0/-home-claude/d5e34c45-44d6-5238-8d7b-e6c7b3c8d5c3/scratchpad/deck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Production Lessons</a:t>
            </a:r>
            <a:endParaRPr lang="en-US" sz="2800" dirty="0"/>
          </a:p>
        </p:txBody>
      </p:sp>
      <p:sp>
        <p:nvSpPr>
          <p:cNvPr id="5" name="Shape 1"/>
          <p:cNvSpPr/>
          <p:nvPr/>
        </p:nvSpPr>
        <p:spPr>
          <a:xfrm>
            <a:off x="457200" y="1097280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621792" y="1280160"/>
            <a:ext cx="457200" cy="45720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380744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Latency is UX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1234440" y="18288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Beklerken ne gösterdiğiniz de ürünün parçası.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474720" y="1097280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639312" y="1280160"/>
            <a:ext cx="457200" cy="457200"/>
          </a:xfrm>
          <a:prstGeom prst="ellipse">
            <a:avLst/>
          </a:prstGeom>
          <a:solidFill>
            <a:srgbClr val="F3E8FD"/>
          </a:solidFill>
          <a:ln w="12700">
            <a:solidFill>
              <a:srgbClr val="F3E8FD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380744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25196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Async jobs need orchestration</a:t>
            </a:r>
            <a:endParaRPr lang="en-US" sz="1250" dirty="0"/>
          </a:p>
        </p:txBody>
      </p:sp>
      <p:sp>
        <p:nvSpPr>
          <p:cNvPr id="14" name="Text 8"/>
          <p:cNvSpPr txBox="1"/>
          <p:nvPr/>
        </p:nvSpPr>
        <p:spPr>
          <a:xfrm>
            <a:off x="4251960" y="18288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Status, concurrency, retry AI ile kaybolmuyor.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57200" y="2514600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21792" y="2697480"/>
            <a:ext cx="457200" cy="457200"/>
          </a:xfrm>
          <a:prstGeom prst="ellipse">
            <a:avLst/>
          </a:prstGeom>
          <a:solidFill>
            <a:srgbClr val="FEF7E0"/>
          </a:solidFill>
          <a:ln w="12700">
            <a:solidFill>
              <a:srgbClr val="FEF7E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279806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Failures need fallbacks</a:t>
            </a:r>
            <a:endParaRPr lang="en-US" sz="1250" dirty="0"/>
          </a:p>
        </p:txBody>
      </p:sp>
      <p:sp>
        <p:nvSpPr>
          <p:cNvPr id="19" name="Text 12"/>
          <p:cNvSpPr txBox="1"/>
          <p:nvPr/>
        </p:nvSpPr>
        <p:spPr>
          <a:xfrm>
            <a:off x="1234440" y="3246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Safety filtreleri, kota, beklenmeyen çıktılar.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3474720" y="2514600"/>
            <a:ext cx="283464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639312" y="2697480"/>
            <a:ext cx="457200" cy="457200"/>
          </a:xfrm>
          <a:prstGeom prst="ellipse">
            <a:avLst/>
          </a:prstGeom>
          <a:solidFill>
            <a:srgbClr val="E6F4EA"/>
          </a:solidFill>
          <a:ln w="12700">
            <a:solidFill>
              <a:srgbClr val="E6F4EA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9896" y="2798064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25196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Media needs lifecycle &amp; privacy</a:t>
            </a:r>
            <a:endParaRPr lang="en-US" sz="1250" dirty="0"/>
          </a:p>
        </p:txBody>
      </p:sp>
      <p:sp>
        <p:nvSpPr>
          <p:cNvPr id="24" name="Text 16"/>
          <p:cNvSpPr txBox="1"/>
          <p:nvPr/>
        </p:nvSpPr>
        <p:spPr>
          <a:xfrm>
            <a:off x="4251960" y="3246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Neyi, ne kadar, kime açık tutuyoruz?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6675120" y="1097280"/>
            <a:ext cx="2011680" cy="1261872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" name="Shape qr2"/>
          <p:cNvSpPr/>
          <p:nvPr/>
        </p:nvSpPr>
        <p:spPr>
          <a:xfrm>
            <a:off x="6675120" y="2514600"/>
            <a:ext cx="2011680" cy="1261872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19"/>
          <p:cNvSpPr txBox="1"/>
          <p:nvPr/>
        </p:nvSpPr>
        <p:spPr>
          <a:xfrm>
            <a:off x="6766560" y="3483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Demoyu dene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766560" y="2066543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212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GitHub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4069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AI modeli uygulamanın tamamı değil. Modeli çevreleyen sistem en az model kadar önemli.</a:t>
            </a:r>
            <a:endParaRPr lang="en-US" sz="1400" dirty="0"/>
          </a:p>
        </p:txBody>
      </p:sp>
      <p:pic>
        <p:nvPicPr>
          <p:cNvPr id="30" name="Picture 29" descr="qr_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1170432"/>
            <a:ext cx="914400" cy="914400"/>
          </a:xfrm>
          <a:prstGeom prst="rect">
            <a:avLst/>
          </a:prstGeom>
        </p:spPr>
      </p:pic>
      <p:pic>
        <p:nvPicPr>
          <p:cNvPr id="31" name="Picture 30" descr="qr_dem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0" y="2587752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914400" y="1143000"/>
            <a:ext cx="7315200" cy="11009376"/>
            <a:chOff x="914400" y="1143000"/>
            <a:chExt cx="7315200" cy="11009376"/>
          </a:xfrm>
        </p:grpSpPr>
        <p:sp>
          <p:nvSpPr>
            <p:cNvPr id="3" name="Rounded Rectangle 2"/>
            <p:cNvSpPr/>
            <p:nvPr/>
          </p:nvSpPr>
          <p:spPr>
            <a:xfrm>
              <a:off x="3017520" y="1143000"/>
              <a:ext cx="3108960" cy="310896"/>
            </a:xfrm>
            <a:prstGeom prst="roundRect">
              <a:avLst>
                <a:gd name="adj" fmla="val 50000"/>
              </a:avLst>
            </a:prstGeom>
            <a:solidFill>
              <a:srgbClr val="15171C"/>
            </a:solidFill>
            <a:ln w="9525">
              <a:solidFill>
                <a:srgbClr val="2A2D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3201543" y="1266444"/>
              <a:ext cx="64008" cy="64008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13557" y="1266444"/>
              <a:ext cx="64008" cy="64008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425571" y="1266444"/>
              <a:ext cx="64008" cy="64008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537585" y="1266444"/>
              <a:ext cx="64008" cy="64008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703320" y="1143000"/>
              <a:ext cx="228600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900" b="0" spc="200">
                  <a:solidFill>
                    <a:srgbClr val="9AA0A6"/>
                  </a:solidFill>
                  <a:latin typeface="Google Sans"/>
                </a:rPr>
                <a:t>DEVFEST KASTAMONU 2026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14400" y="1682496"/>
              <a:ext cx="7315200" cy="64008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4000" b="1">
                  <a:solidFill>
                    <a:srgbClr val="FFFFFF"/>
                  </a:solidFill>
                  <a:latin typeface="Google Sans"/>
                </a:rPr>
                <a:t>Teşekkürler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2368296"/>
              <a:ext cx="731520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500" b="0">
                  <a:solidFill>
                    <a:srgbClr val="9AA0A6"/>
                  </a:solidFill>
                  <a:latin typeface="Google Sans"/>
                </a:rPr>
                <a:t>Bu yolculuk hiçbir zaman tek kişilik değildi.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664209" y="3191256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Ragıp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587753" y="3191256"/>
              <a:ext cx="1225295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Ayşe Merve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59352" y="3191256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Şükrü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882896" y="3191256"/>
              <a:ext cx="1673352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4285F4"/>
                  </a:solidFill>
                  <a:latin typeface="Google Sans"/>
                </a:rPr>
                <a:t>GDG Cloud Konya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702552" y="3191256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Samet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722731" y="3685032"/>
              <a:ext cx="2390241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EA4335"/>
                  </a:solidFill>
                  <a:latin typeface="Google Sans"/>
                </a:rPr>
                <a:t>Squad Digital Solutions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259276" y="3685032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Aynur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182820" y="3685032"/>
              <a:ext cx="1225295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Hüsamettin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554419" y="3685032"/>
              <a:ext cx="866851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Zeynep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740105" y="4178808"/>
              <a:ext cx="68762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Eyüp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574037" y="4178808"/>
              <a:ext cx="866851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Meryem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587192" y="4178808"/>
              <a:ext cx="68762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Safa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421124" y="4178808"/>
              <a:ext cx="866851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Saadet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34279" y="4178808"/>
              <a:ext cx="68762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Arda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268211" y="4178808"/>
              <a:ext cx="1135684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FBBC04"/>
                  </a:solidFill>
                  <a:latin typeface="Google Sans"/>
                </a:rPr>
                <a:t>Squad GRC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888237" y="4672584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Berat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11781" y="4672584"/>
              <a:ext cx="1494129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34A853"/>
                  </a:solidFill>
                  <a:latin typeface="Google Sans"/>
                </a:rPr>
                <a:t>Devfest Bursa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452214" y="4672584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Emrah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375758" y="4672584"/>
              <a:ext cx="956462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Oğuzhan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6478524" y="4672584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Sinem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1560882" y="5166360"/>
              <a:ext cx="956462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Doğukan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2663648" y="5166360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İkbal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587192" y="5166360"/>
              <a:ext cx="956462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İbrahim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4689958" y="5166360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Elvan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13502" y="5166360"/>
              <a:ext cx="1046073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4285F4"/>
                  </a:solidFill>
                  <a:latin typeface="Google Sans"/>
                </a:rPr>
                <a:t>GDG Türk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805879" y="5166360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Baran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709015" y="5660136"/>
              <a:ext cx="1494129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EA4335"/>
                  </a:solidFill>
                  <a:latin typeface="Google Sans"/>
                </a:rPr>
                <a:t>Devfest İzmir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349448" y="5660136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Asude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4272992" y="5660136"/>
              <a:ext cx="1314907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Ekrem Vedat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5734203" y="5660136"/>
              <a:ext cx="68762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Rana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6568135" y="5660136"/>
              <a:ext cx="866851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Burhan</a:t>
              </a:r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1709015" y="6153912"/>
              <a:ext cx="68762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Sema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2542947" y="6153912"/>
              <a:ext cx="866851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Cengiz</a:t>
              </a: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556102" y="6153912"/>
              <a:ext cx="212140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FBBC04"/>
                  </a:solidFill>
                  <a:latin typeface="Google Sans"/>
                </a:rPr>
                <a:t>GDG on Campus Selçuk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5823814" y="6153912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Melih</a:t>
              </a:r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6747358" y="6153912"/>
              <a:ext cx="68762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Sude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1650494" y="6647688"/>
              <a:ext cx="866851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Şirvan</a:t>
              </a:r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2663649" y="6647688"/>
              <a:ext cx="68762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Umut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3497581" y="6647688"/>
              <a:ext cx="866851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Furkan</a:t>
              </a: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4510736" y="6647688"/>
              <a:ext cx="68762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Sena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5344668" y="6647688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Yasin</a:t>
              </a:r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6268212" y="6647688"/>
              <a:ext cx="1225295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34A853"/>
                  </a:solidFill>
                  <a:latin typeface="Google Sans"/>
                </a:rPr>
                <a:t>Architecht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1709014" y="7141464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Rabia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2632558" y="7141464"/>
              <a:ext cx="1314907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Ahmet Burak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4093769" y="7141464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4285F4"/>
                  </a:solidFill>
                  <a:latin typeface="Google Sans"/>
                </a:rPr>
                <a:t>Ligep</a:t>
              </a: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5017313" y="7141464"/>
              <a:ext cx="1494129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Ahmet Cevahir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6657746" y="7141464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Eslem</a:t>
              </a:r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1709014" y="7635240"/>
              <a:ext cx="956462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Nanivan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2811780" y="7635240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İlker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3735324" y="7635240"/>
              <a:ext cx="1314907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Beyza Sunay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5196535" y="7635240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Talha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6120079" y="7635240"/>
              <a:ext cx="1314907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EA4335"/>
                  </a:solidFill>
                  <a:latin typeface="Google Sans"/>
                </a:rPr>
                <a:t>Kuveyt Türk</a:t>
              </a: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709014" y="8129016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Yusuf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2632558" y="8129016"/>
              <a:ext cx="1494129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FBBC04"/>
                  </a:solidFill>
                  <a:latin typeface="Google Sans"/>
                </a:rPr>
                <a:t>GDG Kastamonu</a:t>
              </a:r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4272991" y="8129016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Esvan</a:t>
              </a: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5196535" y="8129016"/>
              <a:ext cx="1314907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Osman Kağan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6657746" y="8129016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Hilal</a:t>
              </a:r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2394814" y="8622792"/>
              <a:ext cx="1404518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Mustafa Uğur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945636" y="8622792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Başak</a:t>
              </a: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4869180" y="8622792"/>
              <a:ext cx="956462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0">
                  <a:solidFill>
                    <a:srgbClr val="E8EAED"/>
                  </a:solidFill>
                  <a:latin typeface="Google Sans"/>
                </a:rPr>
                <a:t>Hüseyin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5971946" y="8622792"/>
              <a:ext cx="777240" cy="347472"/>
            </a:xfrm>
            <a:prstGeom prst="roundRect">
              <a:avLst>
                <a:gd name="adj" fmla="val 22000"/>
              </a:avLst>
            </a:prstGeom>
            <a:solidFill>
              <a:srgbClr val="14161B"/>
            </a:solidFill>
            <a:ln w="9525">
              <a:solidFill>
                <a:srgbClr val="22252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/>
            <a:lstStyle/>
            <a:p>
              <a:pPr algn="ctr"/>
              <a:r>
                <a:rPr sz="1300" b="1">
                  <a:solidFill>
                    <a:srgbClr val="34A853"/>
                  </a:solidFill>
                  <a:latin typeface="Google Sans"/>
                </a:rPr>
                <a:t>Karam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914400" y="10579608"/>
              <a:ext cx="7315200" cy="36576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1800" b="0">
                  <a:solidFill>
                    <a:srgbClr val="9AA0A6"/>
                  </a:solidFill>
                  <a:latin typeface="Google Sans"/>
                </a:rPr>
                <a:t>Ve en çok da sizlere.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14400" y="10991088"/>
              <a:ext cx="7315200" cy="9144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5400" b="1">
                  <a:solidFill>
                    <a:srgbClr val="FFFFFF"/>
                  </a:solidFill>
                  <a:latin typeface="Google Sans"/>
                </a:rPr>
                <a:t>Thank you!</a:t>
              </a:r>
            </a:p>
          </p:txBody>
        </p:sp>
        <p:sp>
          <p:nvSpPr>
            <p:cNvPr id="74" name="Oval 73"/>
            <p:cNvSpPr/>
            <p:nvPr/>
          </p:nvSpPr>
          <p:spPr>
            <a:xfrm>
              <a:off x="4229100" y="12042648"/>
              <a:ext cx="109728" cy="109728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Oval 74"/>
            <p:cNvSpPr/>
            <p:nvPr/>
          </p:nvSpPr>
          <p:spPr>
            <a:xfrm>
              <a:off x="4421124" y="12042648"/>
              <a:ext cx="109728" cy="109728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4613148" y="12042648"/>
              <a:ext cx="109728" cy="109728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4805172" y="12042648"/>
              <a:ext cx="109728" cy="109728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8" name="Rectangle 7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25000">
                <a:srgbClr val="0B0C10"/>
              </a:gs>
              <a:gs pos="100000">
                <a:srgbClr val="0B0C10">
                  <a:alpha val="0"/>
                </a:srgbClr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0" y="4229100"/>
            <a:ext cx="9144000" cy="914400"/>
          </a:xfrm>
          <a:prstGeom prst="rect">
            <a:avLst/>
          </a:prstGeom>
          <a:gradFill rotWithShape="1">
            <a:gsLst>
              <a:gs pos="0">
                <a:srgbClr val="0B0C10">
                  <a:alpha val="0"/>
                </a:srgbClr>
              </a:gs>
              <a:gs pos="75000">
                <a:srgbClr val="0B0C10"/>
              </a:gs>
            </a:gsLst>
            <a:lin scaled="0" ang="54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Image 1" descr="/tmp/claude-0/-home-claude/d5e34c45-44d6-5238-8d7b-e6c7b3c8d5c3/scratchpad/deck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732020"/>
            <a:ext cx="1920240" cy="1371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0" decel="2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1.7098 E" pathEditMode="relative" rAng="0" ptsTypes="AA">
                                      <p:cBhvr>
                                        <p:cTn id="6" dur="5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54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2860</TotalTime>
  <Words>4314</Words>
  <Application>Microsoft Office PowerPoint</Application>
  <PresentationFormat>On-screen Show (16:9)</PresentationFormat>
  <Paragraphs>460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Google Sans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Motion with AI</dc:title>
  <dc:subject>PptxGenJS Presentation</dc:subject>
  <dc:creator>PptxGenJS</dc:creator>
  <cp:lastModifiedBy>Eyup Ece</cp:lastModifiedBy>
  <cp:revision>4</cp:revision>
  <dcterms:created xsi:type="dcterms:W3CDTF">2026-09-26T21:07:24Z</dcterms:created>
  <dcterms:modified xsi:type="dcterms:W3CDTF">2026-10-09T15:49:05Z</dcterms:modified>
</cp:coreProperties>
</file>