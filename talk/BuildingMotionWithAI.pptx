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jpg" ContentType="image/jpg"/>
  <Override PartName="/ppt/media/image13.jpg" ContentType="image/jpg"/>
  <Override PartName="/ppt/media/image16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1450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microsoft.com/office/2007/relationships/media" Target="../media/media2.mp4"/><Relationship Id="rId5" Type="http://schemas.openxmlformats.org/officeDocument/2006/relationships/image" Target="../media/image9.png"/><Relationship Id="rId6" Type="http://schemas.microsoft.com/office/2007/relationships/media" Target="../media/media3.mp4"/><Relationship Id="rId8" Type="http://schemas.microsoft.com/office/2007/relationships/media" Target="../media/media1.mp4"/><Relationship Id="rId9" Type="http://schemas.openxmlformats.org/officeDocument/2006/relationships/video" Target="../media/media1.mp4"/><Relationship Id="rId10" Type="http://schemas.openxmlformats.org/officeDocument/2006/relationships/image" Target="../media/image46.jpg"/><Relationship Id="rId11" Type="http://schemas.openxmlformats.org/officeDocument/2006/relationships/video" Target="../media/media2.mp4"/><Relationship Id="rId12" Type="http://schemas.openxmlformats.org/officeDocument/2006/relationships/image" Target="../media/image8.jpg"/><Relationship Id="rId13" Type="http://schemas.openxmlformats.org/officeDocument/2006/relationships/video" Target="../media/media3.mp4"/><Relationship Id="rId14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7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17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32.png"/><Relationship Id="rId5" Type="http://schemas.openxmlformats.org/officeDocument/2006/relationships/image" Target="../media/image6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7.png"/><Relationship Id="rId10" Type="http://schemas.microsoft.com/office/2007/relationships/media" Target="../media/media4.mp4"/><Relationship Id="rId11" Type="http://schemas.openxmlformats.org/officeDocument/2006/relationships/video" Target="../media/media4.mp4"/><Relationship Id="rId12" Type="http://schemas.openxmlformats.org/officeDocument/2006/relationships/image" Target="../media/image1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23.png"/><Relationship Id="rId7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94360"/>
            <a:ext cx="2743200" cy="195943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051560"/>
            <a:ext cx="5212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Building Motion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AI</a:t>
            </a:r>
            <a:endParaRPr lang="en-US" sz="40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26517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hareketi anlayan, dönüştüren ve yeniden üreten multimodal AI pipeline’ı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2918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@Architecht · GDG Cloud Konya Organizer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989320" y="685800"/>
            <a:ext cx="2651760" cy="265176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8" name="Image 1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548640"/>
            <a:ext cx="2651760" cy="26517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822960" y="4343400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dash"/>
          </a:ln>
        </p:spPr>
      </p:sp>
      <p:sp>
        <p:nvSpPr>
          <p:cNvPr id="10" name="Shape 5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197096"/>
            <a:ext cx="292608" cy="292608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2423160" y="4069080"/>
            <a:ext cx="548640" cy="548640"/>
          </a:xfrm>
          <a:prstGeom prst="ellipse">
            <a:avLst/>
          </a:prstGeom>
          <a:solidFill>
            <a:srgbClr val="F3E8FD"/>
          </a:solidFill>
          <a:ln w="19050">
            <a:solidFill>
              <a:srgbClr val="A142F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1176" y="4197096"/>
            <a:ext cx="292608" cy="292608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5696" y="4197096"/>
            <a:ext cx="292608" cy="292608"/>
          </a:xfrm>
          <a:prstGeom prst="rect">
            <a:avLst/>
          </a:prstGeom>
        </p:spPr>
      </p:pic>
      <p:sp>
        <p:nvSpPr>
          <p:cNvPr id="16" name="Shape 8"/>
          <p:cNvSpPr/>
          <p:nvPr/>
        </p:nvSpPr>
        <p:spPr>
          <a:xfrm>
            <a:off x="6172200" y="4069080"/>
            <a:ext cx="548640" cy="548640"/>
          </a:xfrm>
          <a:prstGeom prst="ellipse">
            <a:avLst/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0216" y="4197096"/>
            <a:ext cx="292608" cy="292608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36" y="4197096"/>
            <a:ext cx="292608" cy="29260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proje ne yapıyor?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Kısa bir video → avatarımız, başka bir ortamda aynı hareketi yapıyor.</a:t>
            </a:r>
            <a:endParaRPr lang="en-US" sz="1400" dirty="0"/>
          </a:p>
        </p:txBody>
      </p:sp>
      <p:sp>
        <p:nvSpPr>
          <p:cNvPr id="6" name="Shape 2"/>
          <p:cNvSpPr/>
          <p:nvPr/>
        </p:nvSpPr>
        <p:spPr>
          <a:xfrm>
            <a:off x="457200" y="1417320"/>
            <a:ext cx="5486400" cy="2862072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kayit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48640" y="1508760"/>
            <a:ext cx="1507046" cy="2679192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126480" y="1417320"/>
            <a:ext cx="2560320" cy="2862072"/>
          </a:xfrm>
          <a:prstGeom prst="roundRect">
            <a:avLst>
              <a:gd name="adj" fmla="val 3333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4"/>
          <p:cNvSpPr/>
          <p:nvPr/>
        </p:nvSpPr>
        <p:spPr>
          <a:xfrm>
            <a:off x="6355080" y="160020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3952" y="1719072"/>
            <a:ext cx="310896" cy="31089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6355080" y="22860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Siz olsanız nasıl yapardınız?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6355080" y="301752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“Bu videoyu analiz et, avatarını oluştur ve onu uzayda aynı hareketi yaparken canlandır.”</a:t>
            </a:r>
            <a:endParaRPr lang="en-US" sz="1200" dirty="0"/>
          </a:p>
        </p:txBody>
      </p:sp>
      <p:pic>
        <p:nvPicPr>
          <p:cNvPr id="17" name="afis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2128838" y="1508760"/>
            <a:ext cx="2144425" cy="2679192"/>
          </a:xfrm>
          <a:prstGeom prst="rect">
            <a:avLst/>
          </a:prstGeom>
        </p:spPr>
      </p:pic>
      <p:pic>
        <p:nvPicPr>
          <p:cNvPr id="18" name="paylasim.mp4">
            <a:hlinkClick r:id="" action="ppaction://media"/>
          </p:cNvPr>
          <p:cNvPicPr>
            <a:picLocks noChangeAspect="1"/>
          </p:cNvPicPr>
          <p:nvPr>
            <a:videoFile r:link="rId13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4346415" y="1508760"/>
            <a:ext cx="1507046" cy="267919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5005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5005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  <p:video>
              <p:cMediaNode vol="80000"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 mute="1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40080" y="914400"/>
            <a:ext cx="2651760" cy="2651760"/>
          </a:xfrm>
          <a:prstGeom prst="ellipse">
            <a:avLst/>
          </a:prstGeom>
          <a:solidFill>
            <a:srgbClr val="E8F0FE"/>
          </a:solidFill>
          <a:ln w="25400">
            <a:solidFill>
              <a:srgbClr val="4285F4"/>
            </a:solidFill>
            <a:prstDash val="solid"/>
          </a:ln>
        </p:spPr>
      </p:sp>
      <p:pic>
        <p:nvPicPr>
          <p:cNvPr id="5" name="Image 1" descr="/tmp/claude-0/-home-claude/d5e34c45-44d6-5238-8d7b-e6c7b3c8d5c3/scratchpad/deck/ref_image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005840"/>
            <a:ext cx="2468880" cy="2468880"/>
          </a:xfrm>
          <a:prstGeom prst="ellipse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749040" y="1051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Eyüp Ece</a:t>
            </a:r>
            <a:endParaRPr lang="en-US" sz="3000" dirty="0"/>
          </a:p>
        </p:txBody>
      </p:sp>
      <p:sp>
        <p:nvSpPr>
          <p:cNvPr id="8" name="Shape 3"/>
          <p:cNvSpPr/>
          <p:nvPr/>
        </p:nvSpPr>
        <p:spPr>
          <a:xfrm>
            <a:off x="3749040" y="18288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2" descr="/tmp/claude-0/-home-claude/d5e34c45-44d6-5238-8d7b-e6c7b3c8d5c3/scratchpad/deck/ref_image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768" y="1920240"/>
            <a:ext cx="457200" cy="457200"/>
          </a:xfrm>
          <a:prstGeom prst="ellipse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434840" y="192024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Software Engineer · Architecht</a:t>
            </a:r>
            <a:endParaRPr lang="en-US" sz="1250" dirty="0"/>
          </a:p>
        </p:txBody>
      </p:sp>
      <p:sp>
        <p:nvSpPr>
          <p:cNvPr id="11" name="Text 5"/>
          <p:cNvSpPr txBox="1"/>
          <p:nvPr/>
        </p:nvSpPr>
        <p:spPr>
          <a:xfrm>
            <a:off x="4434840" y="216712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~2,5 yıl, mikroservis tabanlı projeler</a:t>
            </a:r>
            <a:endParaRPr lang="en-US" sz="950" dirty="0"/>
          </a:p>
        </p:txBody>
      </p:sp>
      <p:sp>
        <p:nvSpPr>
          <p:cNvPr id="12" name="Shape 6"/>
          <p:cNvSpPr/>
          <p:nvPr/>
        </p:nvSpPr>
        <p:spPr>
          <a:xfrm>
            <a:off x="3749040" y="260604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3" descr="/tmp/claude-0/-home-claude/d5e34c45-44d6-5238-8d7b-e6c7b3c8d5c3/scratchpad/deck/ref_image3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8768" y="2697480"/>
            <a:ext cx="457200" cy="457200"/>
          </a:xfrm>
          <a:prstGeom prst="ellipse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434840" y="26974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Cloud Konya Organizer</a:t>
            </a:r>
            <a:endParaRPr lang="en-US" sz="1250" dirty="0"/>
          </a:p>
        </p:txBody>
      </p:sp>
      <p:sp>
        <p:nvSpPr>
          <p:cNvPr id="15" name="Text 8"/>
          <p:cNvSpPr txBox="1"/>
          <p:nvPr/>
        </p:nvSpPr>
        <p:spPr>
          <a:xfrm>
            <a:off x="4434840" y="294436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GDG on Campus Türkiye Mentor &amp; Facilitator · DevFest Konya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3749040" y="33832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4" descr="/tmp/claude-0/-home-claude/d5e34c45-44d6-5238-8d7b-e6c7b3c8d5c3/scratchpad/deck/ref_image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8768" y="3474720"/>
            <a:ext cx="457200" cy="457200"/>
          </a:xfrm>
          <a:prstGeom prst="ellipse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4434840" y="347472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Selçuk Üniversitesi</a:t>
            </a:r>
            <a:endParaRPr lang="en-US" sz="1250" dirty="0"/>
          </a:p>
        </p:txBody>
      </p:sp>
      <p:sp>
        <p:nvSpPr>
          <p:cNvPr id="19" name="Text 11"/>
          <p:cNvSpPr txBox="1"/>
          <p:nvPr/>
        </p:nvSpPr>
        <p:spPr>
          <a:xfrm>
            <a:off x="4434840" y="3721608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Bilgisayar Mühendisliği · 2026</a:t>
            </a:r>
            <a:endParaRPr lang="en-US" sz="950" dirty="0"/>
          </a:p>
        </p:txBody>
      </p:sp>
      <p:pic>
        <p:nvPicPr>
          <p:cNvPr id="20" name="Image 5" descr="/tmp/claude-0/-home-claude/d5e34c45-44d6-5238-8d7b-e6c7b3c8d5c3/scratchpad/deck/ref_image1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35240" y="3246120"/>
            <a:ext cx="1051560" cy="105156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406640" y="43159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Bağlantı kuralım</a:t>
            </a:r>
            <a:endParaRPr lang="en-US" sz="90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0972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This is not just</a:t>
            </a:r>
            <a:endParaRPr lang="en-US" sz="5000" dirty="0"/>
          </a:p>
          <a:p>
            <a:pPr marL="0" indent="0" algn="ctr">
              <a:buNone/>
            </a:pPr>
            <a:r>
              <a:rPr lang="en-US" sz="50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 avatar demo.</a:t>
            </a:r>
            <a:endParaRPr lang="en-US" sz="50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3063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Tek bir model çağrısı değil; farklı modellerin birlikte çalıştığı uçtan uca bir sistem.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3977640" y="3840480"/>
            <a:ext cx="128016" cy="128016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4233672" y="3840480"/>
            <a:ext cx="128016" cy="128016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489704" y="3840480"/>
            <a:ext cx="128016" cy="128016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45736" y="3840480"/>
            <a:ext cx="128016" cy="128016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01768" y="3840480"/>
            <a:ext cx="128016" cy="128016"/>
          </a:xfrm>
          <a:prstGeom prst="ellipse">
            <a:avLst/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3200" dirty="0"/>
          </a:p>
        </p:txBody>
      </p:sp>
      <p:sp>
        <p:nvSpPr>
          <p:cNvPr id="5" name="!!cl_sub"/>
          <p:cNvSpPr txBox="1"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Chatbot tarzı uygulamalarda alıştığımız akış</a:t>
            </a:r>
            <a:endParaRPr lang="en-US" sz="1400" dirty="0"/>
          </a:p>
        </p:txBody>
      </p:sp>
      <p:sp>
        <p:nvSpPr>
          <p:cNvPr id="6" name="!!cl_box0"/>
          <p:cNvSpPr/>
          <p:nvPr/>
        </p:nvSpPr>
        <p:spPr>
          <a:xfrm>
            <a:off x="10515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!!cl_txt0"/>
          <p:cNvSpPr txBox="1"/>
          <p:nvPr/>
        </p:nvSpPr>
        <p:spPr>
          <a:xfrm>
            <a:off x="10515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600" dirty="0"/>
          </a:p>
        </p:txBody>
      </p:sp>
      <p:sp>
        <p:nvSpPr>
          <p:cNvPr id="8" name="!!cl_arr0"/>
          <p:cNvSpPr txBox="1"/>
          <p:nvPr/>
        </p:nvSpPr>
        <p:spPr>
          <a:xfrm>
            <a:off x="30632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!!cl_box1"/>
          <p:cNvSpPr/>
          <p:nvPr/>
        </p:nvSpPr>
        <p:spPr>
          <a:xfrm>
            <a:off x="35661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!!cl_txt1"/>
          <p:cNvSpPr txBox="1"/>
          <p:nvPr/>
        </p:nvSpPr>
        <p:spPr>
          <a:xfrm>
            <a:off x="35661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600" dirty="0"/>
          </a:p>
        </p:txBody>
      </p:sp>
      <p:sp>
        <p:nvSpPr>
          <p:cNvPr id="11" name="!!cl_arr1"/>
          <p:cNvSpPr txBox="1"/>
          <p:nvPr/>
        </p:nvSpPr>
        <p:spPr>
          <a:xfrm>
            <a:off x="55778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!!cl_box2"/>
          <p:cNvSpPr/>
          <p:nvPr/>
        </p:nvSpPr>
        <p:spPr>
          <a:xfrm>
            <a:off x="6080760" y="214884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!!cl_txt2"/>
          <p:cNvSpPr txBox="1"/>
          <p:nvPr/>
        </p:nvSpPr>
        <p:spPr>
          <a:xfrm>
            <a:off x="6080760" y="2148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cl_title"/>
          <p:cNvSpPr txBox="1"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Classic AI Workflow</a:t>
            </a:r>
            <a:endParaRPr lang="en-US" sz="1300" dirty="0"/>
          </a:p>
        </p:txBody>
      </p:sp>
      <p:sp>
        <p:nvSpPr>
          <p:cNvPr id="5" name="!!cl_box0"/>
          <p:cNvSpPr/>
          <p:nvPr/>
        </p:nvSpPr>
        <p:spPr>
          <a:xfrm>
            <a:off x="10515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6" name="!!cl_txt0"/>
          <p:cNvSpPr txBox="1"/>
          <p:nvPr/>
        </p:nvSpPr>
        <p:spPr>
          <a:xfrm>
            <a:off x="10515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User text</a:t>
            </a:r>
            <a:endParaRPr lang="en-US" sz="1300" dirty="0"/>
          </a:p>
        </p:txBody>
      </p:sp>
      <p:sp>
        <p:nvSpPr>
          <p:cNvPr id="7" name="!!cl_arr0"/>
          <p:cNvSpPr txBox="1"/>
          <p:nvPr/>
        </p:nvSpPr>
        <p:spPr>
          <a:xfrm>
            <a:off x="30632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!!cl_box1"/>
          <p:cNvSpPr/>
          <p:nvPr/>
        </p:nvSpPr>
        <p:spPr>
          <a:xfrm>
            <a:off x="35661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!!cl_txt1"/>
          <p:cNvSpPr txBox="1"/>
          <p:nvPr/>
        </p:nvSpPr>
        <p:spPr>
          <a:xfrm>
            <a:off x="35661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LLM</a:t>
            </a:r>
            <a:endParaRPr lang="en-US" sz="1300" dirty="0"/>
          </a:p>
        </p:txBody>
      </p:sp>
      <p:sp>
        <p:nvSpPr>
          <p:cNvPr id="10" name="!!cl_arr1"/>
          <p:cNvSpPr txBox="1"/>
          <p:nvPr/>
        </p:nvSpPr>
        <p:spPr>
          <a:xfrm>
            <a:off x="5577840" y="73152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!!cl_box2"/>
          <p:cNvSpPr/>
          <p:nvPr/>
        </p:nvSpPr>
        <p:spPr>
          <a:xfrm>
            <a:off x="6080760" y="731520"/>
            <a:ext cx="2011680" cy="685800"/>
          </a:xfrm>
          <a:prstGeom prst="roundRect">
            <a:avLst>
              <a:gd name="adj" fmla="val 13333"/>
            </a:avLst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!!cl_txt2"/>
          <p:cNvSpPr txBox="1"/>
          <p:nvPr/>
        </p:nvSpPr>
        <p:spPr>
          <a:xfrm>
            <a:off x="6080760" y="7315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Text response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Multimodal AI Workflow</a:t>
            </a:r>
            <a:endParaRPr lang="en-US" sz="2800" dirty="0"/>
          </a:p>
        </p:txBody>
      </p:sp>
      <p:sp>
        <p:nvSpPr>
          <p:cNvPr id="14" name="Shape 10"/>
          <p:cNvSpPr/>
          <p:nvPr/>
        </p:nvSpPr>
        <p:spPr>
          <a:xfrm>
            <a:off x="50292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65176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772461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0292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219456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2606040" y="2651760"/>
            <a:ext cx="548640" cy="54864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6741" y="2772461"/>
            <a:ext cx="307238" cy="30723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Analysis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56616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388620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297680" y="265176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381" y="2772461"/>
            <a:ext cx="307238" cy="30723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88620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Image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525780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2"/>
          <p:cNvSpPr/>
          <p:nvPr/>
        </p:nvSpPr>
        <p:spPr>
          <a:xfrm>
            <a:off x="557784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5989320" y="2651760"/>
            <a:ext cx="548640" cy="54864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0021" y="2772461"/>
            <a:ext cx="307238" cy="30723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7784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6949440" y="28346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26"/>
          <p:cNvSpPr/>
          <p:nvPr/>
        </p:nvSpPr>
        <p:spPr>
          <a:xfrm>
            <a:off x="7269480" y="2514600"/>
            <a:ext cx="13716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680960" y="2651760"/>
            <a:ext cx="548640" cy="54864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01661" y="2772461"/>
            <a:ext cx="307238" cy="30723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7269480" y="32461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Shareable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chaining: bir modelin çıktısı, zincirdeki bir sonraki modelin girdisi.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Let’s put a real video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into the pipeline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9659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gönüllüye ihtiyacım var.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548640" y="2514600"/>
            <a:ext cx="438912" cy="43891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01" y="2611161"/>
            <a:ext cx="245791" cy="245791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25146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Yaklaşık 5 saniyelik net bir hareket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548640" y="3136392"/>
            <a:ext cx="438912" cy="43891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01" y="3232953"/>
            <a:ext cx="245791" cy="245791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143000" y="313639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Cloud Storage’da tutulur, 14 gün sonra silinir</a:t>
            </a:r>
            <a:endParaRPr lang="en-US" sz="1300" dirty="0"/>
          </a:p>
        </p:txBody>
      </p:sp>
      <p:sp>
        <p:nvSpPr>
          <p:cNvPr id="12" name="Shape 6"/>
          <p:cNvSpPr/>
          <p:nvPr/>
        </p:nvSpPr>
        <p:spPr>
          <a:xfrm>
            <a:off x="548640" y="3758184"/>
            <a:ext cx="438912" cy="43891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01" y="3854745"/>
            <a:ext cx="245791" cy="245791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143000" y="375818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Modellerin kendi safety filtreleri var</a:t>
            </a:r>
            <a:endParaRPr lang="en-US" sz="1300" dirty="0"/>
          </a:p>
        </p:txBody>
      </p:sp>
      <p:sp>
        <p:nvSpPr>
          <p:cNvPr id="15" name="Shape 8"/>
          <p:cNvSpPr/>
          <p:nvPr/>
        </p:nvSpPr>
        <p:spPr>
          <a:xfrm>
            <a:off x="5943600" y="914400"/>
            <a:ext cx="2743200" cy="2743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1600200"/>
            <a:ext cx="1371600" cy="1371600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7589520" y="960120"/>
            <a:ext cx="1005840" cy="384048"/>
          </a:xfrm>
          <a:prstGeom prst="roundRect">
            <a:avLst>
              <a:gd name="adj" fmla="val 47619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0"/>
          <p:cNvSpPr txBox="1"/>
          <p:nvPr/>
        </p:nvSpPr>
        <p:spPr>
          <a:xfrm>
            <a:off x="7589520" y="9601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● REC 5s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F8FA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Simple for the user, multi-stage behind the scenes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 tek bir işlem başlatıyor; arkada beş aşama çalışıyor.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57200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30352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" y="22860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566928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566928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WebM → Cloud Storage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2121408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2194560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10612" y="228600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2231136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2231136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JSON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785616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858768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4820" y="2286000"/>
            <a:ext cx="502920" cy="50292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3895344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895344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avatar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449824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5522976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028" y="2286000"/>
            <a:ext cx="502920" cy="50292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5559552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400" dirty="0"/>
          </a:p>
        </p:txBody>
      </p:sp>
      <p:sp>
        <p:nvSpPr>
          <p:cNvPr id="38" name="Text 30"/>
          <p:cNvSpPr txBox="1"/>
          <p:nvPr/>
        </p:nvSpPr>
        <p:spPr>
          <a:xfrm>
            <a:off x="5559552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AI video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7114032" y="2011680"/>
            <a:ext cx="1481328" cy="2286000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0" name="Shape 32"/>
          <p:cNvSpPr/>
          <p:nvPr/>
        </p:nvSpPr>
        <p:spPr>
          <a:xfrm>
            <a:off x="7187184" y="2084832"/>
            <a:ext cx="1335024" cy="914400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3236" y="2286000"/>
            <a:ext cx="502920" cy="50292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23760" y="315468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7223760" y="3520440"/>
            <a:ext cx="1261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 video + QR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9144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557784" y="118872"/>
            <a:ext cx="530352" cy="530352"/>
          </a:xfrm>
          <a:prstGeom prst="ellipse">
            <a:avLst/>
          </a:prstGeom>
          <a:solidFill>
            <a:srgbClr val="E8F0FE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640080" y="201168"/>
            <a:ext cx="365760" cy="365760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Upload &amp; Storage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İlk iş: videoyu ortak bir storage katmanına almak.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94360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220370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143000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Browser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594360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~5 sn WebM kayıt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2286000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2624328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2761488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2072" y="220370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10128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2761488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POST /api/upload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video_id üretir</a:t>
            </a:r>
            <a:endParaRPr lang="en-US" sz="950" dirty="0"/>
          </a:p>
        </p:txBody>
      </p:sp>
      <p:sp>
        <p:nvSpPr>
          <p:cNvPr id="31" name="Text 24"/>
          <p:cNvSpPr txBox="1"/>
          <p:nvPr/>
        </p:nvSpPr>
        <p:spPr>
          <a:xfrm>
            <a:off x="4453128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5"/>
          <p:cNvSpPr/>
          <p:nvPr/>
        </p:nvSpPr>
        <p:spPr>
          <a:xfrm>
            <a:off x="4791456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4928616" y="210312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2203704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477256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4928616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uploads/{video_id}.webm</a:t>
            </a:r>
            <a:endParaRPr lang="en-US" sz="950" dirty="0"/>
          </a:p>
        </p:txBody>
      </p:sp>
      <p:sp>
        <p:nvSpPr>
          <p:cNvPr id="37" name="Text 29"/>
          <p:cNvSpPr txBox="1"/>
          <p:nvPr/>
        </p:nvSpPr>
        <p:spPr>
          <a:xfrm>
            <a:off x="6620256" y="2377440"/>
            <a:ext cx="338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600" dirty="0"/>
          </a:p>
        </p:txBody>
      </p:sp>
      <p:sp>
        <p:nvSpPr>
          <p:cNvPr id="38" name="Shape 30"/>
          <p:cNvSpPr/>
          <p:nvPr/>
        </p:nvSpPr>
        <p:spPr>
          <a:xfrm>
            <a:off x="6958584" y="1965960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7095744" y="210312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2203704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7644384" y="2148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7095744" y="26974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GCS URI ile okur</a:t>
            </a:r>
            <a:endParaRPr lang="en-US" sz="950" dirty="0"/>
          </a:p>
        </p:txBody>
      </p:sp>
      <p:sp>
        <p:nvSpPr>
          <p:cNvPr id="43" name="Shape 34"/>
          <p:cNvSpPr/>
          <p:nvPr/>
        </p:nvSpPr>
        <p:spPr>
          <a:xfrm>
            <a:off x="457200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94360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285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uploads/</a:t>
            </a:r>
            <a:endParaRPr lang="en-US" sz="1200" dirty="0"/>
          </a:p>
        </p:txBody>
      </p:sp>
      <p:sp>
        <p:nvSpPr>
          <p:cNvPr id="45" name="Text 36"/>
          <p:cNvSpPr txBox="1"/>
          <p:nvPr/>
        </p:nvSpPr>
        <p:spPr>
          <a:xfrm>
            <a:off x="594360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Ham videolar</a:t>
            </a:r>
            <a:endParaRPr lang="en-US" sz="1050" dirty="0"/>
          </a:p>
        </p:txBody>
      </p:sp>
      <p:sp>
        <p:nvSpPr>
          <p:cNvPr id="46" name="Shape 37"/>
          <p:cNvSpPr/>
          <p:nvPr/>
        </p:nvSpPr>
        <p:spPr>
          <a:xfrm>
            <a:off x="2624328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761488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142F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frames/</a:t>
            </a:r>
            <a:endParaRPr lang="en-US" sz="1200" dirty="0"/>
          </a:p>
        </p:txBody>
      </p:sp>
      <p:sp>
        <p:nvSpPr>
          <p:cNvPr id="48" name="Text 39"/>
          <p:cNvSpPr txBox="1"/>
          <p:nvPr/>
        </p:nvSpPr>
        <p:spPr>
          <a:xfrm>
            <a:off x="2761488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Seçilen kareler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4791456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928616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AB00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avatars/</a:t>
            </a:r>
            <a:endParaRPr lang="en-US" sz="1200" dirty="0"/>
          </a:p>
        </p:txBody>
      </p:sp>
      <p:sp>
        <p:nvSpPr>
          <p:cNvPr id="51" name="Text 42"/>
          <p:cNvSpPr txBox="1"/>
          <p:nvPr/>
        </p:nvSpPr>
        <p:spPr>
          <a:xfrm>
            <a:off x="4928616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Avatarlar</a:t>
            </a:r>
            <a:endParaRPr lang="en-US" sz="1050" dirty="0"/>
          </a:p>
        </p:txBody>
      </p:sp>
      <p:sp>
        <p:nvSpPr>
          <p:cNvPr id="52" name="Shape 43"/>
          <p:cNvSpPr/>
          <p:nvPr/>
        </p:nvSpPr>
        <p:spPr>
          <a:xfrm>
            <a:off x="6958584" y="3611880"/>
            <a:ext cx="1828800" cy="73152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7095744" y="36850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A85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output/</a:t>
            </a:r>
            <a:endParaRPr lang="en-US" sz="1200" dirty="0"/>
          </a:p>
        </p:txBody>
      </p:sp>
      <p:sp>
        <p:nvSpPr>
          <p:cNvPr id="54" name="Text 45"/>
          <p:cNvSpPr txBox="1"/>
          <p:nvPr/>
        </p:nvSpPr>
        <p:spPr>
          <a:xfrm>
            <a:off x="7095744" y="399592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Üretilen videolar</a:t>
            </a:r>
            <a:endParaRPr lang="en-US" sz="1050" dirty="0"/>
          </a:p>
        </p:txBody>
      </p:sp>
      <p:sp>
        <p:nvSpPr>
          <p:cNvPr id="55" name="Text 46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Medya storage’da yaşar, uygulama belleğinde değil.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Gemini: Video → Structured JSON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Hareketi, pipeline’ın kullanabileceği veriye dönüştürüyoruz.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57200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85800" y="2103120"/>
            <a:ext cx="42062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{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"movement_summary"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"Kollar yukarı...",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"body_parts"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["arms","torso"],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"phases"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[ ... ],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"best_frame_timestamp"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"0:02",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"person_description"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"Beyaz tişört...",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"veo_prompt"</a:t>
            </a: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: "Arms rise..."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}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303520" y="1920240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468112" y="2048256"/>
            <a:ext cx="493776" cy="493776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6743" y="2156887"/>
            <a:ext cx="276515" cy="27651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126480" y="202996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 anla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126480" y="2322576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Özet, vücut bölgeleri, fazlar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5303520" y="2807208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468112" y="2935224"/>
            <a:ext cx="493776" cy="493776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6743" y="3043855"/>
            <a:ext cx="276515" cy="27651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126480" y="29169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için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6126480" y="3209544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 + kişi tarifi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5303520" y="3694176"/>
            <a:ext cx="3383280" cy="740664"/>
          </a:xfrm>
          <a:prstGeom prst="roundRect">
            <a:avLst>
              <a:gd name="adj" fmla="val 123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5468112" y="3822192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6743" y="3930823"/>
            <a:ext cx="276515" cy="276515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126480" y="38039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için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126480" y="409651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üretim talimatı</a:t>
            </a:r>
            <a:endParaRPr lang="en-US" sz="11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çıktısı final cevap değil; pipeline’ın ara verisi.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187452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2432304" y="11887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14600" y="201168"/>
            <a:ext cx="365760" cy="365760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Input → JSON Output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output’u çağrı seviyesinde nasıl istiyoruz?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5120640" cy="2514600"/>
          </a:xfrm>
          <a:prstGeom prst="roundRect">
            <a:avLst>
              <a:gd name="adj" fmla="val 3636"/>
            </a:avLst>
          </a:prstGeom>
          <a:solidFill>
            <a:srgbClr val="202124"/>
          </a:solidFill>
          <a:ln w="12700">
            <a:solidFill>
              <a:srgbClr val="202124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response = client.models.generate_content(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58AF9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model="gemini-3-flash-preview",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contents=[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Part.from_uri(file_uri=gcs_uri,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AB4F8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              mime_type="video/webm"),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DD663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MOTION_ANALYSIS_PROMPT,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],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config=GenerateContentConfig(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81C99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response_mime_type="application/json",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    thinking_config=ThinkingConfig(thinking_budget=1024))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E8EAED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)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F28B82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analysis = json.loads(response.text)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5852160" y="1920240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961888" y="2011680"/>
            <a:ext cx="347472" cy="347472"/>
          </a:xfrm>
          <a:prstGeom prst="ellipse">
            <a:avLst/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961888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20116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 from GCS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852160" y="2569464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5961888" y="2660904"/>
            <a:ext cx="347472" cy="347472"/>
          </a:xfrm>
          <a:prstGeom prst="ellipse">
            <a:avLst/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961888" y="26609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6446520" y="266090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template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5852160" y="3218688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5961888" y="3310128"/>
            <a:ext cx="347472" cy="347472"/>
          </a:xfrm>
          <a:prstGeom prst="ellipse">
            <a:avLst/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61888" y="33101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28"/>
          <p:cNvSpPr txBox="1"/>
          <p:nvPr/>
        </p:nvSpPr>
        <p:spPr>
          <a:xfrm>
            <a:off x="6446520" y="3310128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JSON response</a:t>
            </a:r>
            <a:endParaRPr lang="en-US" sz="1300" dirty="0"/>
          </a:p>
        </p:txBody>
      </p:sp>
      <p:sp>
        <p:nvSpPr>
          <p:cNvPr id="34" name="Shape 29"/>
          <p:cNvSpPr/>
          <p:nvPr/>
        </p:nvSpPr>
        <p:spPr>
          <a:xfrm>
            <a:off x="5852160" y="3867912"/>
            <a:ext cx="28346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Shape 30"/>
          <p:cNvSpPr/>
          <p:nvPr/>
        </p:nvSpPr>
        <p:spPr>
          <a:xfrm>
            <a:off x="5961888" y="3959352"/>
            <a:ext cx="347472" cy="347472"/>
          </a:xfrm>
          <a:prstGeom prst="ellipse">
            <a:avLst/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5961888" y="39593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46520" y="39593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Parse and continue</a:t>
            </a:r>
            <a:endParaRPr lang="en-US" sz="1300" dirty="0"/>
          </a:p>
        </p:txBody>
      </p:sp>
      <p:sp>
        <p:nvSpPr>
          <p:cNvPr id="38" name="Text 33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Structured output, multimodal pipeline’ı güvenilir ve birleştirilebilir yapıyor.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374904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4306824" y="11887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389120" y="201168"/>
            <a:ext cx="365760" cy="365760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41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 iyi kare, Veo için bir referans görsele dönüşüyor.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0080" y="2148840"/>
            <a:ext cx="548640" cy="54864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226954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008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 frame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best_frame_timestamp anı ffmpeg ile videodan kesiliyor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278892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3154680" y="1965960"/>
            <a:ext cx="2331720" cy="237744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337560" y="2148840"/>
            <a:ext cx="548640" cy="54864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8261" y="2269541"/>
            <a:ext cx="307238" cy="30723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337560" y="28346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3337560" y="320040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Kare + style prompt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gemini-3.1-flash-image-preview</a:t>
            </a:r>
            <a:endParaRPr lang="en-US" sz="11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25"/>
          <p:cNvSpPr/>
          <p:nvPr/>
        </p:nvSpPr>
        <p:spPr>
          <a:xfrm>
            <a:off x="5852160" y="1965960"/>
            <a:ext cx="2834640" cy="2377440"/>
          </a:xfrm>
          <a:prstGeom prst="roundRect">
            <a:avLst>
              <a:gd name="adj" fmla="val 3846"/>
            </a:avLst>
          </a:prstGeom>
          <a:solidFill>
            <a:srgbClr val="FEF7E0"/>
          </a:solidFill>
          <a:ln w="19050">
            <a:solidFill>
              <a:srgbClr val="F9AB00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3" name="Image 4" descr="/tmp/claude-0/-home-claude/d5e34c45-44d6-5238-8d7b-e6c7b3c8d5c3/scratchpad/deck/ref_image3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9320" y="2011680"/>
            <a:ext cx="1463040" cy="1463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52360" y="22860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1024×1024 PNG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7452360" y="2788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avatars/ altında saklanıyor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6035040" y="361188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Final çıktı değil, Veo için reference asset.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 aşama karakterin görsel kimliğini hazırlıyor.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Video Generation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 context’i + görsel kimlik → yeni bir video.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6596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1792" y="2221992"/>
            <a:ext cx="530352" cy="530352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469" y="2338669"/>
            <a:ext cx="296997" cy="29699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80160" y="2194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veo_prompt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2801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Hareketin tarifi (Gemini)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57200" y="3200400"/>
            <a:ext cx="26517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21792" y="3456432"/>
            <a:ext cx="530352" cy="530352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469" y="3573109"/>
            <a:ext cx="296997" cy="296997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280160" y="3429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280160" y="3749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Görsel kimlik (Nano Banana)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315468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3657600" y="196596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194560"/>
            <a:ext cx="640080" cy="64008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749040" y="2926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3.1 Fast</a:t>
            </a:r>
            <a:endParaRPr lang="en-US" sz="1500" dirty="0"/>
          </a:p>
        </p:txBody>
      </p:sp>
      <p:sp>
        <p:nvSpPr>
          <p:cNvPr id="34" name="Text 26"/>
          <p:cNvSpPr txBox="1"/>
          <p:nvPr/>
        </p:nvSpPr>
        <p:spPr>
          <a:xfrm>
            <a:off x="374904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sn · 16:9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→ GCS output/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26480" y="1965960"/>
            <a:ext cx="25603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309360" y="2148840"/>
            <a:ext cx="457200" cy="457200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249424"/>
            <a:ext cx="256032" cy="256032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309360" y="27432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 ilk kare değil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30936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Referans görsel olarak veriliyor:</a:t>
            </a:r>
            <a:endParaRPr lang="tr-TR" sz="1100" dirty="0"/>
          </a:p>
          <a:p>
            <a:pPr marL="0" indent="0">
              <a:buNone/>
            </a:pPr>
            <a:r>
              <a:rPr lang="tr-TR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“Videodaki karakter böyle görünsün.”</a:t>
            </a:r>
            <a:endParaRPr lang="tr-TR" sz="11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A4335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reference_type = ASSET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bağımsız çalışmıyor; önceki aşamaların çıktılarıyla besleniyor.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</p:sp>
      <p:sp>
        <p:nvSpPr>
          <p:cNvPr id="5" name="!!tl_prog"/>
          <p:cNvSpPr/>
          <p:nvPr/>
        </p:nvSpPr>
        <p:spPr>
          <a:xfrm>
            <a:off x="822960" y="384048"/>
            <a:ext cx="562356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</p:sp>
      <p:sp>
        <p:nvSpPr>
          <p:cNvPr id="6" name="!!tl_halo"/>
          <p:cNvSpPr/>
          <p:nvPr/>
        </p:nvSpPr>
        <p:spPr>
          <a:xfrm>
            <a:off x="6181344" y="118872"/>
            <a:ext cx="530352" cy="530352"/>
          </a:xfrm>
          <a:prstGeom prst="ellipse">
            <a:avLst/>
          </a:prstGeom>
          <a:solidFill>
            <a:srgbClr val="E6F4EA"/>
          </a:solidFill>
          <a:ln w="12700">
            <a:solidFill>
              <a:srgbClr val="F8FAFD"/>
            </a:solidFill>
            <a:prstDash val="solid"/>
          </a:ln>
        </p:spPr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263640" y="201168"/>
            <a:ext cx="365760" cy="365760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202168" y="265176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ADCE0"/>
            </a:solidFill>
            <a:prstDash val="solid"/>
          </a:ln>
        </p:spPr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593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Async, Status &amp; Concurrency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Bir AI işlemi saniyelerde bitmiyorsa uygulama bunu nasıl yönetir?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57200" y="1920240"/>
            <a:ext cx="484632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40080" y="2011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Aşama süreleri (yaklaşık)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2423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Analyzing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691640" y="24780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A142F4"/>
          </a:solidFill>
          <a:ln w="12700">
            <a:solidFill>
              <a:srgbClr val="A142F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011680" y="2423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28803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1691640" y="2935224"/>
            <a:ext cx="274320" cy="182880"/>
          </a:xfrm>
          <a:prstGeom prst="roundRect">
            <a:avLst>
              <a:gd name="adj" fmla="val 25000"/>
            </a:avLst>
          </a:prstGeom>
          <a:solidFill>
            <a:srgbClr val="F9AB00"/>
          </a:solidFill>
          <a:ln w="12700">
            <a:solidFill>
              <a:srgbClr val="F9AB0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057400" y="28803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8–12 sn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40080" y="33375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Video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1691640" y="3392424"/>
            <a:ext cx="2743200" cy="182880"/>
          </a:xfrm>
          <a:prstGeom prst="roundRect">
            <a:avLst>
              <a:gd name="adj" fmla="val 25000"/>
            </a:avLst>
          </a:prstGeom>
          <a:solidFill>
            <a:srgbClr val="34A853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26280" y="3337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60–120 sn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640080" y="37947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Composing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1691640" y="3849624"/>
            <a:ext cx="228600" cy="182880"/>
          </a:xfrm>
          <a:prstGeom prst="roundRect">
            <a:avLst>
              <a:gd name="adj" fmla="val 25000"/>
            </a:avLst>
          </a:prstGeom>
          <a:solidFill>
            <a:srgbClr val="EA4335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2011680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5–10 sn</a:t>
            </a:r>
            <a:endParaRPr lang="en-US" sz="1000" dirty="0"/>
          </a:p>
        </p:txBody>
      </p:sp>
      <p:sp>
        <p:nvSpPr>
          <p:cNvPr id="34" name="Shape 29"/>
          <p:cNvSpPr/>
          <p:nvPr/>
        </p:nvSpPr>
        <p:spPr>
          <a:xfrm>
            <a:off x="5577840" y="192024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0"/>
          <p:cNvSpPr txBox="1"/>
          <p:nvPr/>
        </p:nvSpPr>
        <p:spPr>
          <a:xfrm>
            <a:off x="5760720" y="20116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3600" dirty="0"/>
          </a:p>
        </p:txBody>
      </p:sp>
      <p:sp>
        <p:nvSpPr>
          <p:cNvPr id="36" name="Text 31"/>
          <p:cNvSpPr txBox="1"/>
          <p:nvPr/>
        </p:nvSpPr>
        <p:spPr>
          <a:xfrm>
            <a:off x="6949440" y="210312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aktif video işi (max)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5577840" y="3200400"/>
            <a:ext cx="3108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5760720" y="329184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sn</a:t>
            </a:r>
            <a:endParaRPr lang="en-US" sz="3600" dirty="0"/>
          </a:p>
        </p:txBody>
      </p:sp>
      <p:sp>
        <p:nvSpPr>
          <p:cNvPr id="39" name="Text 34"/>
          <p:cNvSpPr txBox="1"/>
          <p:nvPr/>
        </p:nvSpPr>
        <p:spPr>
          <a:xfrm>
            <a:off x="6949440" y="33832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operation poll aralığı</a:t>
            </a:r>
            <a:endParaRPr lang="en-US" sz="1100" dirty="0"/>
          </a:p>
        </p:txBody>
      </p:sp>
      <p:sp>
        <p:nvSpPr>
          <p:cNvPr id="40" name="Text 35"/>
          <p:cNvSpPr txBox="1"/>
          <p:nvPr/>
        </p:nvSpPr>
        <p:spPr>
          <a:xfrm>
            <a:off x="45720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İki katmanlı polling: backend Veo’yu, frontend backend’i yokluyor.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!!tl_track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2540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!!tl_prog"/>
          <p:cNvSpPr/>
          <p:nvPr/>
        </p:nvSpPr>
        <p:spPr>
          <a:xfrm>
            <a:off x="822960" y="384048"/>
            <a:ext cx="7498080" cy="0"/>
          </a:xfrm>
          <a:prstGeom prst="line">
            <a:avLst/>
          </a:prstGeom>
          <a:noFill/>
          <a:ln w="3810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!!tl_halo"/>
          <p:cNvSpPr/>
          <p:nvPr/>
        </p:nvSpPr>
        <p:spPr>
          <a:xfrm>
            <a:off x="8055864" y="118872"/>
            <a:ext cx="530352" cy="530352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8FAF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!!tl_node0"/>
          <p:cNvSpPr/>
          <p:nvPr/>
        </p:nvSpPr>
        <p:spPr>
          <a:xfrm>
            <a:off x="704088" y="265176"/>
            <a:ext cx="237744" cy="237744"/>
          </a:xfrm>
          <a:prstGeom prst="ellipse">
            <a:avLst/>
          </a:prstGeom>
          <a:solidFill>
            <a:srgbClr val="4285F4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!!tl_lbl0"/>
          <p:cNvSpPr txBox="1"/>
          <p:nvPr/>
        </p:nvSpPr>
        <p:spPr>
          <a:xfrm>
            <a:off x="9144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900" dirty="0"/>
          </a:p>
        </p:txBody>
      </p:sp>
      <p:sp>
        <p:nvSpPr>
          <p:cNvPr id="9" name="!!tl_node1"/>
          <p:cNvSpPr/>
          <p:nvPr/>
        </p:nvSpPr>
        <p:spPr>
          <a:xfrm>
            <a:off x="2578608" y="265176"/>
            <a:ext cx="237744" cy="237744"/>
          </a:xfrm>
          <a:prstGeom prst="ellipse">
            <a:avLst/>
          </a:prstGeom>
          <a:solidFill>
            <a:srgbClr val="A142F4"/>
          </a:solidFill>
          <a:ln w="19050">
            <a:solidFill>
              <a:srgbClr val="A142F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!!tl_lbl1"/>
          <p:cNvSpPr txBox="1"/>
          <p:nvPr/>
        </p:nvSpPr>
        <p:spPr>
          <a:xfrm>
            <a:off x="196596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11" name="!!tl_node2"/>
          <p:cNvSpPr/>
          <p:nvPr/>
        </p:nvSpPr>
        <p:spPr>
          <a:xfrm>
            <a:off x="4453128" y="265176"/>
            <a:ext cx="237744" cy="237744"/>
          </a:xfrm>
          <a:prstGeom prst="ellipse">
            <a:avLst/>
          </a:prstGeom>
          <a:solidFill>
            <a:srgbClr val="F9AB00"/>
          </a:solidFill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!!tl_lbl2"/>
          <p:cNvSpPr txBox="1"/>
          <p:nvPr/>
        </p:nvSpPr>
        <p:spPr>
          <a:xfrm>
            <a:off x="384048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Nano Banana</a:t>
            </a:r>
            <a:endParaRPr lang="en-US" sz="900" dirty="0"/>
          </a:p>
        </p:txBody>
      </p:sp>
      <p:sp>
        <p:nvSpPr>
          <p:cNvPr id="13" name="!!tl_node3"/>
          <p:cNvSpPr/>
          <p:nvPr/>
        </p:nvSpPr>
        <p:spPr>
          <a:xfrm>
            <a:off x="6327648" y="265176"/>
            <a:ext cx="237744" cy="237744"/>
          </a:xfrm>
          <a:prstGeom prst="ellipse">
            <a:avLst/>
          </a:prstGeom>
          <a:solidFill>
            <a:srgbClr val="34A853"/>
          </a:solidFill>
          <a:ln w="19050">
            <a:solidFill>
              <a:srgbClr val="34A85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!!tl_lbl3"/>
          <p:cNvSpPr txBox="1"/>
          <p:nvPr/>
        </p:nvSpPr>
        <p:spPr>
          <a:xfrm>
            <a:off x="571500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900" dirty="0"/>
          </a:p>
        </p:txBody>
      </p:sp>
      <p:sp>
        <p:nvSpPr>
          <p:cNvPr id="15" name="!!tl_node4"/>
          <p:cNvSpPr/>
          <p:nvPr/>
        </p:nvSpPr>
        <p:spPr>
          <a:xfrm>
            <a:off x="8138160" y="201168"/>
            <a:ext cx="365760" cy="365760"/>
          </a:xfrm>
          <a:prstGeom prst="ellipse">
            <a:avLst/>
          </a:prstGeom>
          <a:solidFill>
            <a:srgbClr val="EA4335"/>
          </a:solidFill>
          <a:ln w="19050">
            <a:solidFill>
              <a:srgbClr val="EA433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!!tl_lbl4"/>
          <p:cNvSpPr txBox="1"/>
          <p:nvPr/>
        </p:nvSpPr>
        <p:spPr>
          <a:xfrm>
            <a:off x="7589520" y="6035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</a:t>
            </a:r>
            <a:endParaRPr lang="en-US" sz="900" dirty="0"/>
          </a:p>
        </p:txBody>
      </p:sp>
      <p:pic>
        <p:nvPicPr>
          <p:cNvPr id="17" name="!!tl_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456" y="283464"/>
            <a:ext cx="201168" cy="20116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From model output to experience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Kullanıcının görmek istediği ham model çıktısı değil.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13232" y="2414016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457200" y="1920240"/>
            <a:ext cx="493776" cy="493776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831" y="2028871"/>
            <a:ext cx="276515" cy="276515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0" y="19385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 çıktısı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1097280" y="219456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saniye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3232" y="3072384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457200" y="2578608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831" y="2687239"/>
            <a:ext cx="276515" cy="27651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097280" y="25968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28529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ffmpeg ile ilk 5 saniye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713232" y="3730752"/>
            <a:ext cx="0" cy="164592"/>
          </a:xfrm>
          <a:prstGeom prst="line">
            <a:avLst/>
          </a:prstGeom>
          <a:noFill/>
          <a:ln w="19050">
            <a:solidFill>
              <a:srgbClr val="DADC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4"/>
          <p:cNvSpPr/>
          <p:nvPr/>
        </p:nvSpPr>
        <p:spPr>
          <a:xfrm>
            <a:off x="457200" y="3236976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831" y="3345607"/>
            <a:ext cx="276515" cy="27651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097280" y="3255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Dikey paylaşım videosu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1097280" y="351129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büyük, kayıt köşede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457200" y="3895344"/>
            <a:ext cx="493776" cy="493776"/>
          </a:xfrm>
          <a:prstGeom prst="ellipse">
            <a:avLst/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831" y="4003975"/>
            <a:ext cx="276515" cy="276515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97280" y="3913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+ paylaşım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1097280" y="41696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Paylaş + indir · 14 gün açık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6598539" y="877824"/>
            <a:ext cx="2079117" cy="3639312"/>
          </a:xfrm>
          <a:prstGeom prst="roundRect">
            <a:avLst>
              <a:gd name="adj" fmla="val 3810"/>
            </a:avLst>
          </a:prstGeom>
          <a:solidFill>
            <a:srgbClr val="E8F0FE"/>
          </a:solidFill>
          <a:ln w="19050">
            <a:solidFill>
              <a:srgbClr val="4285F4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2" name="slayt15.mp4">
            <a:hlinkClick r:id="" action="ppaction://media"/>
          </p:cNvPr>
          <p:cNvPicPr>
            <a:picLocks noChangeAspect="1"/>
          </p:cNvPicPr>
          <p:nvPr>
            <a:videoFile r:link="rId11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6635115" y="914400"/>
            <a:ext cx="2005965" cy="3566160"/>
          </a:xfrm>
          <a:prstGeom prst="round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05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2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Motion Lab Architecture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143000"/>
            <a:ext cx="21945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436522"/>
            <a:ext cx="281635" cy="28163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40080" y="1920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640080" y="22402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React + Vite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265176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⇄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3108960" y="1143000"/>
            <a:ext cx="5577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3291840" y="1325880"/>
            <a:ext cx="502920" cy="50292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482" y="14365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93192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Backend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3931920" y="16002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FastAPI · Cloud Run · 2 GiB (ffmpeg) · min-instances 1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329184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329184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07492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07492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142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6858000" y="201168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0" y="20116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AB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Avatar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329184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29184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Veo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07492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507492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Trim+Compose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858000" y="242316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 w="12700">
            <a:solidFill>
              <a:srgbClr val="FCE8E6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0" y="242316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QR / Share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0896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273552" y="3456432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4136" y="3557016"/>
            <a:ext cx="256032" cy="25603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840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Storage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327355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uploads/ · frames/ · avatars/ · output/</a:t>
            </a:r>
            <a:endParaRPr lang="en-US" sz="950" dirty="0"/>
          </a:p>
        </p:txBody>
      </p:sp>
      <p:sp>
        <p:nvSpPr>
          <p:cNvPr id="33" name="Shape 26"/>
          <p:cNvSpPr/>
          <p:nvPr/>
        </p:nvSpPr>
        <p:spPr>
          <a:xfrm>
            <a:off x="5943600" y="329184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6108192" y="3456432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8776" y="3557016"/>
            <a:ext cx="256032" cy="25603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67512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6108192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· Nano Banana · Veo</a:t>
            </a:r>
            <a:endParaRPr lang="en-US" sz="95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329184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Frontend deneyimi, backend orkestrasyonu, storage medyayı, modeller kendi uzmanlıklarını üstleniyor.</a:t>
            </a:r>
            <a:endParaRPr lang="en-US" sz="110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logo" descr="/tmp/claude-0/-home-claude/d5e34c45-44d6-5238-8d7b-e6c7b3c8d5c3/scratchpad/deck/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Lessons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45720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21792" y="1280160"/>
            <a:ext cx="457200" cy="457200"/>
          </a:xfrm>
          <a:prstGeom prst="ellipse">
            <a:avLst/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1380744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3444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is UX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123444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Beklerken ne gösterdiğiniz de ürünün parçası.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3474720" y="109728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639312" y="1280160"/>
            <a:ext cx="457200" cy="457200"/>
          </a:xfrm>
          <a:prstGeom prst="ellipse">
            <a:avLst/>
          </a:prstGeom>
          <a:solidFill>
            <a:srgbClr val="F3E8FD"/>
          </a:solidFill>
          <a:ln w="12700">
            <a:solidFill>
              <a:srgbClr val="F3E8F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9896" y="1380744"/>
            <a:ext cx="256032" cy="25603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251960" y="1234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Async jobs need orchestration</a:t>
            </a:r>
            <a:endParaRPr lang="en-US" sz="1250" dirty="0"/>
          </a:p>
        </p:txBody>
      </p:sp>
      <p:sp>
        <p:nvSpPr>
          <p:cNvPr id="14" name="Text 8"/>
          <p:cNvSpPr txBox="1"/>
          <p:nvPr/>
        </p:nvSpPr>
        <p:spPr>
          <a:xfrm>
            <a:off x="4251960" y="18288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Status, concurrency, retry AI ile kaybolmuyor.</a:t>
            </a:r>
            <a:endParaRPr lang="en-US" sz="1000" dirty="0"/>
          </a:p>
        </p:txBody>
      </p:sp>
      <p:sp>
        <p:nvSpPr>
          <p:cNvPr id="15" name="Shape 9"/>
          <p:cNvSpPr/>
          <p:nvPr/>
        </p:nvSpPr>
        <p:spPr>
          <a:xfrm>
            <a:off x="45720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621792" y="2697480"/>
            <a:ext cx="457200" cy="457200"/>
          </a:xfrm>
          <a:prstGeom prst="ellipse">
            <a:avLst/>
          </a:prstGeom>
          <a:solidFill>
            <a:srgbClr val="FEF7E0"/>
          </a:solidFill>
          <a:ln w="12700">
            <a:solidFill>
              <a:srgbClr val="FEF7E0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279806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Failures need fallbacks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123444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Safety filtreleri, kota, beklenmeyen çıktılar.</a:t>
            </a:r>
            <a:endParaRPr lang="en-US" sz="1000" dirty="0"/>
          </a:p>
        </p:txBody>
      </p:sp>
      <p:sp>
        <p:nvSpPr>
          <p:cNvPr id="20" name="Shape 13"/>
          <p:cNvSpPr/>
          <p:nvPr/>
        </p:nvSpPr>
        <p:spPr>
          <a:xfrm>
            <a:off x="3474720" y="2514600"/>
            <a:ext cx="2834640" cy="1261872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3639312" y="2697480"/>
            <a:ext cx="457200" cy="457200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9896" y="2798064"/>
            <a:ext cx="256032" cy="25603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251960" y="2651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Media needs lifecycle &amp; privacy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4251960" y="32461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Neyi, ne kadar, kime açık tutuyoruz?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6675120" y="109728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3" name="Shape qr2"/>
          <p:cNvSpPr/>
          <p:nvPr/>
        </p:nvSpPr>
        <p:spPr>
          <a:xfrm>
            <a:off x="6675120" y="2514600"/>
            <a:ext cx="2011680" cy="1261872"/>
          </a:xfrm>
          <a:prstGeom prst="roundRect">
            <a:avLst>
              <a:gd name="adj" fmla="val 4545"/>
            </a:avLst>
          </a:prstGeom>
          <a:solidFill>
            <a:srgbClr val="E8F0FE"/>
          </a:solidFill>
          <a:ln w="12700">
            <a:solidFill>
              <a:srgbClr val="E8F0FE"/>
            </a:solidFill>
            <a:prstDash val="solid"/>
          </a:ln>
          <a:effectLst>
            <a:outerShdw blurRad="762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8" name="Text 19"/>
          <p:cNvSpPr txBox="1"/>
          <p:nvPr/>
        </p:nvSpPr>
        <p:spPr>
          <a:xfrm>
            <a:off x="6766560" y="3483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Demoyu dene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6766560" y="2066543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5720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AI modeli uygulamanın tamamı değil. Modeli çevreleyen sistem en az model kadar önemli.</a:t>
            </a:r>
            <a:endParaRPr lang="en-US" sz="1400" dirty="0"/>
          </a:p>
        </p:txBody>
      </p:sp>
      <p:pic>
        <p:nvPicPr>
          <p:cNvPr id="30" name="Picture 29" descr="qr_git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3760" y="1170432"/>
            <a:ext cx="914400" cy="914400"/>
          </a:xfrm>
          <a:prstGeom prst="rect">
            <a:avLst/>
          </a:prstGeom>
        </p:spPr>
      </p:pic>
      <p:pic>
        <p:nvPicPr>
          <p:cNvPr id="31" name="Picture 30" descr="qr_de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23760" y="258775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C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914400" y="1143000"/>
            <a:ext cx="7315200" cy="11009376"/>
            <a:chOff x="914400" y="1143000"/>
            <a:chExt cx="7315200" cy="11009376"/>
          </a:xfrm>
        </p:grpSpPr>
        <p:sp>
          <p:nvSpPr>
            <p:cNvPr id="3" name="Rounded Rectangle 2"/>
            <p:cNvSpPr/>
            <p:nvPr/>
          </p:nvSpPr>
          <p:spPr>
            <a:xfrm>
              <a:off x="3017520" y="1143000"/>
              <a:ext cx="3108960" cy="310896"/>
            </a:xfrm>
            <a:prstGeom prst="roundRect">
              <a:avLst>
                <a:gd name="adj" fmla="val 50000"/>
              </a:avLst>
            </a:prstGeom>
            <a:solidFill>
              <a:srgbClr val="15171C"/>
            </a:solidFill>
            <a:ln w="9525">
              <a:solidFill>
                <a:srgbClr val="2A2D3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3201543" y="1266444"/>
              <a:ext cx="64008" cy="6400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13557" y="1266444"/>
              <a:ext cx="64008" cy="6400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425571" y="1266444"/>
              <a:ext cx="64008" cy="6400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537585" y="1266444"/>
              <a:ext cx="64008" cy="6400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703320" y="1143000"/>
              <a:ext cx="2286000" cy="310896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l"/>
              <a:r>
                <a:rPr sz="900" b="0" spc="200">
                  <a:solidFill>
                    <a:srgbClr val="9AA0A6"/>
                  </a:solidFill>
                  <a:latin typeface="Google Sans"/>
                </a:rPr>
                <a:t>DEVFEST KASTAMONU 2026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14400" y="1682496"/>
              <a:ext cx="7315200" cy="64008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4000" b="1">
                  <a:solidFill>
                    <a:srgbClr val="FFFFFF"/>
                  </a:solidFill>
                  <a:latin typeface="Google Sans"/>
                </a:rPr>
                <a:t>Teşekkürler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14400" y="2368296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500" b="0">
                  <a:solidFill>
                    <a:srgbClr val="9AA0A6"/>
                  </a:solidFill>
                  <a:latin typeface="Google Sans"/>
                </a:rPr>
                <a:t>Bu yolculuk hiçbir zaman tek kişilik değildi.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664209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Ragıp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2587753" y="3191256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Ayşe Merve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3959352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Şükrü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4882896" y="3191256"/>
              <a:ext cx="167335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GDG Cloud Konya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6702552" y="319125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Samet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1722731" y="3685032"/>
              <a:ext cx="239024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Squad Digital Solutions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4259276" y="368503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Aynur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5182820" y="3685032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Hüsamettin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6554419" y="368503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Zeynep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740105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Eyüp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574037" y="417880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Meryem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3587192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Safa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4421124" y="417880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Saadet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5434279" y="417880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Arda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6268211" y="4178808"/>
              <a:ext cx="1135684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Squad GRC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1888237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Berat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2811781" y="4672584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Devfest Bursa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4452214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Emrah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375758" y="4672584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Oğuzhan</a:t>
              </a:r>
            </a:p>
          </p:txBody>
        </p:sp>
        <p:sp>
          <p:nvSpPr>
            <p:cNvPr id="30" name="Rounded Rectangle 29"/>
            <p:cNvSpPr/>
            <p:nvPr/>
          </p:nvSpPr>
          <p:spPr>
            <a:xfrm>
              <a:off x="6478524" y="467258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Sinem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1560882" y="516636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Doğukan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2663648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İkbal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587192" y="516636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İbrahim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4689958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Elvan</a:t>
              </a:r>
            </a:p>
          </p:txBody>
        </p:sp>
        <p:sp>
          <p:nvSpPr>
            <p:cNvPr id="35" name="Rounded Rectangle 34"/>
            <p:cNvSpPr/>
            <p:nvPr/>
          </p:nvSpPr>
          <p:spPr>
            <a:xfrm>
              <a:off x="5613502" y="5166360"/>
              <a:ext cx="1046073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GDG Türk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6805879" y="516636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Baran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1709015" y="5660136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Devfest İzmir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349448" y="566013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Asude</a:t>
              </a: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4272992" y="5660136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Ekrem Vedat</a:t>
              </a:r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5734203" y="5660136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Rana</a:t>
              </a:r>
            </a:p>
          </p:txBody>
        </p:sp>
        <p:sp>
          <p:nvSpPr>
            <p:cNvPr id="41" name="Rounded Rectangle 40"/>
            <p:cNvSpPr/>
            <p:nvPr/>
          </p:nvSpPr>
          <p:spPr>
            <a:xfrm>
              <a:off x="6568135" y="5660136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Burhan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1709015" y="6153912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Sema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2542947" y="6153912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Cengiz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3556102" y="6153912"/>
              <a:ext cx="212140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on Campus Selçuk</a:t>
              </a:r>
            </a:p>
          </p:txBody>
        </p:sp>
        <p:sp>
          <p:nvSpPr>
            <p:cNvPr id="45" name="Rounded Rectangle 44"/>
            <p:cNvSpPr/>
            <p:nvPr/>
          </p:nvSpPr>
          <p:spPr>
            <a:xfrm>
              <a:off x="5823814" y="615391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Melih</a:t>
              </a:r>
            </a:p>
          </p:txBody>
        </p:sp>
        <p:sp>
          <p:nvSpPr>
            <p:cNvPr id="46" name="Rounded Rectangle 45"/>
            <p:cNvSpPr/>
            <p:nvPr/>
          </p:nvSpPr>
          <p:spPr>
            <a:xfrm>
              <a:off x="6747358" y="6153912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Sude</a:t>
              </a:r>
            </a:p>
          </p:txBody>
        </p:sp>
        <p:sp>
          <p:nvSpPr>
            <p:cNvPr id="47" name="Rounded Rectangle 46"/>
            <p:cNvSpPr/>
            <p:nvPr/>
          </p:nvSpPr>
          <p:spPr>
            <a:xfrm>
              <a:off x="1650494" y="664768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Şirvan</a:t>
              </a:r>
            </a:p>
          </p:txBody>
        </p:sp>
        <p:sp>
          <p:nvSpPr>
            <p:cNvPr id="48" name="Rounded Rectangle 47"/>
            <p:cNvSpPr/>
            <p:nvPr/>
          </p:nvSpPr>
          <p:spPr>
            <a:xfrm>
              <a:off x="2663649" y="664768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Umut</a:t>
              </a:r>
            </a:p>
          </p:txBody>
        </p:sp>
        <p:sp>
          <p:nvSpPr>
            <p:cNvPr id="49" name="Rounded Rectangle 48"/>
            <p:cNvSpPr/>
            <p:nvPr/>
          </p:nvSpPr>
          <p:spPr>
            <a:xfrm>
              <a:off x="3497581" y="6647688"/>
              <a:ext cx="866851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Furkan</a:t>
              </a:r>
            </a:p>
          </p:txBody>
        </p:sp>
        <p:sp>
          <p:nvSpPr>
            <p:cNvPr id="50" name="Rounded Rectangle 49"/>
            <p:cNvSpPr/>
            <p:nvPr/>
          </p:nvSpPr>
          <p:spPr>
            <a:xfrm>
              <a:off x="4510736" y="6647688"/>
              <a:ext cx="68762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Sena</a:t>
              </a:r>
            </a:p>
          </p:txBody>
        </p:sp>
        <p:sp>
          <p:nvSpPr>
            <p:cNvPr id="51" name="Rounded Rectangle 50"/>
            <p:cNvSpPr/>
            <p:nvPr/>
          </p:nvSpPr>
          <p:spPr>
            <a:xfrm>
              <a:off x="5344668" y="6647688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Yasin</a:t>
              </a:r>
            </a:p>
          </p:txBody>
        </p:sp>
        <p:sp>
          <p:nvSpPr>
            <p:cNvPr id="52" name="Rounded Rectangle 51"/>
            <p:cNvSpPr/>
            <p:nvPr/>
          </p:nvSpPr>
          <p:spPr>
            <a:xfrm>
              <a:off x="6268212" y="6647688"/>
              <a:ext cx="1225295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Architecht</a:t>
              </a:r>
            </a:p>
          </p:txBody>
        </p:sp>
        <p:sp>
          <p:nvSpPr>
            <p:cNvPr id="53" name="Rounded Rectangle 52"/>
            <p:cNvSpPr/>
            <p:nvPr/>
          </p:nvSpPr>
          <p:spPr>
            <a:xfrm>
              <a:off x="1709014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Rabia</a:t>
              </a:r>
            </a:p>
          </p:txBody>
        </p:sp>
        <p:sp>
          <p:nvSpPr>
            <p:cNvPr id="54" name="Rounded Rectangle 53"/>
            <p:cNvSpPr/>
            <p:nvPr/>
          </p:nvSpPr>
          <p:spPr>
            <a:xfrm>
              <a:off x="2632558" y="7141464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Burak</a:t>
              </a:r>
            </a:p>
          </p:txBody>
        </p:sp>
        <p:sp>
          <p:nvSpPr>
            <p:cNvPr id="55" name="Rounded Rectangle 54"/>
            <p:cNvSpPr/>
            <p:nvPr/>
          </p:nvSpPr>
          <p:spPr>
            <a:xfrm>
              <a:off x="4093769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4285F4"/>
                  </a:solidFill>
                  <a:latin typeface="Google Sans"/>
                </a:rPr>
                <a:t>Ligep</a:t>
              </a:r>
            </a:p>
          </p:txBody>
        </p:sp>
        <p:sp>
          <p:nvSpPr>
            <p:cNvPr id="56" name="Rounded Rectangle 55"/>
            <p:cNvSpPr/>
            <p:nvPr/>
          </p:nvSpPr>
          <p:spPr>
            <a:xfrm>
              <a:off x="5017313" y="7141464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Ahmet Cevahir</a:t>
              </a:r>
            </a:p>
          </p:txBody>
        </p:sp>
        <p:sp>
          <p:nvSpPr>
            <p:cNvPr id="57" name="Rounded Rectangle 56"/>
            <p:cNvSpPr/>
            <p:nvPr/>
          </p:nvSpPr>
          <p:spPr>
            <a:xfrm>
              <a:off x="6657746" y="7141464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Eslem</a:t>
              </a:r>
            </a:p>
          </p:txBody>
        </p:sp>
        <p:sp>
          <p:nvSpPr>
            <p:cNvPr id="58" name="Rounded Rectangle 57"/>
            <p:cNvSpPr/>
            <p:nvPr/>
          </p:nvSpPr>
          <p:spPr>
            <a:xfrm>
              <a:off x="1709014" y="7635240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Nanivan</a:t>
              </a:r>
            </a:p>
          </p:txBody>
        </p:sp>
        <p:sp>
          <p:nvSpPr>
            <p:cNvPr id="59" name="Rounded Rectangle 58"/>
            <p:cNvSpPr/>
            <p:nvPr/>
          </p:nvSpPr>
          <p:spPr>
            <a:xfrm>
              <a:off x="2811780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İlker</a:t>
              </a: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3735324" y="7635240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Beyza Sunay</a:t>
              </a:r>
            </a:p>
          </p:txBody>
        </p:sp>
        <p:sp>
          <p:nvSpPr>
            <p:cNvPr id="61" name="Rounded Rectangle 60"/>
            <p:cNvSpPr/>
            <p:nvPr/>
          </p:nvSpPr>
          <p:spPr>
            <a:xfrm>
              <a:off x="5196535" y="7635240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Talha</a:t>
              </a:r>
            </a:p>
          </p:txBody>
        </p:sp>
        <p:sp>
          <p:nvSpPr>
            <p:cNvPr id="62" name="Rounded Rectangle 61"/>
            <p:cNvSpPr/>
            <p:nvPr/>
          </p:nvSpPr>
          <p:spPr>
            <a:xfrm>
              <a:off x="6120079" y="7635240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EA4335"/>
                  </a:solidFill>
                  <a:latin typeface="Google Sans"/>
                </a:rPr>
                <a:t>Kuveyt Türk</a:t>
              </a:r>
            </a:p>
          </p:txBody>
        </p:sp>
        <p:sp>
          <p:nvSpPr>
            <p:cNvPr id="63" name="Rounded Rectangle 62"/>
            <p:cNvSpPr/>
            <p:nvPr/>
          </p:nvSpPr>
          <p:spPr>
            <a:xfrm>
              <a:off x="1709014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Yusuf</a:t>
              </a:r>
            </a:p>
          </p:txBody>
        </p:sp>
        <p:sp>
          <p:nvSpPr>
            <p:cNvPr id="64" name="Rounded Rectangle 63"/>
            <p:cNvSpPr/>
            <p:nvPr/>
          </p:nvSpPr>
          <p:spPr>
            <a:xfrm>
              <a:off x="2632558" y="8129016"/>
              <a:ext cx="1494129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FBBC04"/>
                  </a:solidFill>
                  <a:latin typeface="Google Sans"/>
                </a:rPr>
                <a:t>GDG Kastamonu</a:t>
              </a:r>
            </a:p>
          </p:txBody>
        </p:sp>
        <p:sp>
          <p:nvSpPr>
            <p:cNvPr id="65" name="Rounded Rectangle 64"/>
            <p:cNvSpPr/>
            <p:nvPr/>
          </p:nvSpPr>
          <p:spPr>
            <a:xfrm>
              <a:off x="4272991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Esvan</a:t>
              </a:r>
            </a:p>
          </p:txBody>
        </p:sp>
        <p:sp>
          <p:nvSpPr>
            <p:cNvPr id="66" name="Rounded Rectangle 65"/>
            <p:cNvSpPr/>
            <p:nvPr/>
          </p:nvSpPr>
          <p:spPr>
            <a:xfrm>
              <a:off x="5196535" y="8129016"/>
              <a:ext cx="1314907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Osman Kağan</a:t>
              </a:r>
            </a:p>
          </p:txBody>
        </p:sp>
        <p:sp>
          <p:nvSpPr>
            <p:cNvPr id="67" name="Rounded Rectangle 66"/>
            <p:cNvSpPr/>
            <p:nvPr/>
          </p:nvSpPr>
          <p:spPr>
            <a:xfrm>
              <a:off x="6657746" y="8129016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Hilal</a:t>
              </a:r>
            </a:p>
          </p:txBody>
        </p:sp>
        <p:sp>
          <p:nvSpPr>
            <p:cNvPr id="68" name="Rounded Rectangle 67"/>
            <p:cNvSpPr/>
            <p:nvPr/>
          </p:nvSpPr>
          <p:spPr>
            <a:xfrm>
              <a:off x="2394814" y="8622792"/>
              <a:ext cx="1404518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Mustafa Uğur</a:t>
              </a:r>
            </a:p>
          </p:txBody>
        </p:sp>
        <p:sp>
          <p:nvSpPr>
            <p:cNvPr id="69" name="Rounded Rectangle 68"/>
            <p:cNvSpPr/>
            <p:nvPr/>
          </p:nvSpPr>
          <p:spPr>
            <a:xfrm>
              <a:off x="3945636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Başak</a:t>
              </a:r>
            </a:p>
          </p:txBody>
        </p:sp>
        <p:sp>
          <p:nvSpPr>
            <p:cNvPr id="70" name="Rounded Rectangle 69"/>
            <p:cNvSpPr/>
            <p:nvPr/>
          </p:nvSpPr>
          <p:spPr>
            <a:xfrm>
              <a:off x="4869180" y="8622792"/>
              <a:ext cx="956462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0">
                  <a:solidFill>
                    <a:srgbClr val="E8EAED"/>
                  </a:solidFill>
                  <a:latin typeface="Google Sans"/>
                </a:rPr>
                <a:t>Hüseyin</a:t>
              </a:r>
            </a:p>
          </p:txBody>
        </p:sp>
        <p:sp>
          <p:nvSpPr>
            <p:cNvPr id="71" name="Rounded Rectangle 70"/>
            <p:cNvSpPr/>
            <p:nvPr/>
          </p:nvSpPr>
          <p:spPr>
            <a:xfrm>
              <a:off x="5971946" y="8622792"/>
              <a:ext cx="777240" cy="347472"/>
            </a:xfrm>
            <a:prstGeom prst="roundRect">
              <a:avLst>
                <a:gd name="adj" fmla="val 22000"/>
              </a:avLst>
            </a:prstGeom>
            <a:solidFill>
              <a:srgbClr val="14161B"/>
            </a:solidFill>
            <a:ln w="9525">
              <a:solidFill>
                <a:srgbClr val="22252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 wrap="none"/>
            <a:lstStyle/>
            <a:p>
              <a:pPr algn="ctr"/>
              <a:r>
                <a:rPr sz="1300" b="1">
                  <a:solidFill>
                    <a:srgbClr val="34A853"/>
                  </a:solidFill>
                  <a:latin typeface="Google Sans"/>
                </a:rPr>
                <a:t>Karam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914400" y="10579608"/>
              <a:ext cx="7315200" cy="36576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0">
                  <a:solidFill>
                    <a:srgbClr val="9AA0A6"/>
                  </a:solidFill>
                  <a:latin typeface="Google Sans"/>
                </a:rPr>
                <a:t>Ve en çok da sizlere.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914400" y="10991088"/>
              <a:ext cx="7315200" cy="9144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5400" b="1">
                  <a:solidFill>
                    <a:srgbClr val="FFFFFF"/>
                  </a:solidFill>
                  <a:latin typeface="Google Sans"/>
                </a:rPr>
                <a:t>Thank you!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4229100" y="12042648"/>
              <a:ext cx="109728" cy="109728"/>
            </a:xfrm>
            <a:prstGeom prst="ellipse">
              <a:avLst/>
            </a:prstGeom>
            <a:solidFill>
              <a:srgbClr val="4285F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Oval 74"/>
            <p:cNvSpPr/>
            <p:nvPr/>
          </p:nvSpPr>
          <p:spPr>
            <a:xfrm>
              <a:off x="4421124" y="12042648"/>
              <a:ext cx="109728" cy="109728"/>
            </a:xfrm>
            <a:prstGeom prst="ellipse">
              <a:avLst/>
            </a:prstGeom>
            <a:solidFill>
              <a:srgbClr val="EA433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Oval 75"/>
            <p:cNvSpPr/>
            <p:nvPr/>
          </p:nvSpPr>
          <p:spPr>
            <a:xfrm>
              <a:off x="4613148" y="12042648"/>
              <a:ext cx="109728" cy="109728"/>
            </a:xfrm>
            <a:prstGeom prst="ellipse">
              <a:avLst/>
            </a:prstGeom>
            <a:solidFill>
              <a:srgbClr val="FBBC04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Oval 76"/>
            <p:cNvSpPr/>
            <p:nvPr/>
          </p:nvSpPr>
          <p:spPr>
            <a:xfrm>
              <a:off x="4805172" y="12042648"/>
              <a:ext cx="109728" cy="109728"/>
            </a:xfrm>
            <a:prstGeom prst="ellipse">
              <a:avLst/>
            </a:prstGeom>
            <a:solidFill>
              <a:srgbClr val="34A85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78" name="Rectangle 77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rotWithShape="1">
            <a:gsLst>
              <a:gs pos="25000">
                <a:srgbClr val="0B0C10"/>
              </a:gs>
              <a:gs pos="100000">
                <a:srgbClr val="0B0C10">
                  <a:alpha val="0"/>
                </a:srgbClr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gradFill rotWithShape="1">
            <a:gsLst>
              <a:gs pos="0">
                <a:srgbClr val="0B0C10">
                  <a:alpha val="0"/>
                </a:srgbClr>
              </a:gs>
              <a:gs pos="75000">
                <a:srgbClr val="0B0C10"/>
              </a:gs>
            </a:gsLst>
            <a:lin scaled="0" ang="54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Image 1" descr="/tmp/claude-0/-home-claude/d5e34c45-44d6-5238-8d7b-e6c7b3c8d5c3/scratchpad/deck/logo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732020"/>
            <a:ext cx="1920240" cy="1371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0" decel="2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1.7098 E" pathEditMode="relative" rAng="0" ptsTypes="AA">
                                      <p:cBhvr>
                                        <p:cTn id="6" dur="5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854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2860</TotalTime>
  <Words>4314</Words>
  <Application>Microsoft Office PowerPoint</Application>
  <PresentationFormat>On-screen Show (16:9)</PresentationFormat>
  <Paragraphs>460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Google Sans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Motion with AI</dc:title>
  <dc:subject>PptxGenJS Presentation</dc:subject>
  <dc:creator>PptxGenJS</dc:creator>
  <cp:lastModifiedBy>Eyup Ece</cp:lastModifiedBy>
  <cp:revision>4</cp:revision>
  <dcterms:created xsi:type="dcterms:W3CDTF">2026-09-26T21:07:24Z</dcterms:created>
  <dcterms:modified xsi:type="dcterms:W3CDTF">2026-10-09T15:49:05Z</dcterms:modified>
</cp:coreProperties>
</file>