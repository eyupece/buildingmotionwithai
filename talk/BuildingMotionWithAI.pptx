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jpg" ContentType="image/jpg"/>
  <Override PartName="/ppt/media/image13.jpg" ContentType="image/jpg"/>
  <Override PartName="/ppt/media/image16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145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microsoft.com/office/2007/relationships/media" Target="../media/media2.mp4"/><Relationship Id="rId5" Type="http://schemas.openxmlformats.org/officeDocument/2006/relationships/image" Target="../media/image9.png"/><Relationship Id="rId6" Type="http://schemas.microsoft.com/office/2007/relationships/media" Target="../media/media3.mp4"/><Relationship Id="rId8" Type="http://schemas.microsoft.com/office/2007/relationships/media" Target="../media/media1.mp4"/><Relationship Id="rId9" Type="http://schemas.openxmlformats.org/officeDocument/2006/relationships/video" Target="../media/media1.mp4"/><Relationship Id="rId10" Type="http://schemas.openxmlformats.org/officeDocument/2006/relationships/image" Target="../media/image46.jpg"/><Relationship Id="rId11" Type="http://schemas.openxmlformats.org/officeDocument/2006/relationships/video" Target="../media/media2.mp4"/><Relationship Id="rId12" Type="http://schemas.openxmlformats.org/officeDocument/2006/relationships/image" Target="../media/image8.jpg"/><Relationship Id="rId13" Type="http://schemas.openxmlformats.org/officeDocument/2006/relationships/video" Target="../media/media3.mp4"/><Relationship Id="rId14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6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7.png"/><Relationship Id="rId10" Type="http://schemas.microsoft.com/office/2007/relationships/media" Target="../media/media4.mp4"/><Relationship Id="rId11" Type="http://schemas.openxmlformats.org/officeDocument/2006/relationships/video" Target="../media/media4.mp4"/><Relationship Id="rId1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94360"/>
            <a:ext cx="2743200" cy="19594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05156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Building Motion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AI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2651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hareketi anlayan, dönüştüren ve yeniden üreten multimodal AI pipeline’ı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291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@Architecht · GDG Cloud Konya Organizer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989320" y="685800"/>
            <a:ext cx="2651760" cy="265176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8" name="Image 1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48640"/>
            <a:ext cx="2651760" cy="26517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2960" y="4343400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dash"/>
          </a:ln>
        </p:spPr>
      </p:sp>
      <p:sp>
        <p:nvSpPr>
          <p:cNvPr id="10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197096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2423160" y="4069080"/>
            <a:ext cx="548640" cy="548640"/>
          </a:xfrm>
          <a:prstGeom prst="ellipse">
            <a:avLst/>
          </a:prstGeom>
          <a:solidFill>
            <a:srgbClr val="F3E8FD"/>
          </a:solidFill>
          <a:ln w="19050">
            <a:solidFill>
              <a:srgbClr val="A142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1176" y="4197096"/>
            <a:ext cx="292608" cy="292608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5696" y="4197096"/>
            <a:ext cx="292608" cy="29260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172200" y="4069080"/>
            <a:ext cx="548640" cy="548640"/>
          </a:xfrm>
          <a:prstGeom prst="ellipse">
            <a:avLst/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4197096"/>
            <a:ext cx="292608" cy="292608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36" y="41970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proje ne yapıyor?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Kısa bir video → avatarımız, başka bir ortamda aynı hareketi yapıyor.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457200" y="1417320"/>
            <a:ext cx="5486400" cy="2862072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kayit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48640" y="1508760"/>
            <a:ext cx="1507046" cy="2679192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126480" y="1417320"/>
            <a:ext cx="2560320" cy="2862072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6355080" y="160020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17190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355080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Siz olsanız nasıl yapardınız?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635508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“Bu videoyu analiz et, avatarını oluştur ve onu Kastamonu afişinin içinde aynı hareketi yaparken canlandır.”</a:t>
            </a:r>
            <a:endParaRPr lang="en-US" sz="1200" dirty="0"/>
          </a:p>
        </p:txBody>
      </p:sp>
      <p:pic>
        <p:nvPicPr>
          <p:cNvPr id="17" name="afis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128838" y="1508760"/>
            <a:ext cx="2144425" cy="2679192"/>
          </a:xfrm>
          <a:prstGeom prst="rect">
            <a:avLst/>
          </a:prstGeom>
        </p:spPr>
      </p:pic>
      <p:pic>
        <p:nvPicPr>
          <p:cNvPr id="18" name="paylasim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4346415" y="1508760"/>
            <a:ext cx="1507046" cy="267919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5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05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05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video>
              <p:cMediaNode vol="8000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914400"/>
            <a:ext cx="2651760" cy="2651760"/>
          </a:xfrm>
          <a:prstGeom prst="ellipse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pic>
        <p:nvPicPr>
          <p:cNvPr id="5" name="Image 1" descr="/tmp/claude-0/-home-claude/d5e34c45-44d6-5238-8d7b-e6c7b3c8d5c3/scratchpad/deck/ref_image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005840"/>
            <a:ext cx="2468880" cy="246888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749040" y="1051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3000" dirty="0"/>
          </a:p>
        </p:txBody>
      </p:sp>
      <p:sp>
        <p:nvSpPr>
          <p:cNvPr id="8" name="Shape 3"/>
          <p:cNvSpPr/>
          <p:nvPr/>
        </p:nvSpPr>
        <p:spPr>
          <a:xfrm>
            <a:off x="3749040" y="182880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2" descr="/tmp/claude-0/-home-claude/d5e34c45-44d6-5238-8d7b-e6c7b3c8d5c3/scratchpad/deck/ref_image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1920240"/>
            <a:ext cx="457200" cy="457200"/>
          </a:xfrm>
          <a:prstGeom prst="ellipse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434840" y="192024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· Architecht</a:t>
            </a:r>
            <a:endParaRPr lang="en-US" sz="1250" dirty="0"/>
          </a:p>
        </p:txBody>
      </p:sp>
      <p:sp>
        <p:nvSpPr>
          <p:cNvPr id="11" name="Text 5"/>
          <p:cNvSpPr txBox="1"/>
          <p:nvPr/>
        </p:nvSpPr>
        <p:spPr>
          <a:xfrm>
            <a:off x="4434840" y="21671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~2,5 yıl, mikroservis tabanlı projeler</a:t>
            </a:r>
            <a:endParaRPr lang="en-US" sz="950" dirty="0"/>
          </a:p>
        </p:txBody>
      </p:sp>
      <p:sp>
        <p:nvSpPr>
          <p:cNvPr id="12" name="Shape 6"/>
          <p:cNvSpPr/>
          <p:nvPr/>
        </p:nvSpPr>
        <p:spPr>
          <a:xfrm>
            <a:off x="3749040" y="260604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/tmp/claude-0/-home-claude/d5e34c45-44d6-5238-8d7b-e6c7b3c8d5c3/scratchpad/deck/ref_image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2697480"/>
            <a:ext cx="457200" cy="457200"/>
          </a:xfrm>
          <a:prstGeom prst="ellipse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34840" y="2697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 Organizer</a:t>
            </a:r>
            <a:endParaRPr lang="en-US" sz="1250" dirty="0"/>
          </a:p>
        </p:txBody>
      </p:sp>
      <p:sp>
        <p:nvSpPr>
          <p:cNvPr id="15" name="Text 8"/>
          <p:cNvSpPr txBox="1"/>
          <p:nvPr/>
        </p:nvSpPr>
        <p:spPr>
          <a:xfrm>
            <a:off x="4434840" y="294436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on Campus Türkiye Mentor &amp; Facilitator · DevFest Konya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3749040" y="33832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4" descr="/tmp/claude-0/-home-claude/d5e34c45-44d6-5238-8d7b-e6c7b3c8d5c3/scratchpad/deck/ref_image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8768" y="3474720"/>
            <a:ext cx="457200" cy="457200"/>
          </a:xfrm>
          <a:prstGeom prst="ellipse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4434840" y="34747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Selçuk Üniversitesi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4434840" y="37216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Bilgisayar Mühendisliği · 2026</a:t>
            </a:r>
            <a:endParaRPr lang="en-US" sz="950" dirty="0"/>
          </a:p>
        </p:txBody>
      </p:sp>
      <p:pic>
        <p:nvPicPr>
          <p:cNvPr id="20" name="Image 5" descr="/tmp/claude-0/-home-claude/d5e34c45-44d6-5238-8d7b-e6c7b3c8d5c3/scratchpad/deck/ref_image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3246120"/>
            <a:ext cx="1051560" cy="10515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406640" y="43159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Bağlantı kuralım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This is not just</a:t>
            </a:r>
            <a:endParaRPr lang="en-US" sz="5000" dirty="0"/>
          </a:p>
          <a:p>
            <a:pPr marL="0" indent="0" algn="ctr">
              <a:buNone/>
            </a:pPr>
            <a:r>
              <a:rPr lang="en-US" sz="5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avatar demo.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Tek bir model çağrısı değil; farklı modellerin birlikte çalıştığı uçtan uca bir sistem.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3977640" y="3840480"/>
            <a:ext cx="128016" cy="128016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233672" y="3840480"/>
            <a:ext cx="128016" cy="128016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489704" y="3840480"/>
            <a:ext cx="128016" cy="128016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45736" y="3840480"/>
            <a:ext cx="128016" cy="128016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01768" y="3840480"/>
            <a:ext cx="128016" cy="128016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3200" dirty="0"/>
          </a:p>
        </p:txBody>
      </p:sp>
      <p:sp>
        <p:nvSpPr>
          <p:cNvPr id="5" name="!!cl_sub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Chatbot tarzı uygulamalarda alıştığımız akış</a:t>
            </a:r>
            <a:endParaRPr lang="en-US" sz="1400" dirty="0"/>
          </a:p>
        </p:txBody>
      </p:sp>
      <p:sp>
        <p:nvSpPr>
          <p:cNvPr id="6" name="!!cl_box0"/>
          <p:cNvSpPr/>
          <p:nvPr/>
        </p:nvSpPr>
        <p:spPr>
          <a:xfrm>
            <a:off x="10515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!!cl_txt0"/>
          <p:cNvSpPr txBox="1"/>
          <p:nvPr/>
        </p:nvSpPr>
        <p:spPr>
          <a:xfrm>
            <a:off x="10515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600" dirty="0"/>
          </a:p>
        </p:txBody>
      </p:sp>
      <p:sp>
        <p:nvSpPr>
          <p:cNvPr id="8" name="!!cl_arr0"/>
          <p:cNvSpPr txBox="1"/>
          <p:nvPr/>
        </p:nvSpPr>
        <p:spPr>
          <a:xfrm>
            <a:off x="30632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!!cl_box1"/>
          <p:cNvSpPr/>
          <p:nvPr/>
        </p:nvSpPr>
        <p:spPr>
          <a:xfrm>
            <a:off x="35661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!!cl_txt1"/>
          <p:cNvSpPr txBox="1"/>
          <p:nvPr/>
        </p:nvSpPr>
        <p:spPr>
          <a:xfrm>
            <a:off x="35661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600" dirty="0"/>
          </a:p>
        </p:txBody>
      </p:sp>
      <p:sp>
        <p:nvSpPr>
          <p:cNvPr id="11" name="!!cl_arr1"/>
          <p:cNvSpPr txBox="1"/>
          <p:nvPr/>
        </p:nvSpPr>
        <p:spPr>
          <a:xfrm>
            <a:off x="55778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!!cl_box2"/>
          <p:cNvSpPr/>
          <p:nvPr/>
        </p:nvSpPr>
        <p:spPr>
          <a:xfrm>
            <a:off x="60807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!!cl_txt2"/>
          <p:cNvSpPr txBox="1"/>
          <p:nvPr/>
        </p:nvSpPr>
        <p:spPr>
          <a:xfrm>
            <a:off x="60807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1300" dirty="0"/>
          </a:p>
        </p:txBody>
      </p:sp>
      <p:sp>
        <p:nvSpPr>
          <p:cNvPr id="5" name="!!cl_box0"/>
          <p:cNvSpPr/>
          <p:nvPr/>
        </p:nvSpPr>
        <p:spPr>
          <a:xfrm>
            <a:off x="10515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!!cl_txt0"/>
          <p:cNvSpPr txBox="1"/>
          <p:nvPr/>
        </p:nvSpPr>
        <p:spPr>
          <a:xfrm>
            <a:off x="10515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300" dirty="0"/>
          </a:p>
        </p:txBody>
      </p:sp>
      <p:sp>
        <p:nvSpPr>
          <p:cNvPr id="7" name="!!cl_arr0"/>
          <p:cNvSpPr txBox="1"/>
          <p:nvPr/>
        </p:nvSpPr>
        <p:spPr>
          <a:xfrm>
            <a:off x="30632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!!cl_box1"/>
          <p:cNvSpPr/>
          <p:nvPr/>
        </p:nvSpPr>
        <p:spPr>
          <a:xfrm>
            <a:off x="35661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!!cl_txt1"/>
          <p:cNvSpPr txBox="1"/>
          <p:nvPr/>
        </p:nvSpPr>
        <p:spPr>
          <a:xfrm>
            <a:off x="35661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300" dirty="0"/>
          </a:p>
        </p:txBody>
      </p:sp>
      <p:sp>
        <p:nvSpPr>
          <p:cNvPr id="10" name="!!cl_arr1"/>
          <p:cNvSpPr txBox="1"/>
          <p:nvPr/>
        </p:nvSpPr>
        <p:spPr>
          <a:xfrm>
            <a:off x="55778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!!cl_box2"/>
          <p:cNvSpPr/>
          <p:nvPr/>
        </p:nvSpPr>
        <p:spPr>
          <a:xfrm>
            <a:off x="60807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!!cl_txt2"/>
          <p:cNvSpPr txBox="1"/>
          <p:nvPr/>
        </p:nvSpPr>
        <p:spPr>
          <a:xfrm>
            <a:off x="60807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Multimodal AI Workflow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50292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7724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19456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606040" y="2651760"/>
            <a:ext cx="548640" cy="54864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6741" y="27724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Analysis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56616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388620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297680" y="265176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381" y="277246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862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Image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557784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989320" y="2651760"/>
            <a:ext cx="548640" cy="54864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021" y="277246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7784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94944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6"/>
          <p:cNvSpPr/>
          <p:nvPr/>
        </p:nvSpPr>
        <p:spPr>
          <a:xfrm>
            <a:off x="726948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680960" y="2651760"/>
            <a:ext cx="548640" cy="54864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1661" y="2772461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26948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chaining: bir modelin çıktısı, zincirdeki bir sonraki modelin girdisi.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Let’s put a real video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into the pipeline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gönüllüye ihtiyacım var.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548640" y="2514600"/>
            <a:ext cx="438912" cy="43891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611161"/>
            <a:ext cx="245791" cy="245791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25146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Yaklaşık 5 saniyelik net bir hareket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548640" y="3136392"/>
            <a:ext cx="438912" cy="43891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232953"/>
            <a:ext cx="245791" cy="24579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43000" y="313639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Cloud Storage’da tutulur, 14 gün sonra silinir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48640" y="3758184"/>
            <a:ext cx="438912" cy="43891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3854745"/>
            <a:ext cx="245791" cy="245791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43000" y="375818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Modellerin kendi safety filtreleri var</a:t>
            </a:r>
            <a:endParaRPr lang="en-US" sz="1300" dirty="0"/>
          </a:p>
        </p:txBody>
      </p:sp>
      <p:sp>
        <p:nvSpPr>
          <p:cNvPr id="15" name="Shape 8"/>
          <p:cNvSpPr/>
          <p:nvPr/>
        </p:nvSpPr>
        <p:spPr>
          <a:xfrm>
            <a:off x="5943600" y="914400"/>
            <a:ext cx="2743200" cy="2743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600200"/>
            <a:ext cx="1371600" cy="13716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589520" y="96012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7589520" y="960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● REC 5s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F8FA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Simple for the user, multi-stage behind the scenes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 tek bir işlem başlatıyor; arkada beş aşama çalışıyor.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30352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8600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66928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WebM → Cloud Storage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121408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2194560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612" y="228600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231136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231136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JSON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785616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858768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4820" y="2286000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3895344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895344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avatar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449824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522976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2286000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559552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5559552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AI video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114032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7187184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3236" y="2286000"/>
            <a:ext cx="502920" cy="50292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23760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223760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video + QR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640080" y="201168"/>
            <a:ext cx="365760" cy="365760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Upload &amp; Storage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İlk iş: videoyu ortak bir storage katmanına almak.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94360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Browser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~5 sn WebM kayıt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2286000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2624328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761488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2072" y="220370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10128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2761488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/api/upload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video_id üretir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4453128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4791456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928616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220370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477256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4928616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uploads/{video_id}.webm</a:t>
            </a:r>
            <a:endParaRPr lang="en-US" sz="950" dirty="0"/>
          </a:p>
        </p:txBody>
      </p:sp>
      <p:sp>
        <p:nvSpPr>
          <p:cNvPr id="37" name="Text 29"/>
          <p:cNvSpPr txBox="1"/>
          <p:nvPr/>
        </p:nvSpPr>
        <p:spPr>
          <a:xfrm>
            <a:off x="6620256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58584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7095744" y="210312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220370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44384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7095744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GCS URI ile okur</a:t>
            </a:r>
            <a:endParaRPr lang="en-US" sz="950" dirty="0"/>
          </a:p>
        </p:txBody>
      </p:sp>
      <p:sp>
        <p:nvSpPr>
          <p:cNvPr id="43" name="Shape 34"/>
          <p:cNvSpPr/>
          <p:nvPr/>
        </p:nvSpPr>
        <p:spPr>
          <a:xfrm>
            <a:off x="457200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94360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94360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Ham videolar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624328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761488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142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frames/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2761488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Seçilen kareler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791456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928616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AB0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avatars/</a:t>
            </a:r>
            <a:endParaRPr lang="en-US" sz="1200" dirty="0"/>
          </a:p>
        </p:txBody>
      </p:sp>
      <p:sp>
        <p:nvSpPr>
          <p:cNvPr id="51" name="Text 42"/>
          <p:cNvSpPr txBox="1"/>
          <p:nvPr/>
        </p:nvSpPr>
        <p:spPr>
          <a:xfrm>
            <a:off x="4928616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Avatarlar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8584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095744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A85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output/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7095744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Üretilen videolar</a:t>
            </a:r>
            <a:endParaRPr lang="en-US" sz="105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Medya storage’da yaşar, uygulama belleğinde değil.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Gemini: Video → Structured JSON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Hareketi, pipeline’ın kullanabileceği veriye dönüştürüyoruz.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57200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85800" y="2103120"/>
            <a:ext cx="4206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"movement_summary"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"Kollar yukarı...",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"body_parts"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["arms","torso"],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"phases"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 ... 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"best_frame_timestamp"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"0:02",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"person_description"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"Beyaz tişört...",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"veo_prompt"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"Arms rise..."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303520" y="1920240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468112" y="2048256"/>
            <a:ext cx="493776" cy="493776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6743" y="2156887"/>
            <a:ext cx="276515" cy="27651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26480" y="2029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 anla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12648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Özet, vücut bölgeleri, fazlar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303520" y="2807208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468112" y="2935224"/>
            <a:ext cx="493776" cy="493776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743" y="3043855"/>
            <a:ext cx="276515" cy="27651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26480" y="2916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için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126480" y="32095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 + kişi tarifi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303520" y="3694176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5468112" y="3822192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6743" y="3930823"/>
            <a:ext cx="276515" cy="27651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1264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için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126480" y="40965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üretim talimatı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çıktısı final cevap değil; pipeline’ın ara verisi.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Input → JSON Output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output’u çağrı seviyesinde nasıl istiyoruz?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response = client.models.generate_content(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58AF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model="gemini-3-flash-preview",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contents=[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Part.from_uri(file_uri=gcs_uri,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              mime_type="video/webm"),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MOTION_ANALYSIS_PROMPT,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],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config=GenerateContentConfig(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response_mime_type="application/json",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thinking_config=ThinkingConfig(thinking_budget=1024))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28B82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analysis = json.loads(response.text)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852160" y="1920240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61888" y="2011680"/>
            <a:ext cx="347472" cy="347472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61888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20116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from GCS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852160" y="2569464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961888" y="2660904"/>
            <a:ext cx="347472" cy="347472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961888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2660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template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5852160" y="3218688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961888" y="3310128"/>
            <a:ext cx="347472" cy="34747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61888" y="3310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6446520" y="3310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JSON response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5852160" y="3867912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961888" y="3959352"/>
            <a:ext cx="347472" cy="347472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961888" y="3959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46520" y="39593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Parse and continue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output, multimodal pipeline’ı güvenilir ve birleştirilebilir yapıyor.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374904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4306824" y="11887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389120" y="201168"/>
            <a:ext cx="365760" cy="365760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kare, Veo için bir referans görsele dönüşüyor.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" y="214884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226954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 frame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best_frame_timestamp anı ffmpeg ile videodan kesiliyor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7889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315468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37560" y="214884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261" y="2269541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3756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333756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Kare + style prompt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gemini-3.1-flash-image-preview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5852160" y="1965960"/>
            <a:ext cx="2834640" cy="2377440"/>
          </a:xfrm>
          <a:prstGeom prst="roundRect">
            <a:avLst>
              <a:gd name="adj" fmla="val 3846"/>
            </a:avLst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3" name="Image 4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2011680"/>
            <a:ext cx="1463040" cy="1463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52360" y="2286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PNG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7452360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avatars/ altında saklanıyor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6035040" y="3611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Final çıktı değil, Veo için reference asset.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aşama karakterin görsel kimliğini hazırlıyor.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Video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 context’i + görsel kimlik → yeni bir video.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1792" y="222199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" y="2338669"/>
            <a:ext cx="296997" cy="29699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2194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veo_prompt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2801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tarifi (Gemini)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20040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21792" y="345643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469" y="3573109"/>
            <a:ext cx="296997" cy="29699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80160" y="3429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280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Görsel kimlik (Nano Banana)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1546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3657600" y="196596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19456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74904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3.1 Fast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374904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· 16:9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 GCS output/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26480" y="196596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309360" y="2148840"/>
            <a:ext cx="457200" cy="45720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2249424"/>
            <a:ext cx="256032" cy="256032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309360" y="2743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ilk kare değil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30936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r-TR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Referans görsel olarak veriliyor:</a:t>
            </a:r>
            <a:endParaRPr lang="tr-TR" sz="1100" dirty="0"/>
          </a:p>
          <a:p>
            <a:pPr marL="0" indent="0">
              <a:buNone/>
            </a:pPr>
            <a:r>
              <a:rPr lang="tr-TR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“Videodaki karakter böyle görünsün.”</a:t>
            </a:r>
            <a:endParaRPr lang="tr-TR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433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reference_type = ASSET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bağımsız çalışmıyor; önceki aşamaların çıktılarıyla besleniyor.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Async, Status &amp; Concurrency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AI işlemi saniyelerde bitmiyorsa uygulama bunu nasıl yönetir?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84632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Aşama süreleri (yaklaşık)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2423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Analyzing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691640" y="24780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01168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2880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691640" y="2935224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057400" y="28803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8–12 sn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3337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691640" y="3392424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26280" y="3337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60–120 sn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" y="37947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Composing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1691640" y="38496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011680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5577840" y="192024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5760720" y="20116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3600" dirty="0"/>
          </a:p>
        </p:txBody>
      </p:sp>
      <p:sp>
        <p:nvSpPr>
          <p:cNvPr id="36" name="Text 31"/>
          <p:cNvSpPr txBox="1"/>
          <p:nvPr/>
        </p:nvSpPr>
        <p:spPr>
          <a:xfrm>
            <a:off x="694944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aktif video işi (max)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577840" y="320040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5760720" y="3291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</a:t>
            </a:r>
            <a:endParaRPr lang="en-US" sz="3600" dirty="0"/>
          </a:p>
        </p:txBody>
      </p:sp>
      <p:sp>
        <p:nvSpPr>
          <p:cNvPr id="39" name="Text 34"/>
          <p:cNvSpPr txBox="1"/>
          <p:nvPr/>
        </p:nvSpPr>
        <p:spPr>
          <a:xfrm>
            <a:off x="6949440" y="3383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operation poll aralığı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İki katmanlı polling: backend Veo’yu, frontend backend’i yokluyor.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!!tl_prog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!!tl_halo"/>
          <p:cNvSpPr/>
          <p:nvPr/>
        </p:nvSpPr>
        <p:spPr>
          <a:xfrm>
            <a:off x="8055864" y="118872"/>
            <a:ext cx="530352" cy="53035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8FA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138160" y="201168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EA43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model output to experience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Kullanıcının görmek istediği ham model çıktısı değil.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13232" y="2414016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1920240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831" y="2028871"/>
            <a:ext cx="276515" cy="27651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0" y="19385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çıktısı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097280" y="2194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saniye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3232" y="3072384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57200" y="2578608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831" y="2687239"/>
            <a:ext cx="276515" cy="27651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9728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28529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ffmpeg ile ilk 5 saniye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713232" y="3730752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57200" y="3236976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831" y="3345607"/>
            <a:ext cx="276515" cy="27651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097280" y="3255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Dikey paylaşım videosu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1097280" y="35112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büyük, kayıt köşede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3895344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831" y="4003975"/>
            <a:ext cx="276515" cy="27651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97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+ paylaşım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1097280" y="41696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Paylaş + indir · 14 gün açık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598539" y="877824"/>
            <a:ext cx="2079117" cy="3639312"/>
          </a:xfrm>
          <a:prstGeom prst="roundRect">
            <a:avLst>
              <a:gd name="adj" fmla="val 3810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2" name="slayt15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6635115" y="914400"/>
            <a:ext cx="2005965" cy="3566160"/>
          </a:xfrm>
          <a:prstGeom prst="round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5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Motion Lab Architecture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14300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43652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React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2651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⇄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108960" y="114300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3291840" y="1325880"/>
            <a:ext cx="502920" cy="50292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482" y="14365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3192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3931920" y="1600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 · Cloud Run · 2 GiB (ffmpeg) · min-instances 1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329184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29184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07492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07492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85800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29184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29184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7492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07492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Trim+Compose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85800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/ Share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10896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273552" y="3456432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4136" y="355701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27355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uploads/ · frames/ · avatars/ · output/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94360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08192" y="3456432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776" y="3557016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7512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610819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· Nano Banana · Veo</a:t>
            </a:r>
            <a:endParaRPr lang="en-US" sz="95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 deneyimi, backend orkestrasyonu, storage medyayı, modeller kendi uzmanlıklarını üstleniyor.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Lessons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21792" y="128016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380744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is UX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123444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Beklerken ne gösterdiğiniz de ürünün parçası.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47472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639312" y="128016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3807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25196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 jobs need orchestration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425196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Status, concurrency, retry AI ile kaybolmuyor.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5720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21792" y="2697480"/>
            <a:ext cx="457200" cy="45720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7980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Failures need fallbacks</a:t>
            </a:r>
            <a:endParaRPr lang="en-US" sz="125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Safety filtreleri, kota, beklenmeyen çıktılar.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347472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3639312" y="2697480"/>
            <a:ext cx="457200" cy="45720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2798064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25196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Media needs lifecycle &amp; privacy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425196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Neyi, ne kadar, kime açık tutuyoruz?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6675120" y="109728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Shape qr2"/>
          <p:cNvSpPr/>
          <p:nvPr/>
        </p:nvSpPr>
        <p:spPr>
          <a:xfrm>
            <a:off x="6675120" y="251460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19"/>
          <p:cNvSpPr txBox="1"/>
          <p:nvPr/>
        </p:nvSpPr>
        <p:spPr>
          <a:xfrm>
            <a:off x="6766560" y="3483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Demoyu dene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206654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5720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modeli uygulamanın tamamı değil. Modeli çevreleyen sistem en az model kadar önemli.</a:t>
            </a:r>
            <a:endParaRPr lang="en-US" sz="1400" dirty="0"/>
          </a:p>
        </p:txBody>
      </p:sp>
      <p:pic>
        <p:nvPicPr>
          <p:cNvPr id="30" name="Picture 29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0" y="1170432"/>
            <a:ext cx="914400" cy="914400"/>
          </a:xfrm>
          <a:prstGeom prst="rect">
            <a:avLst/>
          </a:prstGeom>
        </p:spPr>
      </p:pic>
      <p:pic>
        <p:nvPicPr>
          <p:cNvPr id="31" name="Picture 30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3760" y="258775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914400" y="1143000"/>
            <a:ext cx="7315200" cy="11009376"/>
            <a:chOff x="914400" y="1143000"/>
            <a:chExt cx="7315200" cy="11009376"/>
          </a:xfrm>
        </p:grpSpPr>
        <p:sp>
          <p:nvSpPr>
            <p:cNvPr id="3" name="Rounded Rectangle 2"/>
            <p:cNvSpPr/>
            <p:nvPr/>
          </p:nvSpPr>
          <p:spPr>
            <a:xfrm>
              <a:off x="3017520" y="1143000"/>
              <a:ext cx="3108960" cy="310896"/>
            </a:xfrm>
            <a:prstGeom prst="roundRect">
              <a:avLst>
                <a:gd name="adj" fmla="val 50000"/>
              </a:avLst>
            </a:prstGeom>
            <a:solidFill>
              <a:srgbClr val="15171C"/>
            </a:solidFill>
            <a:ln w="9525">
              <a:solidFill>
                <a:srgbClr val="2A2D3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3201543" y="1266444"/>
              <a:ext cx="64008" cy="64008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313557" y="1266444"/>
              <a:ext cx="64008" cy="64008"/>
            </a:xfrm>
            <a:prstGeom prst="ellipse">
              <a:avLst/>
            </a:prstGeom>
            <a:solidFill>
              <a:srgbClr val="EA43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425571" y="1266444"/>
              <a:ext cx="64008" cy="64008"/>
            </a:xfrm>
            <a:prstGeom prst="ellipse">
              <a:avLst/>
            </a:prstGeom>
            <a:solidFill>
              <a:srgbClr val="FBBC0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537585" y="1266444"/>
              <a:ext cx="64008" cy="64008"/>
            </a:xfrm>
            <a:prstGeom prst="ellipse">
              <a:avLst/>
            </a:prstGeom>
            <a:solidFill>
              <a:srgbClr val="34A85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703320" y="1143000"/>
              <a:ext cx="22860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900" b="0" spc="200">
                  <a:solidFill>
                    <a:srgbClr val="9AA0A6"/>
                  </a:solidFill>
                  <a:latin typeface="Google Sans"/>
                </a:rPr>
                <a:t>DEVFEST KASTAMONU 2026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1682496"/>
              <a:ext cx="731520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Google Sans"/>
                </a:rPr>
                <a:t>Teşekkürler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14400" y="2368296"/>
              <a:ext cx="73152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500" b="0">
                  <a:solidFill>
                    <a:srgbClr val="9AA0A6"/>
                  </a:solidFill>
                  <a:latin typeface="Google Sans"/>
                </a:rPr>
                <a:t>Bu yolculuk hiçbir zaman tek kişilik değildi.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664209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Ragıp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587753" y="3191256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Ayşe Merve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59352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Şükrü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882896" y="3191256"/>
              <a:ext cx="167335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GDG Cloud Konya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702552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Samet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722731" y="3685032"/>
              <a:ext cx="239024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Squad Digital Solutions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259276" y="368503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Aynur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182820" y="3685032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Hüsamettin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54419" y="3685032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Zeynep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740105" y="417880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Eyüp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74037" y="417880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Meryem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587192" y="417880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Safa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421124" y="417880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Saadet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434279" y="417880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Arda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268211" y="4178808"/>
              <a:ext cx="1135684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Squad GRC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888237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Berat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1781" y="4672584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Devfest Bursa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4452214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Emrah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5375758" y="4672584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Oğuzhan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478524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Sinem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560882" y="516636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Doğukan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663648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İkbal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587192" y="516636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İbrahim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689958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Elvan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13502" y="5166360"/>
              <a:ext cx="1046073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GDG Türk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805879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Baran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709015" y="5660136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Devfest İzmir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349448" y="566013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Asude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4272992" y="5660136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Ekrem Vedat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734203" y="5660136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Rana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6568135" y="5660136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Burhan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1709015" y="6153912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Sema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2542947" y="6153912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Cengiz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3556102" y="6153912"/>
              <a:ext cx="212140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GDG on Campus Selçuk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5823814" y="615391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Melih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6747358" y="6153912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Sude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650494" y="664768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Şirvan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2663649" y="664768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Umut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3497581" y="664768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Furkan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4510736" y="664768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Sena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5344668" y="6647688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Yasin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6268212" y="6647688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Architecht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709014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Rabia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2632558" y="7141464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Ahmet Burak</a:t>
              </a:r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4093769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Ligep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5017313" y="7141464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Ahmet Cevahir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6657746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Eslem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1709014" y="763524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Nanivan</a:t>
              </a: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2811780" y="763524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İlker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3735324" y="7635240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Beyza Sunay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5196535" y="763524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Talha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6120079" y="7635240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Kuveyt Türk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1709014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Yusuf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2632558" y="8129016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GDG Kastamonu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4272991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Esvan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5196535" y="8129016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Osman Kağan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6657746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Hilal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2394814" y="8622792"/>
              <a:ext cx="140451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Mustafa Uğur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945636" y="862279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Başak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4869180" y="8622792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Hüseyin</a:t>
              </a:r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5971946" y="862279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Karam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14400" y="10579608"/>
              <a:ext cx="73152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0">
                  <a:solidFill>
                    <a:srgbClr val="9AA0A6"/>
                  </a:solidFill>
                  <a:latin typeface="Google Sans"/>
                </a:rPr>
                <a:t>Ve en çok da sizlere.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914400" y="10991088"/>
              <a:ext cx="7315200" cy="9144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5400" b="1">
                  <a:solidFill>
                    <a:srgbClr val="FFFFFF"/>
                  </a:solidFill>
                  <a:latin typeface="Google Sans"/>
                </a:rPr>
                <a:t>Thank you!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4229100" y="12042648"/>
              <a:ext cx="109728" cy="109728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4421124" y="12042648"/>
              <a:ext cx="109728" cy="109728"/>
            </a:xfrm>
            <a:prstGeom prst="ellipse">
              <a:avLst/>
            </a:prstGeom>
            <a:solidFill>
              <a:srgbClr val="EA43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4613148" y="12042648"/>
              <a:ext cx="109728" cy="109728"/>
            </a:xfrm>
            <a:prstGeom prst="ellipse">
              <a:avLst/>
            </a:prstGeom>
            <a:solidFill>
              <a:srgbClr val="FBBC0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4805172" y="12042648"/>
              <a:ext cx="109728" cy="109728"/>
            </a:xfrm>
            <a:prstGeom prst="ellipse">
              <a:avLst/>
            </a:prstGeom>
            <a:solidFill>
              <a:srgbClr val="34A85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8" name="Rectangle 7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rotWithShape="1">
            <a:gsLst>
              <a:gs pos="25000">
                <a:srgbClr val="0B0C10"/>
              </a:gs>
              <a:gs pos="100000">
                <a:srgbClr val="0B0C10">
                  <a:alpha val="0"/>
                </a:srgbClr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0" y="4229100"/>
            <a:ext cx="9144000" cy="914400"/>
          </a:xfrm>
          <a:prstGeom prst="rect">
            <a:avLst/>
          </a:prstGeom>
          <a:gradFill rotWithShape="1">
            <a:gsLst>
              <a:gs pos="0">
                <a:srgbClr val="0B0C10">
                  <a:alpha val="0"/>
                </a:srgbClr>
              </a:gs>
              <a:gs pos="75000">
                <a:srgbClr val="0B0C1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Image 1" descr="/tmp/claude-0/-home-claude/d5e34c45-44d6-5238-8d7b-e6c7b3c8d5c3/scratchpad/deck/logo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0" decel="25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1.7098 E" pathEditMode="relative" rAng="0" ptsTypes="AA">
                                      <p:cBhvr>
                                        <p:cTn id="6" dur="5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54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2860</TotalTime>
  <Words>4314</Words>
  <Application>Microsoft Office PowerPoint</Application>
  <PresentationFormat>On-screen Show (16:9)</PresentationFormat>
  <Paragraphs>460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Google Sans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Motion with AI</dc:title>
  <dc:subject>PptxGenJS Presentation</dc:subject>
  <dc:creator>PptxGenJS</dc:creator>
  <cp:lastModifiedBy>Eyup Ece</cp:lastModifiedBy>
  <cp:revision>4</cp:revision>
  <dcterms:created xsi:type="dcterms:W3CDTF">2026-09-26T21:07:24Z</dcterms:created>
  <dcterms:modified xsi:type="dcterms:W3CDTF">2026-10-09T15:49:05Z</dcterms:modified>
</cp:coreProperties>
</file>